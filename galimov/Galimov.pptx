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4630400" cy="8229600"/>
  <p:notesSz cx="8229600" cy="14630400"/>
  <p:embeddedFontLst>
    <p:embeddedFont>
      <p:font typeface="Bitter Medium" panose="020B0604020202020204" charset="-52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Open Sans" panose="020B0606030504020204" pitchFamily="34" charset="0"/>
      <p:regular r:id="rId23"/>
      <p:bold r:id="rId24"/>
      <p:italic r:id="rId25"/>
      <p:boldItalic r:id="rId2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8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96" y="18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5737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714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15979"/>
            <a:ext cx="1293161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База данных для лесозаготовительной фирмы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27838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8964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Студент: Галимов Даниил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Группа: 414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513254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Специальность: 09.02.07 «Информационные системы и программирование»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575060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Год: 2025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0CED191-815D-40AF-92D9-147A4E38ACB7}"/>
              </a:ext>
            </a:extLst>
          </p:cNvPr>
          <p:cNvSpPr/>
          <p:nvPr/>
        </p:nvSpPr>
        <p:spPr>
          <a:xfrm>
            <a:off x="12758738" y="7469777"/>
            <a:ext cx="1757362" cy="652477"/>
          </a:xfrm>
          <a:prstGeom prst="rect">
            <a:avLst/>
          </a:prstGeom>
          <a:solidFill>
            <a:srgbClr val="FFF8F0"/>
          </a:solidFill>
          <a:ln>
            <a:solidFill>
              <a:srgbClr val="FFF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9876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Актуальность темы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661172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Лесозаготовительные предприятия ежедневно обрабатывают колоссальные объёмы древесины. Точность и оперативность расчётов объёма и стоимости сырья напрямую определяют экономическую эффективность и конкурентоспособность </a:t>
            </a:r>
            <a:r>
              <a:rPr lang="en-US" sz="175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бизнеса</a:t>
            </a: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. </a:t>
            </a:r>
            <a:r>
              <a:rPr lang="ru-RU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ts val="2850"/>
              </a:lnSpc>
            </a:pPr>
            <a:r>
              <a:rPr lang="en-US" sz="175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Существующие</a:t>
            </a: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</a:t>
            </a:r>
            <a:r>
              <a:rPr lang="en-US" sz="175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методы</a:t>
            </a: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, </a:t>
            </a:r>
            <a:r>
              <a:rPr lang="en-US" sz="175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такие</a:t>
            </a: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</a:t>
            </a:r>
            <a:r>
              <a:rPr lang="en-US" sz="175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как</a:t>
            </a: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</a:t>
            </a:r>
            <a:r>
              <a:rPr lang="en-US" sz="175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ручные</a:t>
            </a: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</a:t>
            </a:r>
            <a:r>
              <a:rPr lang="en-US" sz="175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вычисления</a:t>
            </a: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и </a:t>
            </a:r>
            <a:r>
              <a:rPr lang="en-US" sz="175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электронные</a:t>
            </a: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</a:t>
            </a:r>
            <a:r>
              <a:rPr lang="en-US" sz="175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таблицы</a:t>
            </a: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, </a:t>
            </a:r>
            <a:r>
              <a:rPr lang="en-US" sz="175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не</a:t>
            </a: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</a:t>
            </a:r>
            <a:r>
              <a:rPr lang="en-US" sz="175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обеспечивают</a:t>
            </a: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</a:t>
            </a:r>
            <a:r>
              <a:rPr lang="en-US" sz="175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необходимой</a:t>
            </a: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</a:t>
            </a:r>
            <a:r>
              <a:rPr lang="en-US" sz="175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надёжности</a:t>
            </a: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</a:t>
            </a:r>
            <a:r>
              <a:rPr lang="en-US" sz="175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хранения</a:t>
            </a: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, </a:t>
            </a:r>
            <a:r>
              <a:rPr lang="en-US" sz="175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анализа</a:t>
            </a: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</a:t>
            </a:r>
            <a:r>
              <a:rPr lang="en-US" sz="175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данных</a:t>
            </a: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и </a:t>
            </a:r>
            <a:r>
              <a:rPr lang="en-US" sz="175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защиты</a:t>
            </a: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</a:t>
            </a:r>
            <a:r>
              <a:rPr lang="en-US" sz="175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от</a:t>
            </a: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</a:t>
            </a:r>
            <a:r>
              <a:rPr lang="en-US" sz="175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ошибок</a:t>
            </a: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89F4E79-215F-4008-8D43-34F5B0250A00}"/>
              </a:ext>
            </a:extLst>
          </p:cNvPr>
          <p:cNvSpPr/>
          <p:nvPr/>
        </p:nvSpPr>
        <p:spPr>
          <a:xfrm>
            <a:off x="12758738" y="7469777"/>
            <a:ext cx="1757362" cy="652477"/>
          </a:xfrm>
          <a:prstGeom prst="rect">
            <a:avLst/>
          </a:prstGeom>
          <a:solidFill>
            <a:srgbClr val="FFF8F0"/>
          </a:solidFill>
          <a:ln>
            <a:solidFill>
              <a:srgbClr val="FFF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40324"/>
            <a:ext cx="61199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Цель и Задачи Работы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3142893"/>
            <a:ext cx="6407944" cy="3446383"/>
          </a:xfrm>
          <a:prstGeom prst="roundRect">
            <a:avLst>
              <a:gd name="adj" fmla="val 4245"/>
            </a:avLst>
          </a:prstGeom>
          <a:solidFill>
            <a:srgbClr val="FFF8F0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3112413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540" y="280273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D2600F"/>
          </a:solidFill>
          <a:ln/>
        </p:spPr>
      </p:sp>
      <p:sp>
        <p:nvSpPr>
          <p:cNvPr id="6" name="Text 4"/>
          <p:cNvSpPr/>
          <p:nvPr/>
        </p:nvSpPr>
        <p:spPr>
          <a:xfrm>
            <a:off x="3861614" y="297287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1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51084" y="37098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Цель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51084" y="4200287"/>
            <a:ext cx="58933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Разработка базы данных для лесозаготовительной фирмы, обеспечивающей полную автоматизацию расчёта объёма и стоимости древесины.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428548" y="3142893"/>
            <a:ext cx="6408063" cy="3446383"/>
          </a:xfrm>
          <a:prstGeom prst="roundRect">
            <a:avLst>
              <a:gd name="adj" fmla="val 4245"/>
            </a:avLst>
          </a:prstGeom>
          <a:solidFill>
            <a:srgbClr val="FFF8F0"/>
          </a:solidFill>
          <a:ln/>
        </p:spPr>
      </p:sp>
      <p:sp>
        <p:nvSpPr>
          <p:cNvPr id="10" name="Shape 8"/>
          <p:cNvSpPr/>
          <p:nvPr/>
        </p:nvSpPr>
        <p:spPr>
          <a:xfrm>
            <a:off x="7428548" y="3112413"/>
            <a:ext cx="6408063" cy="121920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11" name="Shape 9"/>
          <p:cNvSpPr/>
          <p:nvPr/>
        </p:nvSpPr>
        <p:spPr>
          <a:xfrm>
            <a:off x="10292298" y="280273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D2600F"/>
          </a:solidFill>
          <a:ln/>
        </p:spPr>
      </p:sp>
      <p:sp>
        <p:nvSpPr>
          <p:cNvPr id="12" name="Text 10"/>
          <p:cNvSpPr/>
          <p:nvPr/>
        </p:nvSpPr>
        <p:spPr>
          <a:xfrm>
            <a:off x="10496371" y="297287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2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85842" y="37098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Задачи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85842" y="4200287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Анализ предметной области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85842" y="4642485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Проектирование структуры БД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685842" y="5084683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Реализация БД в PostgreSQL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85842" y="5526881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Разработка SQL-запросов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685842" y="5969079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Интеграция с мобильным приложением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C52B990-9014-4ACE-BC57-ED59BBD23F2C}"/>
              </a:ext>
            </a:extLst>
          </p:cNvPr>
          <p:cNvSpPr/>
          <p:nvPr/>
        </p:nvSpPr>
        <p:spPr>
          <a:xfrm>
            <a:off x="12758738" y="7469777"/>
            <a:ext cx="1757362" cy="652477"/>
          </a:xfrm>
          <a:prstGeom prst="rect">
            <a:avLst/>
          </a:prstGeom>
          <a:solidFill>
            <a:srgbClr val="FFF8F0"/>
          </a:solidFill>
          <a:ln>
            <a:solidFill>
              <a:srgbClr val="FFF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608" y="588050"/>
            <a:ext cx="1253978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Предметная область и Функционал Системы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68608" y="1883687"/>
            <a:ext cx="345471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Предметная область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68608" y="253293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Заготовка круглого леса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68608" y="297513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Расчёт пиломатериалов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68608" y="341732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Формирование отчётов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68608" y="385952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Хранение истории расчётов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68608" y="4553188"/>
            <a:ext cx="534947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Функциональные возможности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768608" y="520529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Регистрация и авторизация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68608" y="564749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Создание и хранение отчётов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68608" y="608969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Автоматический расчёт объёма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68608" y="653188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Расчёт стоимости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68608" y="697408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Сохранение данных на сервере</a:t>
            </a:r>
            <a:endParaRPr lang="en-US" sz="175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E5D1BC3-F7CE-417F-8032-3358D5510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2733" y="1506616"/>
            <a:ext cx="3796048" cy="6518434"/>
          </a:xfrm>
          <a:prstGeom prst="rect">
            <a:avLst/>
          </a:prstGeom>
        </p:spPr>
      </p:pic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FA976B0-F8CC-4175-BA96-E2A089B6FF55}"/>
              </a:ext>
            </a:extLst>
          </p:cNvPr>
          <p:cNvSpPr/>
          <p:nvPr/>
        </p:nvSpPr>
        <p:spPr>
          <a:xfrm>
            <a:off x="12758738" y="7469777"/>
            <a:ext cx="1757362" cy="652477"/>
          </a:xfrm>
          <a:prstGeom prst="rect">
            <a:avLst/>
          </a:prstGeom>
          <a:solidFill>
            <a:srgbClr val="FFF8F0"/>
          </a:solidFill>
          <a:ln>
            <a:solidFill>
              <a:srgbClr val="FFF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8012"/>
            <a:ext cx="67090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Структура Базы Данных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400419"/>
            <a:ext cx="6973473" cy="142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Основа системы — логично структурированная база данных, обеспечивающая целостность и доступность информации.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93790" y="3292082"/>
            <a:ext cx="6973473" cy="105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Все таблицы связаны между собой с использованием внешних ключей для поддержания реляционной целостности данных.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97AA98E0-3BF7-4DB0-B4AB-77A7BC192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1347" y="0"/>
            <a:ext cx="6709053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6134"/>
            <a:ext cx="67016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Выбор СУБД: PostgreSQL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61854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Для реализации проекта была выбрана мощная и надёжная система управления базами данных PostgreSQL, благодаря её проверенным преимуществам.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599497"/>
            <a:ext cx="4196358" cy="3173849"/>
          </a:xfrm>
          <a:prstGeom prst="roundRect">
            <a:avLst>
              <a:gd name="adj" fmla="val 4610"/>
            </a:avLst>
          </a:prstGeom>
          <a:solidFill>
            <a:srgbClr val="FFF8F0"/>
          </a:solidFill>
          <a:ln w="30480">
            <a:solidFill>
              <a:srgbClr val="E2C8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3599497"/>
            <a:ext cx="121920" cy="3173849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3856792"/>
            <a:ext cx="32689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Полная поддержка SQL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2524" y="4347210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Совместимость со стандартом SQL обеспечивает гибкость и широкие возможности для работы с данными.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216962" y="3599497"/>
            <a:ext cx="4196358" cy="3173849"/>
          </a:xfrm>
          <a:prstGeom prst="roundRect">
            <a:avLst>
              <a:gd name="adj" fmla="val 4610"/>
            </a:avLst>
          </a:prstGeom>
          <a:solidFill>
            <a:srgbClr val="FFF8F0"/>
          </a:solidFill>
          <a:ln w="30480">
            <a:solidFill>
              <a:srgbClr val="E2C8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6482" y="3599497"/>
            <a:ext cx="121920" cy="3173849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10" name="Text 8"/>
          <p:cNvSpPr/>
          <p:nvPr/>
        </p:nvSpPr>
        <p:spPr>
          <a:xfrm>
            <a:off x="5565696" y="3856792"/>
            <a:ext cx="29346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Высокая надёжность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565696" y="4347210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PostgreSQL славится своей стабильностью и устойчивостью к сбоям, что критически важно для бизнес-приложений.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640133" y="3599497"/>
            <a:ext cx="4196358" cy="3173849"/>
          </a:xfrm>
          <a:prstGeom prst="roundRect">
            <a:avLst>
              <a:gd name="adj" fmla="val 4610"/>
            </a:avLst>
          </a:prstGeom>
          <a:solidFill>
            <a:srgbClr val="FFF8F0"/>
          </a:solidFill>
          <a:ln w="30480">
            <a:solidFill>
              <a:srgbClr val="E2C8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9653" y="3599497"/>
            <a:ext cx="121920" cy="3173849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14" name="Text 12"/>
          <p:cNvSpPr/>
          <p:nvPr/>
        </p:nvSpPr>
        <p:spPr>
          <a:xfrm>
            <a:off x="9988868" y="3856792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Контроль целостности данных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988868" y="4701540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Механизмы обеспечения целостности данных гарантируют корректность и непротиворечивость хранимой информации.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D4BB99B-7830-4E47-9B31-BF02843D2E6D}"/>
              </a:ext>
            </a:extLst>
          </p:cNvPr>
          <p:cNvSpPr/>
          <p:nvPr/>
        </p:nvSpPr>
        <p:spPr>
          <a:xfrm>
            <a:off x="12758738" y="7469777"/>
            <a:ext cx="1757362" cy="652477"/>
          </a:xfrm>
          <a:prstGeom prst="rect">
            <a:avLst/>
          </a:prstGeom>
          <a:solidFill>
            <a:srgbClr val="FFF8F0"/>
          </a:solidFill>
          <a:ln>
            <a:solidFill>
              <a:srgbClr val="FFF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99473"/>
            <a:ext cx="67067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Примеры SQL-запросов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6188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демонстрации взаимодействия с базой данных рассмотрим основные SQL-запросы.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506748"/>
            <a:ext cx="33457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Создание нового отчёта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93790" y="4116229"/>
            <a:ext cx="6244709" cy="1065848"/>
          </a:xfrm>
          <a:prstGeom prst="roundRect">
            <a:avLst>
              <a:gd name="adj" fmla="val 8938"/>
            </a:avLst>
          </a:prstGeom>
          <a:solidFill>
            <a:srgbClr val="F2EBE3"/>
          </a:solidFill>
          <a:ln/>
        </p:spPr>
      </p:sp>
      <p:sp>
        <p:nvSpPr>
          <p:cNvPr id="6" name="Shape 4"/>
          <p:cNvSpPr/>
          <p:nvPr/>
        </p:nvSpPr>
        <p:spPr>
          <a:xfrm>
            <a:off x="782479" y="4116229"/>
            <a:ext cx="6267331" cy="1065848"/>
          </a:xfrm>
          <a:prstGeom prst="roundRect">
            <a:avLst>
              <a:gd name="adj" fmla="val 3192"/>
            </a:avLst>
          </a:prstGeom>
          <a:solidFill>
            <a:srgbClr val="F2EBE3"/>
          </a:solidFill>
          <a:ln/>
        </p:spPr>
      </p:sp>
      <p:sp>
        <p:nvSpPr>
          <p:cNvPr id="7" name="Text 5"/>
          <p:cNvSpPr/>
          <p:nvPr/>
        </p:nvSpPr>
        <p:spPr>
          <a:xfrm>
            <a:off x="1009293" y="4286250"/>
            <a:ext cx="581370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reports (user_id, type, title) VALUES (1, 'logs', 'Отчёт');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437227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Этот запрос позволяет добавить новую запись об отчёте в таблицу </a:t>
            </a:r>
            <a:r>
              <a:rPr lang="en-US" sz="175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reports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связав её с определённым пользователем и указав тип и название отчёта.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3506748"/>
            <a:ext cx="46628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Получение отчётов пользователя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599521" y="4116229"/>
            <a:ext cx="6244709" cy="702945"/>
          </a:xfrm>
          <a:prstGeom prst="roundRect">
            <a:avLst>
              <a:gd name="adj" fmla="val 13553"/>
            </a:avLst>
          </a:prstGeom>
          <a:solidFill>
            <a:srgbClr val="F2EBE3"/>
          </a:solidFill>
          <a:ln/>
        </p:spPr>
      </p:sp>
      <p:sp>
        <p:nvSpPr>
          <p:cNvPr id="11" name="Shape 9"/>
          <p:cNvSpPr/>
          <p:nvPr/>
        </p:nvSpPr>
        <p:spPr>
          <a:xfrm>
            <a:off x="7588210" y="4116229"/>
            <a:ext cx="6267331" cy="702945"/>
          </a:xfrm>
          <a:prstGeom prst="roundRect">
            <a:avLst>
              <a:gd name="adj" fmla="val 4840"/>
            </a:avLst>
          </a:prstGeom>
          <a:solidFill>
            <a:srgbClr val="F2EBE3"/>
          </a:solidFill>
          <a:ln/>
        </p:spPr>
      </p:sp>
      <p:sp>
        <p:nvSpPr>
          <p:cNvPr id="12" name="Text 10"/>
          <p:cNvSpPr/>
          <p:nvPr/>
        </p:nvSpPr>
        <p:spPr>
          <a:xfrm>
            <a:off x="7815024" y="4286250"/>
            <a:ext cx="58137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reports WHERE user_id = 1;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5074325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Данный запрос извлекает все отчёты, принадлежащие конкретному пользователю, из таблицы </a:t>
            </a:r>
            <a:r>
              <a:rPr lang="en-US" sz="175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reports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75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0001AB5-E767-4F89-BEEE-E67DA46B1069}"/>
              </a:ext>
            </a:extLst>
          </p:cNvPr>
          <p:cNvSpPr/>
          <p:nvPr/>
        </p:nvSpPr>
        <p:spPr>
          <a:xfrm>
            <a:off x="12758738" y="7469777"/>
            <a:ext cx="1757362" cy="652477"/>
          </a:xfrm>
          <a:prstGeom prst="rect">
            <a:avLst/>
          </a:prstGeom>
          <a:solidFill>
            <a:srgbClr val="FFF8F0"/>
          </a:solidFill>
          <a:ln>
            <a:solidFill>
              <a:srgbClr val="FFF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63855"/>
            <a:ext cx="103502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Интерфейс мобильного приложения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409724" y="1882622"/>
            <a:ext cx="40275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Ввод параметров древесины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0236602" y="5614630"/>
            <a:ext cx="33517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2200" dirty="0">
                <a:solidFill>
                  <a:srgbClr val="2B2E3C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Выбор цены для авто</a:t>
            </a:r>
            <a:r>
              <a:rPr lang="en-US" sz="2200" dirty="0">
                <a:solidFill>
                  <a:srgbClr val="2B2E3C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2B2E3C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расчёт</a:t>
            </a:r>
            <a:r>
              <a:rPr lang="ru-RU" sz="2200" dirty="0">
                <a:solidFill>
                  <a:srgbClr val="2B2E3C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а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665203" y="7545037"/>
            <a:ext cx="329767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Формирование отчётов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299C658-07B9-4F3F-B9DE-1AA6796D2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5145" y="2558534"/>
            <a:ext cx="3943900" cy="3410426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DD4A3D1-B694-40D9-A41B-57802DE3AA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390" y="3363509"/>
            <a:ext cx="4020111" cy="1800476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66FF859-22B1-4462-B5B4-892E968F26B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-1004" t="8728" r="1004" b="21180"/>
          <a:stretch/>
        </p:blipFill>
        <p:spPr>
          <a:xfrm>
            <a:off x="307009" y="1532632"/>
            <a:ext cx="3796048" cy="5768281"/>
          </a:xfrm>
          <a:prstGeom prst="rect">
            <a:avLst/>
          </a:prstGeom>
        </p:spPr>
      </p:pic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0A18E865-4117-43D8-841A-A7BB94D79B25}"/>
              </a:ext>
            </a:extLst>
          </p:cNvPr>
          <p:cNvSpPr/>
          <p:nvPr/>
        </p:nvSpPr>
        <p:spPr>
          <a:xfrm>
            <a:off x="12758738" y="7469777"/>
            <a:ext cx="1757362" cy="652477"/>
          </a:xfrm>
          <a:prstGeom prst="rect">
            <a:avLst/>
          </a:prstGeom>
          <a:solidFill>
            <a:srgbClr val="FFF8F0"/>
          </a:solidFill>
          <a:ln>
            <a:solidFill>
              <a:srgbClr val="FFF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6117" y="50252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Управление Отчётами и Профилем Пользователя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6117" y="145553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C3F42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Работа с отчётами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6615" y="213423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Отчёты сохраняются как на сервере, так и локально на мобильном устройстве.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6614" y="294684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Доступна полная история всех произведённых расчётов.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56683" y="6154740"/>
            <a:ext cx="3851315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C3F42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Профиль пользователя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56683" y="664896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Просмотр и редактирование данных учётной записи.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56682" y="700127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Управление настройками синхронизации данных.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56683" y="7364177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Безопасный выход из системы для защиты конфиденциальности.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70F4C35-3DEE-432A-A693-AC59378DA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32" y="3573304"/>
            <a:ext cx="6695748" cy="4003819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1BDA199-DFF2-4610-9115-D8C970D139D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483" b="12030"/>
          <a:stretch/>
        </p:blipFill>
        <p:spPr>
          <a:xfrm>
            <a:off x="7849078" y="1124860"/>
            <a:ext cx="4630743" cy="4982808"/>
          </a:xfrm>
          <a:prstGeom prst="rect">
            <a:avLst/>
          </a:prstGeom>
        </p:spPr>
      </p:pic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BA9B2CC-198F-4121-A9A1-45FC79623797}"/>
              </a:ext>
            </a:extLst>
          </p:cNvPr>
          <p:cNvSpPr/>
          <p:nvPr/>
        </p:nvSpPr>
        <p:spPr>
          <a:xfrm>
            <a:off x="12758738" y="7469777"/>
            <a:ext cx="1757362" cy="652477"/>
          </a:xfrm>
          <a:prstGeom prst="rect">
            <a:avLst/>
          </a:prstGeom>
          <a:solidFill>
            <a:srgbClr val="FFF8F0"/>
          </a:solidFill>
          <a:ln>
            <a:solidFill>
              <a:srgbClr val="FFF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184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Заключение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61425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В рамках данной курсовой работы была успешно разработана база данных для лесозаготовительной фирмы, способная значительно оптимизировать производственные процессы.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595211"/>
            <a:ext cx="4196358" cy="3182422"/>
          </a:xfrm>
          <a:prstGeom prst="roundRect">
            <a:avLst>
              <a:gd name="adj" fmla="val 2994"/>
            </a:avLst>
          </a:prstGeom>
          <a:solidFill>
            <a:srgbClr val="FFF8F0"/>
          </a:solidFill>
          <a:ln w="30480">
            <a:solidFill>
              <a:srgbClr val="E2C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084" y="3852505"/>
            <a:ext cx="34917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Автоматизация расчётов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51084" y="4342924"/>
            <a:ext cx="368177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Система эффективно автоматизирует процессы расчёта объёма и стоимости древесины, минимизируя человеческий фактор и повышая точность.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216962" y="3595211"/>
            <a:ext cx="4196358" cy="3182422"/>
          </a:xfrm>
          <a:prstGeom prst="roundRect">
            <a:avLst>
              <a:gd name="adj" fmla="val 2994"/>
            </a:avLst>
          </a:prstGeom>
          <a:solidFill>
            <a:srgbClr val="FFF8F0"/>
          </a:solidFill>
          <a:ln w="30480">
            <a:solidFill>
              <a:srgbClr val="E2C8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74256" y="3852505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Потенциал для расширения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74256" y="4697254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Архитектура базы данных спроектирована с учётом возможности дальнейшего масштабирования и добавления нового функционала.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640133" y="3595211"/>
            <a:ext cx="4196358" cy="3182422"/>
          </a:xfrm>
          <a:prstGeom prst="roundRect">
            <a:avLst>
              <a:gd name="adj" fmla="val 2994"/>
            </a:avLst>
          </a:prstGeom>
          <a:solidFill>
            <a:srgbClr val="FFF8F0"/>
          </a:solidFill>
          <a:ln w="30480">
            <a:solidFill>
              <a:srgbClr val="E2C8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97427" y="3852505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Основа для цифровизации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897427" y="4697254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Разработанное решение закладывает прочный фундамент для комплексной цифровизации лесозаготовительной отрасли.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C1FF092-BF19-4ED0-9E11-4B70F058DA05}"/>
              </a:ext>
            </a:extLst>
          </p:cNvPr>
          <p:cNvSpPr/>
          <p:nvPr/>
        </p:nvSpPr>
        <p:spPr>
          <a:xfrm>
            <a:off x="12758738" y="7469777"/>
            <a:ext cx="1757362" cy="652477"/>
          </a:xfrm>
          <a:prstGeom prst="rect">
            <a:avLst/>
          </a:prstGeom>
          <a:solidFill>
            <a:srgbClr val="FFF8F0"/>
          </a:solidFill>
          <a:ln>
            <a:solidFill>
              <a:srgbClr val="FFF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7C7E7A0-A71F-44BC-A2F3-EFEEE1280DEA}"/>
              </a:ext>
            </a:extLst>
          </p:cNvPr>
          <p:cNvSpPr/>
          <p:nvPr/>
        </p:nvSpPr>
        <p:spPr>
          <a:xfrm>
            <a:off x="12758738" y="7469777"/>
            <a:ext cx="1757362" cy="652477"/>
          </a:xfrm>
          <a:prstGeom prst="rect">
            <a:avLst/>
          </a:prstGeom>
          <a:solidFill>
            <a:srgbClr val="FFF8F0"/>
          </a:solidFill>
          <a:ln>
            <a:solidFill>
              <a:srgbClr val="FFF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AEAB4A-469E-4D14-8FFD-D1BF1520D2EE}"/>
              </a:ext>
            </a:extLst>
          </p:cNvPr>
          <p:cNvSpPr txBox="1"/>
          <p:nvPr/>
        </p:nvSpPr>
        <p:spPr>
          <a:xfrm>
            <a:off x="2586037" y="3243263"/>
            <a:ext cx="945832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7200" b="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  <a:p>
            <a:endParaRPr lang="ru-RU" sz="72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5357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489</Words>
  <Application>Microsoft Office PowerPoint</Application>
  <PresentationFormat>Произвольный</PresentationFormat>
  <Paragraphs>82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Calibri</vt:lpstr>
      <vt:lpstr>Open Sans</vt:lpstr>
      <vt:lpstr>Times New Roman</vt:lpstr>
      <vt:lpstr>Bitter Medium</vt:lpstr>
      <vt:lpstr>Arial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cdctheo</dc:creator>
  <cp:lastModifiedBy>Daniil Galimov</cp:lastModifiedBy>
  <cp:revision>4</cp:revision>
  <dcterms:created xsi:type="dcterms:W3CDTF">2025-12-17T21:36:59Z</dcterms:created>
  <dcterms:modified xsi:type="dcterms:W3CDTF">2025-12-17T22:04:15Z</dcterms:modified>
</cp:coreProperties>
</file>