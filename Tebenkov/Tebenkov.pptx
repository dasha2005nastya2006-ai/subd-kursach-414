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_rels/presentation.xml.rels" ContentType="application/vnd.openxmlformats-package.relationships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0.png" ContentType="image/png"/>
  <Override PartName="/ppt/media/image5.png" ContentType="image/png"/>
  <Override PartName="/ppt/media/image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1.png" ContentType="image/png"/>
  <Override PartName="/ppt/media/image3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.png" ContentType="image/png"/>
  <Override PartName="/ppt/slideLayouts/_rels/slideLayout52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53.xml.rels" ContentType="application/vnd.openxmlformats-package.relationships+xml"/>
  <Override PartName="/ppt/slideLayouts/slideLayout5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Click to move the slide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2000" spc="-1" strike="noStrike">
                <a:latin typeface="Arial"/>
              </a:rPr>
              <a:t>Click to edit the notes format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1400" spc="-1" strike="noStrike">
                <a:latin typeface="Times New Roman"/>
              </a:rPr>
              <a:t>&lt;header&gt;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ru-RU" sz="1400" spc="-1" strike="noStrike">
                <a:latin typeface="Times New Roman"/>
              </a:rPr>
              <a:t>&lt;date/time&gt;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&lt;footer&gt;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1D211A09-E79E-4195-9763-CC0EBDA6E948}" type="slidenum">
              <a:rPr b="0" lang="ru-RU" sz="1400" spc="-1" strike="noStrike">
                <a:latin typeface="Times New Roman"/>
              </a:rPr>
              <a:t>&lt;number&gt;</a:t>
            </a:fld>
            <a:endParaRPr b="0" lang="ru-RU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E6AEECC-07AE-423E-9B5F-BD9AA5C9CBB2}" type="slidenum">
              <a:rPr b="0" lang="en-US" sz="1200" spc="-1" strike="noStrike">
                <a:latin typeface="Times New Roman"/>
              </a:rPr>
              <a:t>&lt;number&gt;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014AB00-9D4D-4C17-B4E0-35DC427203C6}" type="slidenum">
              <a:rPr b="0" lang="en-US" sz="1200" spc="-1" strike="noStrike">
                <a:latin typeface="Times New Roman"/>
              </a:rPr>
              <a:t>&lt;number&gt;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3DD2E6C-69CD-422F-BDAB-B3880E6988A5}" type="slidenum">
              <a:rPr b="0" lang="en-US" sz="1200" spc="-1" strike="noStrike">
                <a:latin typeface="Times New Roman"/>
              </a:rPr>
              <a:t>&lt;number&gt;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931E34A-09FC-449A-AFC8-9CED35C3C81F}" type="slidenum">
              <a:rPr b="0" lang="en-US" sz="1200" spc="-1" strike="noStrike">
                <a:latin typeface="Times New Roman"/>
              </a:rPr>
              <a:t>&lt;number&gt;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CA22056-7AB2-4919-B4BF-3CFD9B84F3E5}" type="slidenum">
              <a:rPr b="0" lang="en-US" sz="1200" spc="-1" strike="noStrike">
                <a:latin typeface="Times New Roman"/>
              </a:rPr>
              <a:t>&lt;number&gt;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4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5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6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7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1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2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3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4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Image 1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Click to edit the title </a:t>
            </a:r>
            <a:r>
              <a:rPr b="0" lang="ru-RU" sz="4400" spc="-1" strike="noStrike">
                <a:latin typeface="Arial"/>
              </a:rPr>
              <a:t>text format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Click to edit the outline text format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Second Outline Level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Third Outline Level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Fourth Outline Level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Fifth Outline Level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Sixth Outline Level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Seventh Outline Level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Image 1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C</a:t>
            </a:r>
            <a:r>
              <a:rPr b="0" lang="ru-RU" sz="4400" spc="-1" strike="noStrike">
                <a:latin typeface="Arial"/>
              </a:rPr>
              <a:t>l</a:t>
            </a:r>
            <a:r>
              <a:rPr b="0" lang="ru-RU" sz="4400" spc="-1" strike="noStrike">
                <a:latin typeface="Arial"/>
              </a:rPr>
              <a:t>i</a:t>
            </a:r>
            <a:r>
              <a:rPr b="0" lang="ru-RU" sz="4400" spc="-1" strike="noStrike">
                <a:latin typeface="Arial"/>
              </a:rPr>
              <a:t>c</a:t>
            </a:r>
            <a:r>
              <a:rPr b="0" lang="ru-RU" sz="4400" spc="-1" strike="noStrike">
                <a:latin typeface="Arial"/>
              </a:rPr>
              <a:t>k</a:t>
            </a:r>
            <a:r>
              <a:rPr b="0" lang="ru-RU" sz="4400" spc="-1" strike="noStrike">
                <a:latin typeface="Arial"/>
              </a:rPr>
              <a:t> </a:t>
            </a:r>
            <a:r>
              <a:rPr b="0" lang="ru-RU" sz="4400" spc="-1" strike="noStrike">
                <a:latin typeface="Arial"/>
              </a:rPr>
              <a:t>t</a:t>
            </a:r>
            <a:r>
              <a:rPr b="0" lang="ru-RU" sz="4400" spc="-1" strike="noStrike">
                <a:latin typeface="Arial"/>
              </a:rPr>
              <a:t>o</a:t>
            </a:r>
            <a:r>
              <a:rPr b="0" lang="ru-RU" sz="4400" spc="-1" strike="noStrike">
                <a:latin typeface="Arial"/>
              </a:rPr>
              <a:t> </a:t>
            </a:r>
            <a:r>
              <a:rPr b="0" lang="ru-RU" sz="4400" spc="-1" strike="noStrike">
                <a:latin typeface="Arial"/>
              </a:rPr>
              <a:t>e</a:t>
            </a:r>
            <a:r>
              <a:rPr b="0" lang="ru-RU" sz="4400" spc="-1" strike="noStrike">
                <a:latin typeface="Arial"/>
              </a:rPr>
              <a:t>d</a:t>
            </a:r>
            <a:r>
              <a:rPr b="0" lang="ru-RU" sz="4400" spc="-1" strike="noStrike">
                <a:latin typeface="Arial"/>
              </a:rPr>
              <a:t>i</a:t>
            </a:r>
            <a:r>
              <a:rPr b="0" lang="ru-RU" sz="4400" spc="-1" strike="noStrike">
                <a:latin typeface="Arial"/>
              </a:rPr>
              <a:t>t</a:t>
            </a:r>
            <a:r>
              <a:rPr b="0" lang="ru-RU" sz="4400" spc="-1" strike="noStrike">
                <a:latin typeface="Arial"/>
              </a:rPr>
              <a:t> </a:t>
            </a:r>
            <a:r>
              <a:rPr b="0" lang="ru-RU" sz="4400" spc="-1" strike="noStrike">
                <a:latin typeface="Arial"/>
              </a:rPr>
              <a:t>t</a:t>
            </a:r>
            <a:r>
              <a:rPr b="0" lang="ru-RU" sz="4400" spc="-1" strike="noStrike">
                <a:latin typeface="Arial"/>
              </a:rPr>
              <a:t>h</a:t>
            </a:r>
            <a:r>
              <a:rPr b="0" lang="ru-RU" sz="4400" spc="-1" strike="noStrike">
                <a:latin typeface="Arial"/>
              </a:rPr>
              <a:t>e</a:t>
            </a:r>
            <a:r>
              <a:rPr b="0" lang="ru-RU" sz="4400" spc="-1" strike="noStrike">
                <a:latin typeface="Arial"/>
              </a:rPr>
              <a:t> </a:t>
            </a:r>
            <a:r>
              <a:rPr b="0" lang="ru-RU" sz="4400" spc="-1" strike="noStrike">
                <a:latin typeface="Arial"/>
              </a:rPr>
              <a:t>t</a:t>
            </a:r>
            <a:r>
              <a:rPr b="0" lang="ru-RU" sz="4400" spc="-1" strike="noStrike">
                <a:latin typeface="Arial"/>
              </a:rPr>
              <a:t>i</a:t>
            </a:r>
            <a:r>
              <a:rPr b="0" lang="ru-RU" sz="4400" spc="-1" strike="noStrike">
                <a:latin typeface="Arial"/>
              </a:rPr>
              <a:t>t</a:t>
            </a:r>
            <a:r>
              <a:rPr b="0" lang="ru-RU" sz="4400" spc="-1" strike="noStrike">
                <a:latin typeface="Arial"/>
              </a:rPr>
              <a:t>l</a:t>
            </a:r>
            <a:r>
              <a:rPr b="0" lang="ru-RU" sz="4400" spc="-1" strike="noStrike">
                <a:latin typeface="Arial"/>
              </a:rPr>
              <a:t>e</a:t>
            </a:r>
            <a:r>
              <a:rPr b="0" lang="ru-RU" sz="4400" spc="-1" strike="noStrike">
                <a:latin typeface="Arial"/>
              </a:rPr>
              <a:t> </a:t>
            </a:r>
            <a:r>
              <a:rPr b="0" lang="ru-RU" sz="4400" spc="-1" strike="noStrike">
                <a:latin typeface="Arial"/>
              </a:rPr>
              <a:t>t</a:t>
            </a:r>
            <a:r>
              <a:rPr b="0" lang="ru-RU" sz="4400" spc="-1" strike="noStrike">
                <a:latin typeface="Arial"/>
              </a:rPr>
              <a:t>e</a:t>
            </a:r>
            <a:r>
              <a:rPr b="0" lang="ru-RU" sz="4400" spc="-1" strike="noStrike">
                <a:latin typeface="Arial"/>
              </a:rPr>
              <a:t>x</a:t>
            </a:r>
            <a:r>
              <a:rPr b="0" lang="ru-RU" sz="4400" spc="-1" strike="noStrike">
                <a:latin typeface="Arial"/>
              </a:rPr>
              <a:t>t</a:t>
            </a:r>
            <a:r>
              <a:rPr b="0" lang="ru-RU" sz="4400" spc="-1" strike="noStrike">
                <a:latin typeface="Arial"/>
              </a:rPr>
              <a:t> </a:t>
            </a:r>
            <a:r>
              <a:rPr b="0" lang="ru-RU" sz="4400" spc="-1" strike="noStrike">
                <a:latin typeface="Arial"/>
              </a:rPr>
              <a:t>f</a:t>
            </a:r>
            <a:r>
              <a:rPr b="0" lang="ru-RU" sz="4400" spc="-1" strike="noStrike">
                <a:latin typeface="Arial"/>
              </a:rPr>
              <a:t>o</a:t>
            </a:r>
            <a:r>
              <a:rPr b="0" lang="ru-RU" sz="4400" spc="-1" strike="noStrike">
                <a:latin typeface="Arial"/>
              </a:rPr>
              <a:t>r</a:t>
            </a:r>
            <a:r>
              <a:rPr b="0" lang="ru-RU" sz="4400" spc="-1" strike="noStrike">
                <a:latin typeface="Arial"/>
              </a:rPr>
              <a:t>m</a:t>
            </a:r>
            <a:r>
              <a:rPr b="0" lang="ru-RU" sz="4400" spc="-1" strike="noStrike">
                <a:latin typeface="Arial"/>
              </a:rPr>
              <a:t>a</a:t>
            </a:r>
            <a:r>
              <a:rPr b="0" lang="ru-RU" sz="4400" spc="-1" strike="noStrike">
                <a:latin typeface="Arial"/>
              </a:rPr>
              <a:t>t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Click to edit the outline text format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Second Outline Level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Third Outline Level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Fourth Outline Level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Fifth Outline Level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Sixth Outline Level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Seventh Outline Level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Image 1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Click to edit the title text format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Click to edit the outline text format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Second Outline Level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Third Outline Level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Fourth Outline Level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Fifth Outline Level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Sixth Outline Level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Seventh Outline Level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Image 1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Click to edit the title text format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Click to edit the outline text format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Second Outline Level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Third Outline Level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Fourth Outline Level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Fifth Outline Level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Sixth Outline Level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Seventh Outline Level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Image 1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Click to edit the title text format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Click to edit the outline text format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Second Outline Level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Third Outline Level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Fourth Outline Level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Fifth Outline Level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Sixth Outline Level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Seventh Outline Level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25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slideLayout" Target="../slideLayouts/slideLayout37.xml"/><Relationship Id="rId10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49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Image 0" descr="preencoded.png"/>
          <p:cNvPicPr/>
          <p:nvPr/>
        </p:nvPicPr>
        <p:blipFill>
          <a:blip r:embed="rId1"/>
          <a:stretch/>
        </p:blipFill>
        <p:spPr>
          <a:xfrm>
            <a:off x="8869680" y="0"/>
            <a:ext cx="5760000" cy="8228880"/>
          </a:xfrm>
          <a:prstGeom prst="rect">
            <a:avLst/>
          </a:prstGeom>
          <a:ln w="0">
            <a:noFill/>
          </a:ln>
        </p:spPr>
      </p:pic>
      <p:sp>
        <p:nvSpPr>
          <p:cNvPr id="202" name="Text 1"/>
          <p:cNvSpPr/>
          <p:nvPr/>
        </p:nvSpPr>
        <p:spPr>
          <a:xfrm>
            <a:off x="793800" y="1418760"/>
            <a:ext cx="755568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5550"/>
              </a:lnSpc>
              <a:buNone/>
              <a:tabLst>
                <a:tab algn="l" pos="0"/>
              </a:tabLst>
            </a:pPr>
            <a:r>
              <a:rPr b="1" lang="en-US" sz="4450" spc="-1" strike="noStrike">
                <a:solidFill>
                  <a:srgbClr val="006747"/>
                </a:solidFill>
                <a:latin typeface="Noto Serif SC Bold"/>
                <a:ea typeface="Noto Serif SC Bold"/>
              </a:rPr>
              <a:t>Разработка системы трекера целей и привычек на PHP/PostgreSQL</a:t>
            </a:r>
            <a:endParaRPr b="0" lang="ru-RU" sz="4450" spc="-1" strike="noStrike"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793800" y="4593960"/>
            <a:ext cx="75556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buNone/>
              <a:tabLst>
                <a:tab algn="l" pos="0"/>
              </a:tabLst>
            </a:pPr>
            <a:r>
              <a:rPr b="0" lang="en-US" sz="1750" spc="-1" strike="noStrike">
                <a:solidFill>
                  <a:srgbClr val="4b4a4a"/>
                </a:solidFill>
                <a:latin typeface="Geist"/>
                <a:ea typeface="Geist"/>
              </a:rPr>
              <a:t>Студент: Тебеньков Матвей</a:t>
            </a:r>
            <a:endParaRPr b="0" lang="ru-RU" sz="1750" spc="-1" strike="noStrike">
              <a:latin typeface="Arial"/>
            </a:endParaRPr>
          </a:p>
        </p:txBody>
      </p:sp>
      <p:sp>
        <p:nvSpPr>
          <p:cNvPr id="204" name="Text 3"/>
          <p:cNvSpPr/>
          <p:nvPr/>
        </p:nvSpPr>
        <p:spPr>
          <a:xfrm>
            <a:off x="793800" y="5212080"/>
            <a:ext cx="75556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buNone/>
              <a:tabLst>
                <a:tab algn="l" pos="0"/>
              </a:tabLst>
            </a:pPr>
            <a:r>
              <a:rPr b="0" lang="en-US" sz="1750" spc="-1" strike="noStrike">
                <a:solidFill>
                  <a:srgbClr val="4b4a4a"/>
                </a:solidFill>
                <a:latin typeface="Geist"/>
                <a:ea typeface="Geist"/>
              </a:rPr>
              <a:t>Группа: 414</a:t>
            </a:r>
            <a:endParaRPr b="0" lang="ru-RU" sz="1750" spc="-1" strike="noStrike">
              <a:latin typeface="Arial"/>
            </a:endParaRPr>
          </a:p>
        </p:txBody>
      </p:sp>
      <p:sp>
        <p:nvSpPr>
          <p:cNvPr id="205" name="Text 4"/>
          <p:cNvSpPr/>
          <p:nvPr/>
        </p:nvSpPr>
        <p:spPr>
          <a:xfrm>
            <a:off x="720000" y="5937480"/>
            <a:ext cx="7379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buNone/>
              <a:tabLst>
                <a:tab algn="l" pos="0"/>
              </a:tabLst>
            </a:pPr>
            <a:r>
              <a:rPr b="0" lang="en-US" sz="1750" spc="-1" strike="noStrike">
                <a:solidFill>
                  <a:srgbClr val="4b4a4a"/>
                </a:solidFill>
                <a:latin typeface="Geist"/>
                <a:ea typeface="Geist"/>
              </a:rPr>
              <a:t>Преподаватель: Пунгин Илья Вячеславович</a:t>
            </a:r>
            <a:endParaRPr b="0" lang="ru-RU" sz="1750" spc="-1" strike="noStrike">
              <a:latin typeface="Arial"/>
            </a:endParaRPr>
          </a:p>
        </p:txBody>
      </p:sp>
      <p:sp>
        <p:nvSpPr>
          <p:cNvPr id="206" name="Text 5"/>
          <p:cNvSpPr/>
          <p:nvPr/>
        </p:nvSpPr>
        <p:spPr>
          <a:xfrm>
            <a:off x="793800" y="6447960"/>
            <a:ext cx="75556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buNone/>
              <a:tabLst>
                <a:tab algn="l" pos="0"/>
              </a:tabLst>
            </a:pPr>
            <a:r>
              <a:rPr b="0" lang="en-US" sz="1750" spc="-1" strike="noStrike">
                <a:solidFill>
                  <a:srgbClr val="4b4a4a"/>
                </a:solidFill>
                <a:latin typeface="Geist"/>
                <a:ea typeface="Geist"/>
              </a:rPr>
              <a:t>Год: 2025</a:t>
            </a:r>
            <a:endParaRPr b="0" lang="ru-RU" sz="1750" spc="-1" strike="noStrike"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12600000" y="7560000"/>
            <a:ext cx="1980000" cy="6688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4629680" cy="1797840"/>
          </a:xfrm>
          <a:prstGeom prst="rect">
            <a:avLst/>
          </a:prstGeom>
          <a:ln w="0">
            <a:noFill/>
          </a:ln>
        </p:spPr>
      </p:pic>
      <p:sp>
        <p:nvSpPr>
          <p:cNvPr id="209" name="Text 1"/>
          <p:cNvSpPr/>
          <p:nvPr/>
        </p:nvSpPr>
        <p:spPr>
          <a:xfrm>
            <a:off x="360000" y="968040"/>
            <a:ext cx="406548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3351"/>
              </a:lnSpc>
              <a:buNone/>
              <a:tabLst>
                <a:tab algn="l" pos="0"/>
              </a:tabLst>
            </a:pPr>
            <a:r>
              <a:rPr b="1" lang="en-US" sz="2650" spc="-1" strike="noStrike">
                <a:solidFill>
                  <a:srgbClr val="006747"/>
                </a:solidFill>
                <a:latin typeface="Noto Serif SC Bold"/>
                <a:ea typeface="Noto Serif SC Bold"/>
              </a:rPr>
              <a:t>Цель и Задачи Работы</a:t>
            </a:r>
            <a:endParaRPr b="0" lang="ru-RU" sz="2650" spc="-1" strike="noStrike">
              <a:latin typeface="Arial"/>
            </a:endParaRPr>
          </a:p>
        </p:txBody>
      </p:sp>
      <p:sp>
        <p:nvSpPr>
          <p:cNvPr id="210" name="Text 2"/>
          <p:cNvSpPr/>
          <p:nvPr/>
        </p:nvSpPr>
        <p:spPr>
          <a:xfrm>
            <a:off x="565560" y="1755720"/>
            <a:ext cx="1346508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Целью данной курсовой работы является разработка базы данных для трекинга целей и привычек, которая позволит гибко конфигурировать цели и привычки, а также обеспечит ввод, отслеживание и редактирование результатов.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211" name="Shape 3"/>
          <p:cNvSpPr/>
          <p:nvPr/>
        </p:nvSpPr>
        <p:spPr>
          <a:xfrm>
            <a:off x="360000" y="1601640"/>
            <a:ext cx="14400" cy="745920"/>
          </a:xfrm>
          <a:prstGeom prst="rect">
            <a:avLst/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Text 4"/>
          <p:cNvSpPr/>
          <p:nvPr/>
        </p:nvSpPr>
        <p:spPr>
          <a:xfrm>
            <a:off x="360000" y="2553840"/>
            <a:ext cx="273960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650"/>
              </a:lnSpc>
              <a:buNone/>
              <a:tabLst>
                <a:tab algn="l" pos="0"/>
              </a:tabLst>
            </a:pPr>
            <a:r>
              <a:rPr b="1" lang="en-US" sz="2150" spc="-1" strike="noStrike">
                <a:solidFill>
                  <a:srgbClr val="006747"/>
                </a:solidFill>
                <a:latin typeface="Noto Serif SC Bold"/>
                <a:ea typeface="Noto Serif SC Bold"/>
              </a:rPr>
              <a:t>Основные Задачи</a:t>
            </a:r>
            <a:endParaRPr b="0" lang="ru-RU" sz="2150" spc="-1" strike="noStrike">
              <a:latin typeface="Arial"/>
            </a:endParaRPr>
          </a:p>
        </p:txBody>
      </p:sp>
      <p:sp>
        <p:nvSpPr>
          <p:cNvPr id="213" name="Shape 5"/>
          <p:cNvSpPr/>
          <p:nvPr/>
        </p:nvSpPr>
        <p:spPr>
          <a:xfrm>
            <a:off x="360000" y="3101760"/>
            <a:ext cx="6766560" cy="410400"/>
          </a:xfrm>
          <a:prstGeom prst="roundRect">
            <a:avLst>
              <a:gd name="adj" fmla="val 480095"/>
            </a:avLst>
          </a:prstGeom>
          <a:solidFill>
            <a:srgbClr val="d1efe4"/>
          </a:solidFill>
          <a:ln w="7620">
            <a:solidFill>
              <a:srgbClr val="b7d5c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Text 6"/>
          <p:cNvSpPr/>
          <p:nvPr/>
        </p:nvSpPr>
        <p:spPr>
          <a:xfrm>
            <a:off x="3640680" y="3178800"/>
            <a:ext cx="204840" cy="2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599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1</a:t>
            </a:r>
            <a:endParaRPr b="0" lang="ru-RU" sz="1600" spc="-1" strike="noStrike">
              <a:latin typeface="Arial"/>
            </a:endParaRPr>
          </a:p>
        </p:txBody>
      </p:sp>
      <p:sp>
        <p:nvSpPr>
          <p:cNvPr id="215" name="Text 7"/>
          <p:cNvSpPr/>
          <p:nvPr/>
        </p:nvSpPr>
        <p:spPr>
          <a:xfrm>
            <a:off x="497160" y="3649680"/>
            <a:ext cx="567108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Анализ предметной области и проектирование архитектуры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216" name="Text 8"/>
          <p:cNvSpPr/>
          <p:nvPr/>
        </p:nvSpPr>
        <p:spPr>
          <a:xfrm>
            <a:off x="497160" y="3945960"/>
            <a:ext cx="64926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Исследование процессов целеполагания и формирования привычек, изучение методологий (SMART, OKR) для определения функциональных требований и бизнес-процессов системы.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217" name="Shape 9"/>
          <p:cNvSpPr/>
          <p:nvPr/>
        </p:nvSpPr>
        <p:spPr>
          <a:xfrm>
            <a:off x="7264080" y="3101760"/>
            <a:ext cx="6766560" cy="410400"/>
          </a:xfrm>
          <a:prstGeom prst="roundRect">
            <a:avLst>
              <a:gd name="adj" fmla="val 480095"/>
            </a:avLst>
          </a:prstGeom>
          <a:solidFill>
            <a:srgbClr val="d1efe4"/>
          </a:solidFill>
          <a:ln w="7620">
            <a:solidFill>
              <a:srgbClr val="b7d5c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8" name="Text 10"/>
          <p:cNvSpPr/>
          <p:nvPr/>
        </p:nvSpPr>
        <p:spPr>
          <a:xfrm>
            <a:off x="10544760" y="3178800"/>
            <a:ext cx="204840" cy="2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599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2</a:t>
            </a:r>
            <a:endParaRPr b="0" lang="ru-RU" sz="1600" spc="-1" strike="noStrike">
              <a:latin typeface="Arial"/>
            </a:endParaRPr>
          </a:p>
        </p:txBody>
      </p:sp>
      <p:sp>
        <p:nvSpPr>
          <p:cNvPr id="219" name="Text 11"/>
          <p:cNvSpPr/>
          <p:nvPr/>
        </p:nvSpPr>
        <p:spPr>
          <a:xfrm>
            <a:off x="7401240" y="3649680"/>
            <a:ext cx="4344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Проектирование и реализация БД в PostgreSQL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220" name="Text 12"/>
          <p:cNvSpPr/>
          <p:nvPr/>
        </p:nvSpPr>
        <p:spPr>
          <a:xfrm>
            <a:off x="7401240" y="3945960"/>
            <a:ext cx="64926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Разработка концептуальной (ER-диаграмма), логической и физической моделей, создание DDL-скриптов, хранимых процедур и триггеров для автоматизации.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221" name="Shape 13"/>
          <p:cNvSpPr/>
          <p:nvPr/>
        </p:nvSpPr>
        <p:spPr>
          <a:xfrm>
            <a:off x="360000" y="4658040"/>
            <a:ext cx="6766560" cy="410400"/>
          </a:xfrm>
          <a:prstGeom prst="roundRect">
            <a:avLst>
              <a:gd name="adj" fmla="val 480095"/>
            </a:avLst>
          </a:prstGeom>
          <a:solidFill>
            <a:srgbClr val="d1efe4"/>
          </a:solidFill>
          <a:ln w="7620">
            <a:solidFill>
              <a:srgbClr val="b7d5c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2" name="Text 14"/>
          <p:cNvSpPr/>
          <p:nvPr/>
        </p:nvSpPr>
        <p:spPr>
          <a:xfrm>
            <a:off x="3640680" y="4735080"/>
            <a:ext cx="204840" cy="2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599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3</a:t>
            </a:r>
            <a:endParaRPr b="0" lang="ru-RU" sz="1600" spc="-1" strike="noStrike">
              <a:latin typeface="Arial"/>
            </a:endParaRPr>
          </a:p>
        </p:txBody>
      </p:sp>
      <p:sp>
        <p:nvSpPr>
          <p:cNvPr id="223" name="Text 15"/>
          <p:cNvSpPr/>
          <p:nvPr/>
        </p:nvSpPr>
        <p:spPr>
          <a:xfrm>
            <a:off x="497160" y="5205960"/>
            <a:ext cx="2580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Разработка веб-интерфейса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224" name="Text 16"/>
          <p:cNvSpPr/>
          <p:nvPr/>
        </p:nvSpPr>
        <p:spPr>
          <a:xfrm>
            <a:off x="497160" y="5502240"/>
            <a:ext cx="64926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Создание интуитивно понятного веб-сайта с функциями регистрации, управления целями/привычками, фиксации прогресса и просмотра статистики.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225" name="Shape 17"/>
          <p:cNvSpPr/>
          <p:nvPr/>
        </p:nvSpPr>
        <p:spPr>
          <a:xfrm>
            <a:off x="7264080" y="4658040"/>
            <a:ext cx="6766560" cy="410400"/>
          </a:xfrm>
          <a:prstGeom prst="roundRect">
            <a:avLst>
              <a:gd name="adj" fmla="val 480095"/>
            </a:avLst>
          </a:prstGeom>
          <a:solidFill>
            <a:srgbClr val="d1efe4"/>
          </a:solidFill>
          <a:ln w="7620">
            <a:solidFill>
              <a:srgbClr val="b7d5c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6" name="Text 18"/>
          <p:cNvSpPr/>
          <p:nvPr/>
        </p:nvSpPr>
        <p:spPr>
          <a:xfrm>
            <a:off x="10544760" y="4735080"/>
            <a:ext cx="204840" cy="2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599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4</a:t>
            </a:r>
            <a:endParaRPr b="0" lang="ru-RU" sz="1600" spc="-1" strike="noStrike">
              <a:latin typeface="Arial"/>
            </a:endParaRPr>
          </a:p>
        </p:txBody>
      </p:sp>
      <p:sp>
        <p:nvSpPr>
          <p:cNvPr id="227" name="Text 19"/>
          <p:cNvSpPr/>
          <p:nvPr/>
        </p:nvSpPr>
        <p:spPr>
          <a:xfrm>
            <a:off x="7401240" y="5205960"/>
            <a:ext cx="368028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Тестирование и подготовка отчетности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228" name="Text 20"/>
          <p:cNvSpPr/>
          <p:nvPr/>
        </p:nvSpPr>
        <p:spPr>
          <a:xfrm>
            <a:off x="7401240" y="5502240"/>
            <a:ext cx="64926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Проведение комплексного функционального и интеграционного тестирования, подготовка демонстрационных данных и типовых сценариев использования системы.</a:t>
            </a:r>
            <a:endParaRPr b="0" lang="ru-RU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4629680" cy="8228880"/>
          </a:xfrm>
          <a:prstGeom prst="rect">
            <a:avLst/>
          </a:prstGeom>
          <a:ln w="0">
            <a:noFill/>
          </a:ln>
        </p:spPr>
      </p:pic>
      <p:sp>
        <p:nvSpPr>
          <p:cNvPr id="23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e5f9f2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dfdf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32" name="Image 1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4629680" cy="8228880"/>
          </a:xfrm>
          <a:prstGeom prst="rect">
            <a:avLst/>
          </a:prstGeom>
          <a:ln w="0">
            <a:noFill/>
          </a:ln>
        </p:spPr>
      </p:pic>
      <p:sp>
        <p:nvSpPr>
          <p:cNvPr id="233" name="Text 2"/>
          <p:cNvSpPr/>
          <p:nvPr/>
        </p:nvSpPr>
        <p:spPr>
          <a:xfrm>
            <a:off x="793800" y="1076400"/>
            <a:ext cx="6921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5550"/>
              </a:lnSpc>
              <a:buNone/>
              <a:tabLst>
                <a:tab algn="l" pos="0"/>
              </a:tabLst>
            </a:pPr>
            <a:r>
              <a:rPr b="1" lang="en-US" sz="4450" spc="-1" strike="noStrike">
                <a:solidFill>
                  <a:srgbClr val="006747"/>
                </a:solidFill>
                <a:latin typeface="Noto Serif SC Bold"/>
                <a:ea typeface="Noto Serif SC Bold"/>
              </a:rPr>
              <a:t>Актуальность Проекта</a:t>
            </a:r>
            <a:endParaRPr b="0" lang="ru-RU" sz="4450" spc="-1" strike="noStrike">
              <a:latin typeface="Arial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1134000" y="2380320"/>
            <a:ext cx="1270188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849"/>
              </a:lnSpc>
              <a:buNone/>
              <a:tabLst>
                <a:tab algn="l" pos="0"/>
              </a:tabLst>
            </a:pPr>
            <a:r>
              <a:rPr b="0" lang="en-US" sz="1750" spc="-1" strike="noStrike">
                <a:solidFill>
                  <a:srgbClr val="4b4a4a"/>
                </a:solidFill>
                <a:latin typeface="Geist"/>
                <a:ea typeface="Geist"/>
              </a:rPr>
              <a:t>В условиях современного ритма жизни осознанное саморазвитие и формирование позитивных привычек являются ключевыми для личной эффективности. Несистемный подход к целеполаганию часто приводит к потере мотивации и низкой результативности.</a:t>
            </a:r>
            <a:endParaRPr b="0" lang="ru-RU" sz="1750" spc="-1" strike="noStrike">
              <a:latin typeface="Arial"/>
            </a:endParaRPr>
          </a:p>
        </p:txBody>
      </p:sp>
      <p:sp>
        <p:nvSpPr>
          <p:cNvPr id="235" name="Shape 4"/>
          <p:cNvSpPr/>
          <p:nvPr/>
        </p:nvSpPr>
        <p:spPr>
          <a:xfrm>
            <a:off x="793800" y="2125440"/>
            <a:ext cx="29880" cy="1598400"/>
          </a:xfrm>
          <a:prstGeom prst="rect">
            <a:avLst/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6" name="Shape 5"/>
          <p:cNvSpPr/>
          <p:nvPr/>
        </p:nvSpPr>
        <p:spPr>
          <a:xfrm>
            <a:off x="793800" y="3979440"/>
            <a:ext cx="4195800" cy="3400560"/>
          </a:xfrm>
          <a:prstGeom prst="roundRect">
            <a:avLst>
              <a:gd name="adj" fmla="val 4610"/>
            </a:avLst>
          </a:prstGeom>
          <a:solidFill>
            <a:srgbClr val="e5f9f2">
              <a:alpha val="95000"/>
            </a:srgbClr>
          </a:solidFill>
          <a:ln w="30480">
            <a:solidFill>
              <a:srgbClr val="b7d5c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Shape 6"/>
          <p:cNvSpPr/>
          <p:nvPr/>
        </p:nvSpPr>
        <p:spPr>
          <a:xfrm>
            <a:off x="763200" y="3979440"/>
            <a:ext cx="121320" cy="3173040"/>
          </a:xfrm>
          <a:prstGeom prst="roundRect">
            <a:avLst>
              <a:gd name="adj" fmla="val 167442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8" name="Text 7"/>
          <p:cNvSpPr/>
          <p:nvPr/>
        </p:nvSpPr>
        <p:spPr>
          <a:xfrm>
            <a:off x="1142640" y="4236840"/>
            <a:ext cx="358956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75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Систематизация Саморазвития</a:t>
            </a:r>
            <a:endParaRPr b="0" lang="ru-RU" sz="2200" spc="-1" strike="noStrike">
              <a:latin typeface="Arial"/>
            </a:endParaRPr>
          </a:p>
        </p:txBody>
      </p:sp>
      <p:sp>
        <p:nvSpPr>
          <p:cNvPr id="239" name="Text 8"/>
          <p:cNvSpPr/>
          <p:nvPr/>
        </p:nvSpPr>
        <p:spPr>
          <a:xfrm>
            <a:off x="1142640" y="5081400"/>
            <a:ext cx="3589560" cy="18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849"/>
              </a:lnSpc>
              <a:buNone/>
              <a:tabLst>
                <a:tab algn="l" pos="0"/>
              </a:tabLst>
            </a:pPr>
            <a:r>
              <a:rPr b="0" lang="en-US" sz="1750" spc="-1" strike="noStrike">
                <a:solidFill>
                  <a:srgbClr val="4b4a4a"/>
                </a:solidFill>
                <a:latin typeface="Geist"/>
                <a:ea typeface="Geist"/>
              </a:rPr>
              <a:t>Разработка инструментов для структурирования и автоматизации персонального роста и формирования устойчивых привычек.</a:t>
            </a:r>
            <a:endParaRPr b="0" lang="ru-RU" sz="1750" spc="-1" strike="noStrike">
              <a:latin typeface="Arial"/>
            </a:endParaRPr>
          </a:p>
        </p:txBody>
      </p:sp>
      <p:sp>
        <p:nvSpPr>
          <p:cNvPr id="240" name="Shape 9"/>
          <p:cNvSpPr/>
          <p:nvPr/>
        </p:nvSpPr>
        <p:spPr>
          <a:xfrm>
            <a:off x="5217120" y="3979440"/>
            <a:ext cx="4195800" cy="3400560"/>
          </a:xfrm>
          <a:prstGeom prst="roundRect">
            <a:avLst>
              <a:gd name="adj" fmla="val 4610"/>
            </a:avLst>
          </a:prstGeom>
          <a:solidFill>
            <a:srgbClr val="e5f9f2">
              <a:alpha val="95000"/>
            </a:srgbClr>
          </a:solidFill>
          <a:ln w="30480">
            <a:solidFill>
              <a:srgbClr val="b7d5c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Shape 10"/>
          <p:cNvSpPr/>
          <p:nvPr/>
        </p:nvSpPr>
        <p:spPr>
          <a:xfrm>
            <a:off x="5186520" y="3979440"/>
            <a:ext cx="121320" cy="3173040"/>
          </a:xfrm>
          <a:prstGeom prst="roundRect">
            <a:avLst>
              <a:gd name="adj" fmla="val 167442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Text 11"/>
          <p:cNvSpPr/>
          <p:nvPr/>
        </p:nvSpPr>
        <p:spPr>
          <a:xfrm>
            <a:off x="5565600" y="4236840"/>
            <a:ext cx="34254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Гибкая Конфигурация</a:t>
            </a:r>
            <a:endParaRPr b="0" lang="ru-RU" sz="2200" spc="-1" strike="noStrike">
              <a:latin typeface="Arial"/>
            </a:endParaRPr>
          </a:p>
        </p:txBody>
      </p:sp>
      <p:sp>
        <p:nvSpPr>
          <p:cNvPr id="243" name="Text 12"/>
          <p:cNvSpPr/>
          <p:nvPr/>
        </p:nvSpPr>
        <p:spPr>
          <a:xfrm>
            <a:off x="5565600" y="4727160"/>
            <a:ext cx="3589560" cy="18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849"/>
              </a:lnSpc>
              <a:buNone/>
              <a:tabLst>
                <a:tab algn="l" pos="0"/>
              </a:tabLst>
            </a:pPr>
            <a:r>
              <a:rPr b="0" lang="en-US" sz="1750" spc="-1" strike="noStrike">
                <a:solidFill>
                  <a:srgbClr val="4b4a4a"/>
                </a:solidFill>
                <a:latin typeface="Geist"/>
                <a:ea typeface="Geist"/>
              </a:rPr>
              <a:t>Предоставление пользователям возможностей для настройки целей, привычек и методов отслеживания прогресса.</a:t>
            </a:r>
            <a:endParaRPr b="0" lang="ru-RU" sz="1750" spc="-1" strike="noStrike">
              <a:latin typeface="Arial"/>
            </a:endParaRPr>
          </a:p>
        </p:txBody>
      </p:sp>
      <p:sp>
        <p:nvSpPr>
          <p:cNvPr id="244" name="Shape 13"/>
          <p:cNvSpPr/>
          <p:nvPr/>
        </p:nvSpPr>
        <p:spPr>
          <a:xfrm>
            <a:off x="9640080" y="3979440"/>
            <a:ext cx="4195800" cy="3400560"/>
          </a:xfrm>
          <a:prstGeom prst="roundRect">
            <a:avLst>
              <a:gd name="adj" fmla="val 4610"/>
            </a:avLst>
          </a:prstGeom>
          <a:solidFill>
            <a:srgbClr val="e5f9f2">
              <a:alpha val="95000"/>
            </a:srgbClr>
          </a:solidFill>
          <a:ln w="30480">
            <a:solidFill>
              <a:srgbClr val="b7d5c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5" name="Shape 14"/>
          <p:cNvSpPr/>
          <p:nvPr/>
        </p:nvSpPr>
        <p:spPr>
          <a:xfrm>
            <a:off x="9609480" y="3979440"/>
            <a:ext cx="121320" cy="3173040"/>
          </a:xfrm>
          <a:prstGeom prst="roundRect">
            <a:avLst>
              <a:gd name="adj" fmla="val 167442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Text 15"/>
          <p:cNvSpPr/>
          <p:nvPr/>
        </p:nvSpPr>
        <p:spPr>
          <a:xfrm>
            <a:off x="9988920" y="4236840"/>
            <a:ext cx="358956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75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Целостность и Безопасность Данных</a:t>
            </a:r>
            <a:endParaRPr b="0" lang="ru-RU" sz="2200" spc="-1" strike="noStrike">
              <a:latin typeface="Arial"/>
            </a:endParaRPr>
          </a:p>
        </p:txBody>
      </p:sp>
      <p:sp>
        <p:nvSpPr>
          <p:cNvPr id="247" name="Text 16"/>
          <p:cNvSpPr/>
          <p:nvPr/>
        </p:nvSpPr>
        <p:spPr>
          <a:xfrm>
            <a:off x="9988920" y="5081400"/>
            <a:ext cx="3589560" cy="18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849"/>
              </a:lnSpc>
              <a:buNone/>
              <a:tabLst>
                <a:tab algn="l" pos="0"/>
              </a:tabLst>
            </a:pPr>
            <a:r>
              <a:rPr b="0" lang="en-US" sz="1750" spc="-1" strike="noStrike">
                <a:solidFill>
                  <a:srgbClr val="4b4a4a"/>
                </a:solidFill>
                <a:latin typeface="Geist"/>
                <a:ea typeface="Geist"/>
              </a:rPr>
              <a:t>Обеспечение надежной обработки информации, поддержание ее непротиворечивости и защита персональных данных.</a:t>
            </a:r>
            <a:endParaRPr b="0" lang="ru-RU" sz="17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4629680" cy="1789920"/>
          </a:xfrm>
          <a:prstGeom prst="rect">
            <a:avLst/>
          </a:prstGeom>
          <a:ln w="0">
            <a:noFill/>
          </a:ln>
        </p:spPr>
      </p:pic>
      <p:sp>
        <p:nvSpPr>
          <p:cNvPr id="249" name="Text 1"/>
          <p:cNvSpPr/>
          <p:nvPr/>
        </p:nvSpPr>
        <p:spPr>
          <a:xfrm>
            <a:off x="477360" y="2187000"/>
            <a:ext cx="109976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3351"/>
              </a:lnSpc>
              <a:buNone/>
              <a:tabLst>
                <a:tab algn="l" pos="0"/>
              </a:tabLst>
            </a:pPr>
            <a:r>
              <a:rPr b="1" lang="en-US" sz="2650" spc="-1" strike="noStrike">
                <a:solidFill>
                  <a:srgbClr val="006747"/>
                </a:solidFill>
                <a:latin typeface="Noto Serif SC Bold"/>
                <a:ea typeface="Noto Serif SC Bold"/>
              </a:rPr>
              <a:t>Описание предметной области и функции решаемых задач</a:t>
            </a:r>
            <a:endParaRPr b="0" lang="ru-RU" sz="2650" spc="-1" strike="noStrike"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477360" y="2818080"/>
            <a:ext cx="1367496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Предметная область данной работы — персонализированный менеджмент личного развития и продуктивности. Система направлена на автоматизацию процессов постановки целей, формирования привычек и отслеживания прогресса, помогая пользователю структурировать свои устремления и повышать осознанность действий.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477360" y="3612600"/>
            <a:ext cx="4466880" cy="1223280"/>
          </a:xfrm>
          <a:prstGeom prst="roundRect">
            <a:avLst>
              <a:gd name="adj" fmla="val 5977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Shape 4"/>
          <p:cNvSpPr/>
          <p:nvPr/>
        </p:nvSpPr>
        <p:spPr>
          <a:xfrm>
            <a:off x="477360" y="3597120"/>
            <a:ext cx="446688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3" name="Shape 5"/>
          <p:cNvSpPr/>
          <p:nvPr/>
        </p:nvSpPr>
        <p:spPr>
          <a:xfrm>
            <a:off x="2506680" y="3407760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54" name="Image 2" descr="preencoded.png"/>
          <p:cNvPicPr/>
          <p:nvPr/>
        </p:nvPicPr>
        <p:blipFill>
          <a:blip r:embed="rId2"/>
          <a:stretch/>
        </p:blipFill>
        <p:spPr>
          <a:xfrm>
            <a:off x="2629440" y="3530520"/>
            <a:ext cx="163080" cy="163080"/>
          </a:xfrm>
          <a:prstGeom prst="rect">
            <a:avLst/>
          </a:prstGeom>
          <a:ln w="0">
            <a:noFill/>
          </a:ln>
        </p:spPr>
      </p:pic>
      <p:sp>
        <p:nvSpPr>
          <p:cNvPr id="255" name="Text 6"/>
          <p:cNvSpPr/>
          <p:nvPr/>
        </p:nvSpPr>
        <p:spPr>
          <a:xfrm>
            <a:off x="628920" y="3953520"/>
            <a:ext cx="266328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Управление Пользователями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256" name="Text 7"/>
          <p:cNvSpPr/>
          <p:nvPr/>
        </p:nvSpPr>
        <p:spPr>
          <a:xfrm>
            <a:off x="628920" y="4248360"/>
            <a:ext cx="416376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Регистрация и аутентификация, обеспечение конфиденциальности и изоляции личных данных.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257" name="Shape 8"/>
          <p:cNvSpPr/>
          <p:nvPr/>
        </p:nvSpPr>
        <p:spPr>
          <a:xfrm>
            <a:off x="5081400" y="3612600"/>
            <a:ext cx="4466880" cy="1223280"/>
          </a:xfrm>
          <a:prstGeom prst="roundRect">
            <a:avLst>
              <a:gd name="adj" fmla="val 5977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Shape 9"/>
          <p:cNvSpPr/>
          <p:nvPr/>
        </p:nvSpPr>
        <p:spPr>
          <a:xfrm>
            <a:off x="5081400" y="3597120"/>
            <a:ext cx="446688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Shape 10"/>
          <p:cNvSpPr/>
          <p:nvPr/>
        </p:nvSpPr>
        <p:spPr>
          <a:xfrm>
            <a:off x="7110360" y="3407760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60" name="Image 3" descr="preencoded.png"/>
          <p:cNvPicPr/>
          <p:nvPr/>
        </p:nvPicPr>
        <p:blipFill>
          <a:blip r:embed="rId3"/>
          <a:stretch/>
        </p:blipFill>
        <p:spPr>
          <a:xfrm>
            <a:off x="7233120" y="3530520"/>
            <a:ext cx="163080" cy="163080"/>
          </a:xfrm>
          <a:prstGeom prst="rect">
            <a:avLst/>
          </a:prstGeom>
          <a:ln w="0">
            <a:noFill/>
          </a:ln>
        </p:spPr>
      </p:pic>
      <p:sp>
        <p:nvSpPr>
          <p:cNvPr id="261" name="Text 11"/>
          <p:cNvSpPr/>
          <p:nvPr/>
        </p:nvSpPr>
        <p:spPr>
          <a:xfrm>
            <a:off x="5232960" y="3953520"/>
            <a:ext cx="185976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Управление Целями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262" name="Text 12"/>
          <p:cNvSpPr/>
          <p:nvPr/>
        </p:nvSpPr>
        <p:spPr>
          <a:xfrm>
            <a:off x="5232960" y="4248360"/>
            <a:ext cx="416376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Создание, редактирование и архивация целей различных типов с установкой значений, сроков и приоритетов.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263" name="Shape 13"/>
          <p:cNvSpPr/>
          <p:nvPr/>
        </p:nvSpPr>
        <p:spPr>
          <a:xfrm>
            <a:off x="9685080" y="3612600"/>
            <a:ext cx="4466880" cy="1223280"/>
          </a:xfrm>
          <a:prstGeom prst="roundRect">
            <a:avLst>
              <a:gd name="adj" fmla="val 5977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4" name="Shape 14"/>
          <p:cNvSpPr/>
          <p:nvPr/>
        </p:nvSpPr>
        <p:spPr>
          <a:xfrm>
            <a:off x="9685080" y="3597120"/>
            <a:ext cx="446688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5" name="Shape 15"/>
          <p:cNvSpPr/>
          <p:nvPr/>
        </p:nvSpPr>
        <p:spPr>
          <a:xfrm>
            <a:off x="11714400" y="3407760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66" name="Image 4" descr="preencoded.png"/>
          <p:cNvPicPr/>
          <p:nvPr/>
        </p:nvPicPr>
        <p:blipFill>
          <a:blip r:embed="rId4"/>
          <a:stretch/>
        </p:blipFill>
        <p:spPr>
          <a:xfrm>
            <a:off x="11837160" y="3530520"/>
            <a:ext cx="163080" cy="163080"/>
          </a:xfrm>
          <a:prstGeom prst="rect">
            <a:avLst/>
          </a:prstGeom>
          <a:ln w="0">
            <a:noFill/>
          </a:ln>
        </p:spPr>
      </p:pic>
      <p:sp>
        <p:nvSpPr>
          <p:cNvPr id="267" name="Text 16"/>
          <p:cNvSpPr/>
          <p:nvPr/>
        </p:nvSpPr>
        <p:spPr>
          <a:xfrm>
            <a:off x="9837000" y="3953520"/>
            <a:ext cx="234900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Управление Привычками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268" name="Text 17"/>
          <p:cNvSpPr/>
          <p:nvPr/>
        </p:nvSpPr>
        <p:spPr>
          <a:xfrm>
            <a:off x="9837000" y="4248360"/>
            <a:ext cx="416376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Создание повторяющихся активностей с заданной частотой выполнения и привязкой напоминаний.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269" name="Shape 18"/>
          <p:cNvSpPr/>
          <p:nvPr/>
        </p:nvSpPr>
        <p:spPr>
          <a:xfrm>
            <a:off x="477360" y="5177160"/>
            <a:ext cx="4466880" cy="1223280"/>
          </a:xfrm>
          <a:prstGeom prst="roundRect">
            <a:avLst>
              <a:gd name="adj" fmla="val 5977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Shape 19"/>
          <p:cNvSpPr/>
          <p:nvPr/>
        </p:nvSpPr>
        <p:spPr>
          <a:xfrm>
            <a:off x="477360" y="5162040"/>
            <a:ext cx="446688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Shape 20"/>
          <p:cNvSpPr/>
          <p:nvPr/>
        </p:nvSpPr>
        <p:spPr>
          <a:xfrm>
            <a:off x="2506680" y="4972680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72" name="Image 5" descr="preencoded.png"/>
          <p:cNvPicPr/>
          <p:nvPr/>
        </p:nvPicPr>
        <p:blipFill>
          <a:blip r:embed="rId5"/>
          <a:stretch/>
        </p:blipFill>
        <p:spPr>
          <a:xfrm>
            <a:off x="2629440" y="5095440"/>
            <a:ext cx="163080" cy="163080"/>
          </a:xfrm>
          <a:prstGeom prst="rect">
            <a:avLst/>
          </a:prstGeom>
          <a:ln w="0">
            <a:noFill/>
          </a:ln>
        </p:spPr>
      </p:pic>
      <p:sp>
        <p:nvSpPr>
          <p:cNvPr id="273" name="Text 21"/>
          <p:cNvSpPr/>
          <p:nvPr/>
        </p:nvSpPr>
        <p:spPr>
          <a:xfrm>
            <a:off x="628920" y="5518440"/>
            <a:ext cx="191088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Фиксация Прогресса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274" name="Text 22"/>
          <p:cNvSpPr/>
          <p:nvPr/>
        </p:nvSpPr>
        <p:spPr>
          <a:xfrm>
            <a:off x="628920" y="5813280"/>
            <a:ext cx="416376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Ежедневный ввод данных о выполнении привычек и достижении промежуточных результатов по целям.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275" name="Shape 23"/>
          <p:cNvSpPr/>
          <p:nvPr/>
        </p:nvSpPr>
        <p:spPr>
          <a:xfrm>
            <a:off x="5081400" y="5177160"/>
            <a:ext cx="4466880" cy="1223280"/>
          </a:xfrm>
          <a:prstGeom prst="roundRect">
            <a:avLst>
              <a:gd name="adj" fmla="val 5977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6" name="Shape 24"/>
          <p:cNvSpPr/>
          <p:nvPr/>
        </p:nvSpPr>
        <p:spPr>
          <a:xfrm>
            <a:off x="5081400" y="5162040"/>
            <a:ext cx="446688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Shape 25"/>
          <p:cNvSpPr/>
          <p:nvPr/>
        </p:nvSpPr>
        <p:spPr>
          <a:xfrm>
            <a:off x="7110360" y="4972680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78" name="Image 6" descr="preencoded.png"/>
          <p:cNvPicPr/>
          <p:nvPr/>
        </p:nvPicPr>
        <p:blipFill>
          <a:blip r:embed="rId6"/>
          <a:stretch/>
        </p:blipFill>
        <p:spPr>
          <a:xfrm>
            <a:off x="7233120" y="5095440"/>
            <a:ext cx="163080" cy="163080"/>
          </a:xfrm>
          <a:prstGeom prst="rect">
            <a:avLst/>
          </a:prstGeom>
          <a:ln w="0">
            <a:noFill/>
          </a:ln>
        </p:spPr>
      </p:pic>
      <p:sp>
        <p:nvSpPr>
          <p:cNvPr id="279" name="Text 26"/>
          <p:cNvSpPr/>
          <p:nvPr/>
        </p:nvSpPr>
        <p:spPr>
          <a:xfrm>
            <a:off x="5232960" y="5518440"/>
            <a:ext cx="281736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Категоризация и Организация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280" name="Text 27"/>
          <p:cNvSpPr/>
          <p:nvPr/>
        </p:nvSpPr>
        <p:spPr>
          <a:xfrm>
            <a:off x="5232960" y="5813280"/>
            <a:ext cx="416376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Группировка целей и привычек по пользовательским категориям для упрощения навигации и анализа.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281" name="Shape 28"/>
          <p:cNvSpPr/>
          <p:nvPr/>
        </p:nvSpPr>
        <p:spPr>
          <a:xfrm>
            <a:off x="9685080" y="5177160"/>
            <a:ext cx="4466880" cy="1223280"/>
          </a:xfrm>
          <a:prstGeom prst="roundRect">
            <a:avLst>
              <a:gd name="adj" fmla="val 5977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Shape 29"/>
          <p:cNvSpPr/>
          <p:nvPr/>
        </p:nvSpPr>
        <p:spPr>
          <a:xfrm>
            <a:off x="9685080" y="5162040"/>
            <a:ext cx="446688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3" name="Shape 30"/>
          <p:cNvSpPr/>
          <p:nvPr/>
        </p:nvSpPr>
        <p:spPr>
          <a:xfrm>
            <a:off x="11714400" y="4972680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84" name="Image 7" descr="preencoded.png"/>
          <p:cNvPicPr/>
          <p:nvPr/>
        </p:nvPicPr>
        <p:blipFill>
          <a:blip r:embed="rId7"/>
          <a:stretch/>
        </p:blipFill>
        <p:spPr>
          <a:xfrm>
            <a:off x="11837160" y="5095440"/>
            <a:ext cx="163080" cy="163080"/>
          </a:xfrm>
          <a:prstGeom prst="rect">
            <a:avLst/>
          </a:prstGeom>
          <a:ln w="0">
            <a:noFill/>
          </a:ln>
        </p:spPr>
      </p:pic>
      <p:sp>
        <p:nvSpPr>
          <p:cNvPr id="285" name="Text 31"/>
          <p:cNvSpPr/>
          <p:nvPr/>
        </p:nvSpPr>
        <p:spPr>
          <a:xfrm>
            <a:off x="9837000" y="5518440"/>
            <a:ext cx="170460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Фиксация веса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286" name="Text 32"/>
          <p:cNvSpPr/>
          <p:nvPr/>
        </p:nvSpPr>
        <p:spPr>
          <a:xfrm>
            <a:off x="9837000" y="5813280"/>
            <a:ext cx="416376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Специализированный трекинг параметров веса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287" name="Shape 33"/>
          <p:cNvSpPr/>
          <p:nvPr/>
        </p:nvSpPr>
        <p:spPr>
          <a:xfrm>
            <a:off x="477360" y="6742080"/>
            <a:ext cx="13674600" cy="1005120"/>
          </a:xfrm>
          <a:prstGeom prst="roundRect">
            <a:avLst>
              <a:gd name="adj" fmla="val 7274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Shape 34"/>
          <p:cNvSpPr/>
          <p:nvPr/>
        </p:nvSpPr>
        <p:spPr>
          <a:xfrm>
            <a:off x="477360" y="6726960"/>
            <a:ext cx="1367460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9" name="Shape 35"/>
          <p:cNvSpPr/>
          <p:nvPr/>
        </p:nvSpPr>
        <p:spPr>
          <a:xfrm>
            <a:off x="7110360" y="6537600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90" name="Image 8" descr="preencoded.png"/>
          <p:cNvPicPr/>
          <p:nvPr/>
        </p:nvPicPr>
        <p:blipFill>
          <a:blip r:embed="rId8"/>
          <a:stretch/>
        </p:blipFill>
        <p:spPr>
          <a:xfrm>
            <a:off x="7233120" y="6660360"/>
            <a:ext cx="163080" cy="163080"/>
          </a:xfrm>
          <a:prstGeom prst="rect">
            <a:avLst/>
          </a:prstGeom>
          <a:ln w="0">
            <a:noFill/>
          </a:ln>
        </p:spPr>
      </p:pic>
      <p:sp>
        <p:nvSpPr>
          <p:cNvPr id="291" name="Text 36"/>
          <p:cNvSpPr/>
          <p:nvPr/>
        </p:nvSpPr>
        <p:spPr>
          <a:xfrm>
            <a:off x="628920" y="7083000"/>
            <a:ext cx="195696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4b4a4a"/>
                </a:solidFill>
                <a:latin typeface="Noto Serif SC Bold"/>
                <a:ea typeface="Noto Serif SC Bold"/>
              </a:rPr>
              <a:t>Анализ и Отчетность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292" name="Text 37"/>
          <p:cNvSpPr/>
          <p:nvPr/>
        </p:nvSpPr>
        <p:spPr>
          <a:xfrm>
            <a:off x="628920" y="7378200"/>
            <a:ext cx="1337148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b4a4a"/>
                </a:solidFill>
                <a:latin typeface="Geist"/>
                <a:ea typeface="Geist"/>
              </a:rPr>
              <a:t>Автоматический расчет статистики, формирование отчетов и визуализация данных в дашбордах.</a:t>
            </a:r>
            <a:endParaRPr b="0" lang="ru-RU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Text 0"/>
          <p:cNvSpPr/>
          <p:nvPr/>
        </p:nvSpPr>
        <p:spPr>
          <a:xfrm>
            <a:off x="793800" y="3760200"/>
            <a:ext cx="1072980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5550"/>
              </a:lnSpc>
              <a:buNone/>
              <a:tabLst>
                <a:tab algn="l" pos="0"/>
              </a:tabLst>
            </a:pPr>
            <a:r>
              <a:rPr b="1" lang="en-US" sz="4450" spc="-1" strike="noStrike">
                <a:solidFill>
                  <a:srgbClr val="006747"/>
                </a:solidFill>
                <a:latin typeface="Noto Serif SC Bold"/>
                <a:ea typeface="Noto Serif SC Bold"/>
              </a:rPr>
              <a:t>ТУТ НАДО ФОТКУ БУДЕТ СДЕЛАТЬ)</a:t>
            </a:r>
            <a:endParaRPr b="0" lang="ru-RU" sz="4450" spc="-1" strike="noStrike">
              <a:latin typeface="Arial"/>
            </a:endParaRPr>
          </a:p>
        </p:txBody>
      </p:sp>
      <p:pic>
        <p:nvPicPr>
          <p:cNvPr id="294" name="" descr=""/>
          <p:cNvPicPr/>
          <p:nvPr/>
        </p:nvPicPr>
        <p:blipFill>
          <a:blip r:embed="rId1"/>
          <a:stretch/>
        </p:blipFill>
        <p:spPr>
          <a:xfrm>
            <a:off x="0" y="25560"/>
            <a:ext cx="6189120" cy="8229240"/>
          </a:xfrm>
          <a:prstGeom prst="rect">
            <a:avLst/>
          </a:prstGeom>
          <a:ln w="0">
            <a:noFill/>
          </a:ln>
        </p:spPr>
      </p:pic>
      <p:sp>
        <p:nvSpPr>
          <p:cNvPr id="295" name=""/>
          <p:cNvSpPr/>
          <p:nvPr/>
        </p:nvSpPr>
        <p:spPr>
          <a:xfrm>
            <a:off x="12420000" y="7740000"/>
            <a:ext cx="2210400" cy="360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96" name=""/>
          <p:cNvSpPr txBox="1"/>
          <p:nvPr/>
        </p:nvSpPr>
        <p:spPr>
          <a:xfrm>
            <a:off x="8100000" y="360000"/>
            <a:ext cx="54000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800" spc="-1" strike="noStrike">
                <a:latin typeface="Arial"/>
              </a:rPr>
              <a:t>Физическая структура базы данных</a:t>
            </a:r>
            <a:endParaRPr b="0" lang="ru-RU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" descr=""/>
          <p:cNvPicPr/>
          <p:nvPr/>
        </p:nvPicPr>
        <p:blipFill>
          <a:blip r:embed="rId1"/>
          <a:stretch/>
        </p:blipFill>
        <p:spPr>
          <a:xfrm>
            <a:off x="2160000" y="0"/>
            <a:ext cx="3857400" cy="4533480"/>
          </a:xfrm>
          <a:prstGeom prst="rect">
            <a:avLst/>
          </a:prstGeom>
          <a:ln w="0">
            <a:noFill/>
          </a:ln>
        </p:spPr>
      </p:pic>
      <p:sp>
        <p:nvSpPr>
          <p:cNvPr id="298" name=""/>
          <p:cNvSpPr/>
          <p:nvPr/>
        </p:nvSpPr>
        <p:spPr>
          <a:xfrm>
            <a:off x="12600000" y="7740000"/>
            <a:ext cx="1980000" cy="360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99" name=""/>
          <p:cNvSpPr txBox="1"/>
          <p:nvPr/>
        </p:nvSpPr>
        <p:spPr>
          <a:xfrm>
            <a:off x="7380000" y="360000"/>
            <a:ext cx="63000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800" spc="-1" strike="noStrike">
                <a:latin typeface="Arial"/>
              </a:rPr>
              <a:t>Веб интерфейс базы данных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6840000" y="1260000"/>
            <a:ext cx="7020000" cy="111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800" spc="-1" strike="noStrike">
                <a:latin typeface="Arial"/>
              </a:rPr>
              <a:t>Реализован с помощью php и html разметки,безопасность данных осуществлена с помощью RLS системы postgresql,так же через пользователей данные о которых хранятся в отдельное таблице базы данных</a:t>
            </a:r>
            <a:endParaRPr b="0" lang="ru-RU" sz="1800" spc="-1" strike="noStrike">
              <a:latin typeface="Arial"/>
            </a:endParaRPr>
          </a:p>
        </p:txBody>
      </p:sp>
      <p:pic>
        <p:nvPicPr>
          <p:cNvPr id="301" name="" descr=""/>
          <p:cNvPicPr/>
          <p:nvPr/>
        </p:nvPicPr>
        <p:blipFill>
          <a:blip r:embed="rId2"/>
          <a:stretch/>
        </p:blipFill>
        <p:spPr>
          <a:xfrm rot="21595200">
            <a:off x="7730640" y="3424320"/>
            <a:ext cx="6488640" cy="4299840"/>
          </a:xfrm>
          <a:prstGeom prst="rect">
            <a:avLst/>
          </a:prstGeom>
          <a:ln w="0">
            <a:noFill/>
          </a:ln>
        </p:spPr>
      </p:pic>
      <p:sp>
        <p:nvSpPr>
          <p:cNvPr id="302" name=""/>
          <p:cNvSpPr txBox="1"/>
          <p:nvPr/>
        </p:nvSpPr>
        <p:spPr>
          <a:xfrm>
            <a:off x="1980000" y="5400000"/>
            <a:ext cx="5580000" cy="111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800" spc="-1" strike="noStrike">
                <a:latin typeface="Arial"/>
              </a:rPr>
              <a:t>На главной странице сайта показаны привычки которые надо выполнить,график веса,активные цели,привычки,текущий вес,а так же сверху вкладки на другие страницы сайта</a:t>
            </a:r>
            <a:endParaRPr b="0" lang="ru-RU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" name="" descr=""/>
          <p:cNvPicPr/>
          <p:nvPr/>
        </p:nvPicPr>
        <p:blipFill>
          <a:blip r:embed="rId1"/>
          <a:stretch/>
        </p:blipFill>
        <p:spPr>
          <a:xfrm>
            <a:off x="309960" y="180000"/>
            <a:ext cx="7250040" cy="4860000"/>
          </a:xfrm>
          <a:prstGeom prst="rect">
            <a:avLst/>
          </a:prstGeom>
          <a:ln w="0">
            <a:noFill/>
          </a:ln>
        </p:spPr>
      </p:pic>
      <p:sp>
        <p:nvSpPr>
          <p:cNvPr id="304" name=""/>
          <p:cNvSpPr txBox="1"/>
          <p:nvPr/>
        </p:nvSpPr>
        <p:spPr>
          <a:xfrm>
            <a:off x="8100000" y="1080000"/>
            <a:ext cx="5760000" cy="858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800" spc="-1" strike="noStrike">
                <a:latin typeface="Arial"/>
              </a:rPr>
              <a:t>Вклакда цели дает доступ к созданию новых целей,так же их редакитрованию и более детальному просмотру</a:t>
            </a:r>
            <a:endParaRPr b="0" lang="ru-RU" sz="1800" spc="-1" strike="noStrike">
              <a:latin typeface="Arial"/>
            </a:endParaRPr>
          </a:p>
        </p:txBody>
      </p:sp>
      <p:pic>
        <p:nvPicPr>
          <p:cNvPr id="305" name="" descr=""/>
          <p:cNvPicPr/>
          <p:nvPr/>
        </p:nvPicPr>
        <p:blipFill>
          <a:blip r:embed="rId2"/>
          <a:stretch/>
        </p:blipFill>
        <p:spPr>
          <a:xfrm>
            <a:off x="6480000" y="3960000"/>
            <a:ext cx="7684200" cy="3738240"/>
          </a:xfrm>
          <a:prstGeom prst="rect">
            <a:avLst/>
          </a:prstGeom>
          <a:ln w="0">
            <a:noFill/>
          </a:ln>
        </p:spPr>
      </p:pic>
      <p:sp>
        <p:nvSpPr>
          <p:cNvPr id="306" name=""/>
          <p:cNvSpPr txBox="1"/>
          <p:nvPr/>
        </p:nvSpPr>
        <p:spPr>
          <a:xfrm>
            <a:off x="1440000" y="5441760"/>
            <a:ext cx="4140000" cy="858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800" spc="-1" strike="noStrike">
                <a:latin typeface="Arial"/>
              </a:rPr>
              <a:t>Детальный просмотр показывает прогресс цели ,статус приоритет,сроки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440000" y="7200000"/>
            <a:ext cx="4140000" cy="60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800" spc="-1" strike="noStrike">
                <a:latin typeface="Arial"/>
              </a:rPr>
              <a:t>Привычки сделаны по такому же шаблону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12780000" y="7698240"/>
            <a:ext cx="1800000" cy="40176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" descr=""/>
          <p:cNvPicPr/>
          <p:nvPr/>
        </p:nvPicPr>
        <p:blipFill>
          <a:blip r:embed="rId1"/>
          <a:stretch/>
        </p:blipFill>
        <p:spPr>
          <a:xfrm>
            <a:off x="52200" y="0"/>
            <a:ext cx="11467800" cy="5874840"/>
          </a:xfrm>
          <a:prstGeom prst="rect">
            <a:avLst/>
          </a:prstGeom>
          <a:ln w="0">
            <a:noFill/>
          </a:ln>
        </p:spPr>
      </p:pic>
      <p:sp>
        <p:nvSpPr>
          <p:cNvPr id="310" name=""/>
          <p:cNvSpPr txBox="1"/>
          <p:nvPr/>
        </p:nvSpPr>
        <p:spPr>
          <a:xfrm>
            <a:off x="9900000" y="1869840"/>
            <a:ext cx="4320000" cy="1370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800" spc="-1" strike="noStrike">
                <a:latin typeface="Arial"/>
              </a:rPr>
              <a:t>Календарь показывает привычки,цели,вес по дням,показывает сделаны ли цели и выполнены ли задачи по привычкам на сегоднящний день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12600000" y="7560000"/>
            <a:ext cx="2030400" cy="6696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"/>
          <p:cNvSpPr txBox="1"/>
          <p:nvPr/>
        </p:nvSpPr>
        <p:spPr>
          <a:xfrm>
            <a:off x="4680000" y="193680"/>
            <a:ext cx="84600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800" spc="-1" strike="noStrike">
                <a:latin typeface="Arial"/>
              </a:rPr>
              <a:t>Заключение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060000" y="1945800"/>
            <a:ext cx="6840000" cy="111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800" spc="-1" strike="noStrike">
                <a:latin typeface="Arial"/>
              </a:rPr>
              <a:t>В рамках выполнения курсового проекта была успешно разработана и реализована информационная система управления целями и привычками с использованием современных технологий и подходов к программированию.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12600000" y="7560000"/>
            <a:ext cx="2030400" cy="6696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"/>
          <p:cNvSpPr txBox="1"/>
          <p:nvPr/>
        </p:nvSpPr>
        <p:spPr>
          <a:xfrm>
            <a:off x="3060000" y="2817720"/>
            <a:ext cx="12420000" cy="60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800" spc="-1" strike="noStrike">
                <a:latin typeface="Arial"/>
              </a:rPr>
              <a:t>Спасибо за внимание!</a:t>
            </a:r>
            <a:endParaRPr b="0" lang="ru-RU" sz="1800" spc="-1" strike="noStrike">
              <a:latin typeface="Arial"/>
            </a:endParaRPr>
          </a:p>
          <a:p>
            <a:endParaRPr b="0" lang="ru-RU" sz="1800" spc="-1" strike="noStrike"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12600000" y="7560000"/>
            <a:ext cx="2030400" cy="6696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2025-12-17T12:45:21Z</dcterms:created>
  <dc:creator/>
  <dc:description/>
  <dc:language>ru-RU</dc:language>
  <cp:lastModifiedBy/>
  <dcterms:modified xsi:type="dcterms:W3CDTF">2025-12-17T16:21:18Z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On-screen Show (16:9)</vt:lpwstr>
  </property>
  <property fmtid="{D5CDD505-2E9C-101B-9397-08002B2CF9AE}" pid="4" name="Slides">
    <vt:i4>5</vt:i4>
  </property>
</Properties>
</file>