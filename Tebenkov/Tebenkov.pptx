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5676D98-0D21-40EF-A025-308BB24480A6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51CA2B-FEC9-448F-A7A9-00CBE0048A55}" type="slidenum">
              <a:rPr b="0" lang="en-US" sz="1200" spc="-1" strike="noStrike">
                <a:latin typeface="Times New Roman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C3BDF8-1098-4376-8AD9-10229AB0980A}" type="slidenum">
              <a:rPr b="0" lang="en-US" sz="1200" spc="-1" strike="noStrike">
                <a:latin typeface="Times New Roman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21CE2C-764A-4392-8470-4C04CF465B91}" type="slidenum">
              <a:rPr b="0" lang="en-US" sz="1200" spc="-1" strike="noStrike">
                <a:latin typeface="Times New Roman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6B14D7-E1C9-436E-A98F-CD35EC0E75F5}" type="slidenum">
              <a:rPr b="0" lang="en-US" sz="1200" spc="-1" strike="noStrike">
                <a:latin typeface="Times New Roman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C8C4E6-6213-412A-B172-6A5EAD449F46}" type="slidenum">
              <a:rPr b="0" lang="en-US" sz="1200" spc="-1" strike="noStrike">
                <a:latin typeface="Times New Roman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1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1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1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1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1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slideLayout" Target="../slideLayouts/slideLayout37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8869680" y="0"/>
            <a:ext cx="5760000" cy="8228880"/>
          </a:xfrm>
          <a:prstGeom prst="rect">
            <a:avLst/>
          </a:prstGeom>
          <a:ln w="0">
            <a:noFill/>
          </a:ln>
        </p:spPr>
      </p:pic>
      <p:sp>
        <p:nvSpPr>
          <p:cNvPr id="202" name="Text 1"/>
          <p:cNvSpPr/>
          <p:nvPr/>
        </p:nvSpPr>
        <p:spPr>
          <a:xfrm>
            <a:off x="793800" y="1418760"/>
            <a:ext cx="75556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buNone/>
              <a:tabLst>
                <a:tab algn="l" pos="0"/>
              </a:tabLst>
            </a:pPr>
            <a:r>
              <a:rPr b="1" lang="en-US" sz="44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Разработка системы трекера целей и привычек на PHP/PostgreSQL</a:t>
            </a:r>
            <a:endParaRPr b="0" lang="ru-RU" sz="4450" spc="-1" strike="noStrike"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793800" y="4593960"/>
            <a:ext cx="7555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Студент: Тебеньков Матвей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793800" y="5212080"/>
            <a:ext cx="7555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Группа: 414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720000" y="5937480"/>
            <a:ext cx="73796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Преподаватель: Пунгин Илья Вячеславович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93800" y="6447960"/>
            <a:ext cx="7555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Год: 2025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2600000" y="7560000"/>
            <a:ext cx="1980000" cy="6688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1797840"/>
          </a:xfrm>
          <a:prstGeom prst="rect">
            <a:avLst/>
          </a:prstGeom>
          <a:ln w="0">
            <a:noFill/>
          </a:ln>
        </p:spPr>
      </p:pic>
      <p:sp>
        <p:nvSpPr>
          <p:cNvPr id="209" name="Text 1"/>
          <p:cNvSpPr/>
          <p:nvPr/>
        </p:nvSpPr>
        <p:spPr>
          <a:xfrm>
            <a:off x="360000" y="968040"/>
            <a:ext cx="406548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buNone/>
              <a:tabLst>
                <a:tab algn="l" pos="0"/>
              </a:tabLst>
            </a:pPr>
            <a:r>
              <a:rPr b="1" lang="en-US" sz="26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Цель и Задачи Работы</a:t>
            </a:r>
            <a:endParaRPr b="0" lang="ru-RU" sz="2650" spc="-1" strike="noStrike"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565560" y="1755720"/>
            <a:ext cx="13465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Целью данной курсовой работы является разработка базы данных для трекинга целей и привычек, которая позволит гибко конфигурировать цели и привычки, а также обеспечит ввод, отслеживание и редактирование результатов.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360000" y="1601640"/>
            <a:ext cx="14400" cy="745920"/>
          </a:xfrm>
          <a:prstGeom prst="rect">
            <a:avLst/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4"/>
          <p:cNvSpPr/>
          <p:nvPr/>
        </p:nvSpPr>
        <p:spPr>
          <a:xfrm>
            <a:off x="360000" y="2553840"/>
            <a:ext cx="27396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buNone/>
              <a:tabLst>
                <a:tab algn="l" pos="0"/>
              </a:tabLst>
            </a:pPr>
            <a:r>
              <a:rPr b="1" lang="en-US" sz="21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Основные Задачи</a:t>
            </a:r>
            <a:endParaRPr b="0" lang="ru-RU" sz="2150" spc="-1" strike="noStrike"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360000" y="3101760"/>
            <a:ext cx="6766560" cy="410400"/>
          </a:xfrm>
          <a:prstGeom prst="roundRect">
            <a:avLst>
              <a:gd name="adj" fmla="val 480095"/>
            </a:avLst>
          </a:prstGeom>
          <a:solidFill>
            <a:srgbClr val="d1efe4"/>
          </a:solidFill>
          <a:ln w="762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6"/>
          <p:cNvSpPr/>
          <p:nvPr/>
        </p:nvSpPr>
        <p:spPr>
          <a:xfrm>
            <a:off x="3640680" y="3178800"/>
            <a:ext cx="204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1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497160" y="3649680"/>
            <a:ext cx="56710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Анализ предметной области и проектирование архитектуры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497160" y="3945960"/>
            <a:ext cx="6492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Исследование процессов целеполагания и формирования привычек, изучение методологий (SMART, OKR) для определения функциональных требований и бизнес-процессов системы.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7264080" y="3101760"/>
            <a:ext cx="6766560" cy="410400"/>
          </a:xfrm>
          <a:prstGeom prst="roundRect">
            <a:avLst>
              <a:gd name="adj" fmla="val 480095"/>
            </a:avLst>
          </a:prstGeom>
          <a:solidFill>
            <a:srgbClr val="d1efe4"/>
          </a:solidFill>
          <a:ln w="762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0"/>
          <p:cNvSpPr/>
          <p:nvPr/>
        </p:nvSpPr>
        <p:spPr>
          <a:xfrm>
            <a:off x="10544760" y="3178800"/>
            <a:ext cx="204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2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7401240" y="3649680"/>
            <a:ext cx="4344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Проектирование и реализация БД в PostgreSQL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7401240" y="3945960"/>
            <a:ext cx="6492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Разработка концептуальной (ER-диаграмма), логической и физической моделей, создание DDL-скриптов, хранимых процедур и триггеров для автоматизации.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360000" y="4658040"/>
            <a:ext cx="6766560" cy="410400"/>
          </a:xfrm>
          <a:prstGeom prst="roundRect">
            <a:avLst>
              <a:gd name="adj" fmla="val 480095"/>
            </a:avLst>
          </a:prstGeom>
          <a:solidFill>
            <a:srgbClr val="d1efe4"/>
          </a:solidFill>
          <a:ln w="762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4"/>
          <p:cNvSpPr/>
          <p:nvPr/>
        </p:nvSpPr>
        <p:spPr>
          <a:xfrm>
            <a:off x="3640680" y="4735080"/>
            <a:ext cx="204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3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497160" y="5205960"/>
            <a:ext cx="2580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Разработка веб-интерфейса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497160" y="5502240"/>
            <a:ext cx="6492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Создание интуитивно понятного веб-сайта с функциями регистрации, управления целями/привычками, фиксации прогресса и просмотра статистики.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7264080" y="4658040"/>
            <a:ext cx="6766560" cy="410400"/>
          </a:xfrm>
          <a:prstGeom prst="roundRect">
            <a:avLst>
              <a:gd name="adj" fmla="val 480095"/>
            </a:avLst>
          </a:prstGeom>
          <a:solidFill>
            <a:srgbClr val="d1efe4"/>
          </a:solidFill>
          <a:ln w="762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8"/>
          <p:cNvSpPr/>
          <p:nvPr/>
        </p:nvSpPr>
        <p:spPr>
          <a:xfrm>
            <a:off x="10544760" y="4735080"/>
            <a:ext cx="2048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4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7401240" y="5205960"/>
            <a:ext cx="36802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Тестирование и подготовка отчетности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7401240" y="5502240"/>
            <a:ext cx="6492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Проведение комплексного функционального и интеграционного тестирования, подготовка демонстрационных данных и типовых сценариев использования системы.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2600000" y="7560000"/>
            <a:ext cx="2030400" cy="66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31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5f9f2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34" name="Text 2"/>
          <p:cNvSpPr/>
          <p:nvPr/>
        </p:nvSpPr>
        <p:spPr>
          <a:xfrm>
            <a:off x="793800" y="1076400"/>
            <a:ext cx="69217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buNone/>
              <a:tabLst>
                <a:tab algn="l" pos="0"/>
              </a:tabLst>
            </a:pPr>
            <a:r>
              <a:rPr b="1" lang="en-US" sz="44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Актуальность Проекта</a:t>
            </a:r>
            <a:endParaRPr b="0" lang="ru-RU" sz="4450" spc="-1" strike="noStrike"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1134000" y="2380320"/>
            <a:ext cx="1270188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В условиях современного ритма жизни осознанное саморазвитие и формирование позитивных привычек являются ключевыми для личной эффективности. Несистемный подход к целеполаганию часто приводит к потере мотивации и низкой результативности.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793800" y="2125440"/>
            <a:ext cx="29880" cy="1598400"/>
          </a:xfrm>
          <a:prstGeom prst="rect">
            <a:avLst/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5"/>
          <p:cNvSpPr/>
          <p:nvPr/>
        </p:nvSpPr>
        <p:spPr>
          <a:xfrm>
            <a:off x="793800" y="3979440"/>
            <a:ext cx="4195800" cy="3400560"/>
          </a:xfrm>
          <a:prstGeom prst="roundRect">
            <a:avLst>
              <a:gd name="adj" fmla="val 46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6"/>
          <p:cNvSpPr/>
          <p:nvPr/>
        </p:nvSpPr>
        <p:spPr>
          <a:xfrm>
            <a:off x="763200" y="3979440"/>
            <a:ext cx="121320" cy="317304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7"/>
          <p:cNvSpPr/>
          <p:nvPr/>
        </p:nvSpPr>
        <p:spPr>
          <a:xfrm>
            <a:off x="1142640" y="4236840"/>
            <a:ext cx="35895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Систематизация Саморазвития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1142640" y="5081400"/>
            <a:ext cx="3589560" cy="18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Разработка инструментов для структурирования и автоматизации персонального роста и формирования устойчивых привычек.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5217120" y="3979440"/>
            <a:ext cx="4195800" cy="3400560"/>
          </a:xfrm>
          <a:prstGeom prst="roundRect">
            <a:avLst>
              <a:gd name="adj" fmla="val 46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10"/>
          <p:cNvSpPr/>
          <p:nvPr/>
        </p:nvSpPr>
        <p:spPr>
          <a:xfrm>
            <a:off x="5186520" y="3979440"/>
            <a:ext cx="121320" cy="317304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1"/>
          <p:cNvSpPr/>
          <p:nvPr/>
        </p:nvSpPr>
        <p:spPr>
          <a:xfrm>
            <a:off x="5565600" y="4236840"/>
            <a:ext cx="34254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Гибкая Конфигурация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5565600" y="4727160"/>
            <a:ext cx="3589560" cy="18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Предоставление пользователям возможностей для настройки целей, привычек и методов отслеживания прогресса.</a:t>
            </a:r>
            <a:endParaRPr b="0" lang="ru-RU" sz="1750" spc="-1" strike="noStrike"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9640080" y="3979440"/>
            <a:ext cx="4195800" cy="3400560"/>
          </a:xfrm>
          <a:prstGeom prst="roundRect">
            <a:avLst>
              <a:gd name="adj" fmla="val 4610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14"/>
          <p:cNvSpPr/>
          <p:nvPr/>
        </p:nvSpPr>
        <p:spPr>
          <a:xfrm>
            <a:off x="9609480" y="3979440"/>
            <a:ext cx="121320" cy="317304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15"/>
          <p:cNvSpPr/>
          <p:nvPr/>
        </p:nvSpPr>
        <p:spPr>
          <a:xfrm>
            <a:off x="9988920" y="4236840"/>
            <a:ext cx="35895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Целостность и Безопасность Данных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9988920" y="5081400"/>
            <a:ext cx="3589560" cy="18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b4a4a"/>
                </a:solidFill>
                <a:latin typeface="Geist"/>
                <a:ea typeface="Geist"/>
              </a:rPr>
              <a:t>Обеспечение надежной обработки информации, поддержание ее непротиворечивости и защита персональных данных.</a:t>
            </a:r>
            <a:endParaRPr b="0" lang="ru-RU" sz="1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1789920"/>
          </a:xfrm>
          <a:prstGeom prst="rect">
            <a:avLst/>
          </a:prstGeom>
          <a:ln w="0">
            <a:noFill/>
          </a:ln>
        </p:spPr>
      </p:pic>
      <p:sp>
        <p:nvSpPr>
          <p:cNvPr id="250" name="Text 1"/>
          <p:cNvSpPr/>
          <p:nvPr/>
        </p:nvSpPr>
        <p:spPr>
          <a:xfrm>
            <a:off x="477360" y="2187000"/>
            <a:ext cx="109976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buNone/>
              <a:tabLst>
                <a:tab algn="l" pos="0"/>
              </a:tabLst>
            </a:pPr>
            <a:r>
              <a:rPr b="1" lang="en-US" sz="26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Описание предметной области и функции решаемых задач</a:t>
            </a:r>
            <a:endParaRPr b="0" lang="ru-RU" sz="2650" spc="-1" strike="noStrike"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477360" y="2818080"/>
            <a:ext cx="136749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Предметная область данной работы — персонализированный менеджмент личного развития и продуктивности. Система направлена на автоматизацию процессов постановки целей, формирования привычек и отслеживания прогресса, помогая пользователю структурировать свои устремления и повышать осознанность действий.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477360" y="361260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4"/>
          <p:cNvSpPr/>
          <p:nvPr/>
        </p:nvSpPr>
        <p:spPr>
          <a:xfrm>
            <a:off x="477360" y="359712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5"/>
          <p:cNvSpPr/>
          <p:nvPr/>
        </p:nvSpPr>
        <p:spPr>
          <a:xfrm>
            <a:off x="2506680" y="340776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5" name="Image 2" descr="preencoded.png"/>
          <p:cNvPicPr/>
          <p:nvPr/>
        </p:nvPicPr>
        <p:blipFill>
          <a:blip r:embed="rId2"/>
          <a:stretch/>
        </p:blipFill>
        <p:spPr>
          <a:xfrm>
            <a:off x="2629440" y="353052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56" name="Text 6"/>
          <p:cNvSpPr/>
          <p:nvPr/>
        </p:nvSpPr>
        <p:spPr>
          <a:xfrm>
            <a:off x="628920" y="3953520"/>
            <a:ext cx="26632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Управление Пользователями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628920" y="4248360"/>
            <a:ext cx="41637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Регистрация и аутентификация, обеспечение конфиденциальности и изоляции личных данных.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58" name="Shape 8"/>
          <p:cNvSpPr/>
          <p:nvPr/>
        </p:nvSpPr>
        <p:spPr>
          <a:xfrm>
            <a:off x="5081400" y="361260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9"/>
          <p:cNvSpPr/>
          <p:nvPr/>
        </p:nvSpPr>
        <p:spPr>
          <a:xfrm>
            <a:off x="5081400" y="359712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10"/>
          <p:cNvSpPr/>
          <p:nvPr/>
        </p:nvSpPr>
        <p:spPr>
          <a:xfrm>
            <a:off x="7110360" y="340776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1" name="Image 3" descr="preencoded.png"/>
          <p:cNvPicPr/>
          <p:nvPr/>
        </p:nvPicPr>
        <p:blipFill>
          <a:blip r:embed="rId3"/>
          <a:stretch/>
        </p:blipFill>
        <p:spPr>
          <a:xfrm>
            <a:off x="7233120" y="353052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62" name="Text 11"/>
          <p:cNvSpPr/>
          <p:nvPr/>
        </p:nvSpPr>
        <p:spPr>
          <a:xfrm>
            <a:off x="5232960" y="3953520"/>
            <a:ext cx="18597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Управление Целями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5232960" y="4248360"/>
            <a:ext cx="41637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Создание, редактирование и архивация целей различных типов с установкой значений, сроков и приоритетов.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9685080" y="361260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14"/>
          <p:cNvSpPr/>
          <p:nvPr/>
        </p:nvSpPr>
        <p:spPr>
          <a:xfrm>
            <a:off x="9685080" y="359712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Shape 15"/>
          <p:cNvSpPr/>
          <p:nvPr/>
        </p:nvSpPr>
        <p:spPr>
          <a:xfrm>
            <a:off x="11714400" y="340776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7" name="Image 4" descr="preencoded.png"/>
          <p:cNvPicPr/>
          <p:nvPr/>
        </p:nvPicPr>
        <p:blipFill>
          <a:blip r:embed="rId4"/>
          <a:stretch/>
        </p:blipFill>
        <p:spPr>
          <a:xfrm>
            <a:off x="11837160" y="353052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68" name="Text 16"/>
          <p:cNvSpPr/>
          <p:nvPr/>
        </p:nvSpPr>
        <p:spPr>
          <a:xfrm>
            <a:off x="9837000" y="3953520"/>
            <a:ext cx="2349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Управление Привычками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9837000" y="4248360"/>
            <a:ext cx="41637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Создание повторяющихся активностей с заданной частотой выполнения и привязкой напоминаний.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477360" y="517716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19"/>
          <p:cNvSpPr/>
          <p:nvPr/>
        </p:nvSpPr>
        <p:spPr>
          <a:xfrm>
            <a:off x="477360" y="516204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Shape 20"/>
          <p:cNvSpPr/>
          <p:nvPr/>
        </p:nvSpPr>
        <p:spPr>
          <a:xfrm>
            <a:off x="2506680" y="497268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3" name="Image 5" descr="preencoded.png"/>
          <p:cNvPicPr/>
          <p:nvPr/>
        </p:nvPicPr>
        <p:blipFill>
          <a:blip r:embed="rId5"/>
          <a:stretch/>
        </p:blipFill>
        <p:spPr>
          <a:xfrm>
            <a:off x="2629440" y="509544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74" name="Text 21"/>
          <p:cNvSpPr/>
          <p:nvPr/>
        </p:nvSpPr>
        <p:spPr>
          <a:xfrm>
            <a:off x="628920" y="5518440"/>
            <a:ext cx="19108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Фиксация Прогресса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628920" y="5813280"/>
            <a:ext cx="41637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Ежедневный ввод данных о выполнении привычек и достижении промежуточных результатов по целям.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5081400" y="517716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24"/>
          <p:cNvSpPr/>
          <p:nvPr/>
        </p:nvSpPr>
        <p:spPr>
          <a:xfrm>
            <a:off x="5081400" y="516204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25"/>
          <p:cNvSpPr/>
          <p:nvPr/>
        </p:nvSpPr>
        <p:spPr>
          <a:xfrm>
            <a:off x="7110360" y="497268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9" name="Image 6" descr="preencoded.png"/>
          <p:cNvPicPr/>
          <p:nvPr/>
        </p:nvPicPr>
        <p:blipFill>
          <a:blip r:embed="rId6"/>
          <a:stretch/>
        </p:blipFill>
        <p:spPr>
          <a:xfrm>
            <a:off x="7233120" y="509544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80" name="Text 26"/>
          <p:cNvSpPr/>
          <p:nvPr/>
        </p:nvSpPr>
        <p:spPr>
          <a:xfrm>
            <a:off x="5232960" y="5518440"/>
            <a:ext cx="28173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Категоризация и Организация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5232960" y="5813280"/>
            <a:ext cx="41637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Группировка целей и привычек по пользовательским категориям для упрощения навигации и анализа.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82" name="Shape 28"/>
          <p:cNvSpPr/>
          <p:nvPr/>
        </p:nvSpPr>
        <p:spPr>
          <a:xfrm>
            <a:off x="9685080" y="5177160"/>
            <a:ext cx="4466880" cy="1223280"/>
          </a:xfrm>
          <a:prstGeom prst="roundRect">
            <a:avLst>
              <a:gd name="adj" fmla="val 5977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29"/>
          <p:cNvSpPr/>
          <p:nvPr/>
        </p:nvSpPr>
        <p:spPr>
          <a:xfrm>
            <a:off x="9685080" y="5162040"/>
            <a:ext cx="446688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30"/>
          <p:cNvSpPr/>
          <p:nvPr/>
        </p:nvSpPr>
        <p:spPr>
          <a:xfrm>
            <a:off x="11714400" y="497268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5" name="Image 7" descr="preencoded.png"/>
          <p:cNvPicPr/>
          <p:nvPr/>
        </p:nvPicPr>
        <p:blipFill>
          <a:blip r:embed="rId7"/>
          <a:stretch/>
        </p:blipFill>
        <p:spPr>
          <a:xfrm>
            <a:off x="11837160" y="509544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86" name="Text 31"/>
          <p:cNvSpPr/>
          <p:nvPr/>
        </p:nvSpPr>
        <p:spPr>
          <a:xfrm>
            <a:off x="9837000" y="5518440"/>
            <a:ext cx="17046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Фиксация веса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87" name="Text 32"/>
          <p:cNvSpPr/>
          <p:nvPr/>
        </p:nvSpPr>
        <p:spPr>
          <a:xfrm>
            <a:off x="9837000" y="5813280"/>
            <a:ext cx="41637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Специализированный трекинг параметров веса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88" name="Shape 33"/>
          <p:cNvSpPr/>
          <p:nvPr/>
        </p:nvSpPr>
        <p:spPr>
          <a:xfrm>
            <a:off x="477360" y="6742080"/>
            <a:ext cx="13674600" cy="1005120"/>
          </a:xfrm>
          <a:prstGeom prst="roundRect">
            <a:avLst>
              <a:gd name="adj" fmla="val 7274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34"/>
          <p:cNvSpPr/>
          <p:nvPr/>
        </p:nvSpPr>
        <p:spPr>
          <a:xfrm>
            <a:off x="477360" y="6726960"/>
            <a:ext cx="13674600" cy="60120"/>
          </a:xfrm>
          <a:prstGeom prst="roundRect">
            <a:avLst>
              <a:gd name="adj" fmla="val 201433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35"/>
          <p:cNvSpPr/>
          <p:nvPr/>
        </p:nvSpPr>
        <p:spPr>
          <a:xfrm>
            <a:off x="7110360" y="6537600"/>
            <a:ext cx="408600" cy="408600"/>
          </a:xfrm>
          <a:prstGeom prst="roundRect">
            <a:avLst>
              <a:gd name="adj" fmla="val 223451"/>
            </a:avLst>
          </a:prstGeom>
          <a:solidFill>
            <a:srgbClr val="0067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1" name="Image 8" descr="preencoded.png"/>
          <p:cNvPicPr/>
          <p:nvPr/>
        </p:nvPicPr>
        <p:blipFill>
          <a:blip r:embed="rId8"/>
          <a:stretch/>
        </p:blipFill>
        <p:spPr>
          <a:xfrm>
            <a:off x="7233120" y="6660360"/>
            <a:ext cx="163080" cy="163080"/>
          </a:xfrm>
          <a:prstGeom prst="rect">
            <a:avLst/>
          </a:prstGeom>
          <a:ln w="0">
            <a:noFill/>
          </a:ln>
        </p:spPr>
      </p:pic>
      <p:sp>
        <p:nvSpPr>
          <p:cNvPr id="292" name="Text 36"/>
          <p:cNvSpPr/>
          <p:nvPr/>
        </p:nvSpPr>
        <p:spPr>
          <a:xfrm>
            <a:off x="628920" y="7083000"/>
            <a:ext cx="19569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b4a4a"/>
                </a:solidFill>
                <a:latin typeface="Noto Serif SC Bold"/>
                <a:ea typeface="Noto Serif SC Bold"/>
              </a:rPr>
              <a:t>Анализ и Отчетность</a:t>
            </a:r>
            <a:endParaRPr b="0" lang="ru-RU" sz="1300" spc="-1" strike="noStrike">
              <a:latin typeface="Arial"/>
            </a:endParaRPr>
          </a:p>
        </p:txBody>
      </p:sp>
      <p:sp>
        <p:nvSpPr>
          <p:cNvPr id="293" name="Text 37"/>
          <p:cNvSpPr/>
          <p:nvPr/>
        </p:nvSpPr>
        <p:spPr>
          <a:xfrm>
            <a:off x="628920" y="7378200"/>
            <a:ext cx="133714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b4a4a"/>
                </a:solidFill>
                <a:latin typeface="Geist"/>
                <a:ea typeface="Geist"/>
              </a:rPr>
              <a:t>Автоматический расчет статистики, формирование отчетов и визуализация данных в дашбордах.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2600000" y="7560000"/>
            <a:ext cx="2030400" cy="66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793800" y="3760200"/>
            <a:ext cx="107298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buNone/>
              <a:tabLst>
                <a:tab algn="l" pos="0"/>
              </a:tabLst>
            </a:pPr>
            <a:r>
              <a:rPr b="1" lang="en-US" sz="4450" spc="-1" strike="noStrike">
                <a:solidFill>
                  <a:srgbClr val="006747"/>
                </a:solidFill>
                <a:latin typeface="Noto Serif SC Bold"/>
                <a:ea typeface="Noto Serif SC Bold"/>
              </a:rPr>
              <a:t>ТУТ НАДО ФОТКУ БУДЕТ СДЕЛАТЬ)</a:t>
            </a:r>
            <a:endParaRPr b="0" lang="ru-RU" sz="4450" spc="-1" strike="noStrike"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1"/>
          <a:stretch/>
        </p:blipFill>
        <p:spPr>
          <a:xfrm>
            <a:off x="0" y="25560"/>
            <a:ext cx="6189120" cy="8229240"/>
          </a:xfrm>
          <a:prstGeom prst="rect">
            <a:avLst/>
          </a:prstGeom>
          <a:ln w="0">
            <a:noFill/>
          </a:ln>
        </p:spPr>
      </p:pic>
      <p:sp>
        <p:nvSpPr>
          <p:cNvPr id="297" name=""/>
          <p:cNvSpPr/>
          <p:nvPr/>
        </p:nvSpPr>
        <p:spPr>
          <a:xfrm>
            <a:off x="12420000" y="7740000"/>
            <a:ext cx="22104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"/>
          <p:cNvSpPr txBox="1"/>
          <p:nvPr/>
        </p:nvSpPr>
        <p:spPr>
          <a:xfrm>
            <a:off x="8100000" y="360000"/>
            <a:ext cx="54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Физическая структура базы данных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2160000" y="0"/>
            <a:ext cx="3857400" cy="4533480"/>
          </a:xfrm>
          <a:prstGeom prst="rect">
            <a:avLst/>
          </a:prstGeom>
          <a:ln w="0">
            <a:noFill/>
          </a:ln>
        </p:spPr>
      </p:pic>
      <p:sp>
        <p:nvSpPr>
          <p:cNvPr id="300" name=""/>
          <p:cNvSpPr/>
          <p:nvPr/>
        </p:nvSpPr>
        <p:spPr>
          <a:xfrm>
            <a:off x="12600000" y="7740000"/>
            <a:ext cx="198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"/>
          <p:cNvSpPr txBox="1"/>
          <p:nvPr/>
        </p:nvSpPr>
        <p:spPr>
          <a:xfrm>
            <a:off x="7380000" y="360000"/>
            <a:ext cx="63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Веб интерфейс базы данных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840000" y="1260000"/>
            <a:ext cx="702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Реализован с помощью php и html разметки,безопасность данных осуществлена с помощью RLS системы postgresql,так же через пользователей данные о которых хранятся в отдельное таблице базы данных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2"/>
          <a:stretch/>
        </p:blipFill>
        <p:spPr>
          <a:xfrm rot="21595200">
            <a:off x="7730640" y="3424320"/>
            <a:ext cx="6488640" cy="4299840"/>
          </a:xfrm>
          <a:prstGeom prst="rect">
            <a:avLst/>
          </a:prstGeom>
          <a:ln w="0">
            <a:noFill/>
          </a:ln>
        </p:spPr>
      </p:pic>
      <p:sp>
        <p:nvSpPr>
          <p:cNvPr id="304" name=""/>
          <p:cNvSpPr txBox="1"/>
          <p:nvPr/>
        </p:nvSpPr>
        <p:spPr>
          <a:xfrm>
            <a:off x="1980000" y="5400000"/>
            <a:ext cx="558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На главной странице сайта показаны привычки которые надо выполнить,график веса,активные цели,привычки,текущий вес,а так же сверху вкладки на другие страницы сайта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309960" y="180000"/>
            <a:ext cx="7250040" cy="4860000"/>
          </a:xfrm>
          <a:prstGeom prst="rect">
            <a:avLst/>
          </a:prstGeom>
          <a:ln w="0">
            <a:noFill/>
          </a:ln>
        </p:spPr>
      </p:pic>
      <p:sp>
        <p:nvSpPr>
          <p:cNvPr id="306" name=""/>
          <p:cNvSpPr txBox="1"/>
          <p:nvPr/>
        </p:nvSpPr>
        <p:spPr>
          <a:xfrm>
            <a:off x="8100000" y="1080000"/>
            <a:ext cx="576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Вклакда цели дает доступ к созданию новых целей,так же их редакитрованию и более детальному просмотру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2"/>
          <a:stretch/>
        </p:blipFill>
        <p:spPr>
          <a:xfrm>
            <a:off x="6480000" y="3960000"/>
            <a:ext cx="7684200" cy="3738240"/>
          </a:xfrm>
          <a:prstGeom prst="rect">
            <a:avLst/>
          </a:prstGeom>
          <a:ln w="0">
            <a:noFill/>
          </a:ln>
        </p:spPr>
      </p:pic>
      <p:sp>
        <p:nvSpPr>
          <p:cNvPr id="308" name=""/>
          <p:cNvSpPr txBox="1"/>
          <p:nvPr/>
        </p:nvSpPr>
        <p:spPr>
          <a:xfrm>
            <a:off x="1440000" y="5441760"/>
            <a:ext cx="414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Детальный просмотр показывает прогресс цели ,статус приоритет,сроки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440000" y="7200000"/>
            <a:ext cx="41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Привычки сделаны по такому же шаблону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2780000" y="7698240"/>
            <a:ext cx="1800000" cy="401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52200" y="0"/>
            <a:ext cx="11467800" cy="5874840"/>
          </a:xfrm>
          <a:prstGeom prst="rect">
            <a:avLst/>
          </a:prstGeom>
          <a:ln w="0">
            <a:noFill/>
          </a:ln>
        </p:spPr>
      </p:pic>
      <p:sp>
        <p:nvSpPr>
          <p:cNvPr id="312" name=""/>
          <p:cNvSpPr txBox="1"/>
          <p:nvPr/>
        </p:nvSpPr>
        <p:spPr>
          <a:xfrm>
            <a:off x="9900000" y="1869840"/>
            <a:ext cx="432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Календарь показывает привычки,цели,вес по дням,показывает сделаны ли цели и выполнены ли задачи по привычкам на сегоднящний день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12600000" y="7560000"/>
            <a:ext cx="2030400" cy="66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 txBox="1"/>
          <p:nvPr/>
        </p:nvSpPr>
        <p:spPr>
          <a:xfrm>
            <a:off x="4680000" y="193680"/>
            <a:ext cx="84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Заключение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060000" y="1945800"/>
            <a:ext cx="684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В рамках выполнения курсового проекта была успешно разработана и реализована информационная система управления целями и привычками с использованием современных технологий и подходов к программированию.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2600000" y="7560000"/>
            <a:ext cx="2030400" cy="66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 txBox="1"/>
          <p:nvPr/>
        </p:nvSpPr>
        <p:spPr>
          <a:xfrm>
            <a:off x="3060000" y="2817720"/>
            <a:ext cx="1242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latin typeface="Arial"/>
              </a:rPr>
              <a:t>Спасибо за внимание!</a:t>
            </a:r>
            <a:endParaRPr b="0" lang="ru-RU" sz="1800" spc="-1" strike="noStrike">
              <a:latin typeface="Arial"/>
            </a:endParaRPr>
          </a:p>
          <a:p>
            <a:endParaRPr b="0" lang="ru-RU" sz="180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12600000" y="7560000"/>
            <a:ext cx="2030400" cy="669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2025-12-17T12:45:21Z</dcterms:created>
  <dc:creator/>
  <dc:description/>
  <dc:language>ru-RU</dc:language>
  <cp:lastModifiedBy/>
  <dcterms:modified xsi:type="dcterms:W3CDTF">2025-12-17T16:22:55Z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