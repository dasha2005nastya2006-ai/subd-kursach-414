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4630400" cy="8229600"/>
  <p:notesSz cx="8229600" cy="146304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79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ru-RU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ru-RU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19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ru-RU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19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ru-RU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ru-RU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9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ru-RU" sz="1400" b="0" strike="noStrike" spc="-1">
                <a:latin typeface="Times New Roman"/>
              </a:defRPr>
            </a:lvl1pPr>
          </a:lstStyle>
          <a:p>
            <a:r>
              <a:rPr lang="ru-RU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0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ru-RU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85676D98-0D21-40EF-A025-308BB24480A6}" type="slidenum">
              <a:rPr lang="ru-RU" sz="1400" b="0" strike="noStrike" spc="-1">
                <a:latin typeface="Times New Roman"/>
              </a:rPr>
              <a:t>‹#›</a:t>
            </a:fld>
            <a:endParaRPr lang="ru-RU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ru-RU" sz="2000" b="0" strike="noStrike" spc="-1"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751CA2B-FEC9-448F-A7A9-00CBE0048A55}" type="slidenum">
              <a:rPr lang="en-US" sz="1200" b="0" strike="noStrike" spc="-1">
                <a:latin typeface="Times New Roman"/>
              </a:rPr>
              <a:t>1</a:t>
            </a:fld>
            <a:endParaRPr lang="ru-RU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ru-RU" sz="2000" b="0" strike="noStrike" spc="-1"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5C3BDF8-1098-4376-8AD9-10229AB0980A}" type="slidenum">
              <a:rPr lang="en-US" sz="1200" b="0" strike="noStrike" spc="-1">
                <a:latin typeface="Times New Roman"/>
              </a:rPr>
              <a:t>2</a:t>
            </a:fld>
            <a:endParaRPr lang="ru-RU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ru-RU" sz="2000" b="0" strike="noStrike" spc="-1"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21CE2C-764A-4392-8470-4C04CF465B91}" type="slidenum">
              <a:rPr lang="en-US" sz="1200" b="0" strike="noStrike" spc="-1">
                <a:latin typeface="Times New Roman"/>
              </a:rPr>
              <a:t>3</a:t>
            </a:fld>
            <a:endParaRPr lang="ru-RU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ru-RU" sz="2000" b="0" strike="noStrike" spc="-1"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F6B14D7-E1C9-436E-A98F-CD35EC0E75F5}" type="slidenum">
              <a:rPr lang="en-US" sz="1200" b="0" strike="noStrike" spc="-1">
                <a:latin typeface="Times New Roman"/>
              </a:rPr>
              <a:t>4</a:t>
            </a:fld>
            <a:endParaRPr lang="ru-RU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ru-RU" sz="2000" b="0" strike="noStrike" spc="-1"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BC8C4E6-6213-412A-B172-6A5EAD449F46}" type="slidenum">
              <a:rPr lang="en-US" sz="1200" b="0" strike="noStrike" spc="-1">
                <a:latin typeface="Times New Roman"/>
              </a:rPr>
              <a:t>5</a:t>
            </a:fld>
            <a:endParaRPr lang="ru-RU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14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15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16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92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93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  <p:sp>
        <p:nvSpPr>
          <p:cNvPr id="194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gamma.app/?utm_source=made-with-gamma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hyperlink" Target="https://gamma.app/?utm_source=made-with-gamma" TargetMode="Externa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hyperlink" Target="https://gamma.app/?utm_source=made-with-gamma" TargetMode="Externa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hyperlink" Target="https://gamma.app/?utm_source=made-with-gamma" TargetMode="Externa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3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hyperlink" Target="https://gamma.app/?utm_source=made-with-gamma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>
            <a:hlinkClick r:id="rId14"/>
          </p:cNvPr>
          <p:cNvPicPr/>
          <p:nvPr/>
        </p:nvPicPr>
        <p:blipFill>
          <a:blip r:embed="rId15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ru-RU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Image 1" descr="preencoded.png">
            <a:hlinkClick r:id="rId14"/>
          </p:cNvPr>
          <p:cNvPicPr/>
          <p:nvPr/>
        </p:nvPicPr>
        <p:blipFill>
          <a:blip r:embed="rId15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ru-RU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 1" descr="preencoded.png">
            <a:hlinkClick r:id="rId14"/>
          </p:cNvPr>
          <p:cNvPicPr/>
          <p:nvPr/>
        </p:nvPicPr>
        <p:blipFill>
          <a:blip r:embed="rId15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ru-RU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Image 1" descr="preencoded.png">
            <a:hlinkClick r:id="rId14"/>
          </p:cNvPr>
          <p:cNvPicPr/>
          <p:nvPr/>
        </p:nvPicPr>
        <p:blipFill>
          <a:blip r:embed="rId15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ru-RU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Image 1" descr="preencoded.png">
            <a:hlinkClick r:id="rId14"/>
          </p:cNvPr>
          <p:cNvPicPr/>
          <p:nvPr/>
        </p:nvPicPr>
        <p:blipFill>
          <a:blip r:embed="rId15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ln w="0">
            <a:noFill/>
          </a:ln>
        </p:spPr>
      </p:pic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ru-RU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Image 0" descr="preencoded.png"/>
          <p:cNvPicPr/>
          <p:nvPr/>
        </p:nvPicPr>
        <p:blipFill>
          <a:blip r:embed="rId3"/>
          <a:stretch/>
        </p:blipFill>
        <p:spPr>
          <a:xfrm>
            <a:off x="8869680" y="0"/>
            <a:ext cx="5760000" cy="8228880"/>
          </a:xfrm>
          <a:prstGeom prst="rect">
            <a:avLst/>
          </a:prstGeom>
          <a:ln w="0">
            <a:noFill/>
          </a:ln>
        </p:spPr>
      </p:pic>
      <p:sp>
        <p:nvSpPr>
          <p:cNvPr id="202" name="Text 1"/>
          <p:cNvSpPr/>
          <p:nvPr/>
        </p:nvSpPr>
        <p:spPr>
          <a:xfrm>
            <a:off x="793800" y="1418760"/>
            <a:ext cx="7555680" cy="283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5550"/>
              </a:lnSpc>
              <a:buNone/>
              <a:tabLst>
                <a:tab pos="0" algn="l"/>
              </a:tabLst>
            </a:pPr>
            <a:r>
              <a:rPr lang="en-US" sz="4450" b="1" strike="noStrike" spc="-1">
                <a:solidFill>
                  <a:srgbClr val="006747"/>
                </a:solidFill>
                <a:latin typeface="Noto Serif SC Bold"/>
                <a:ea typeface="Noto Serif SC Bold"/>
              </a:rPr>
              <a:t>Разработка системы трекера целей и привычек на PHP/PostgreSQL</a:t>
            </a:r>
            <a:endParaRPr lang="ru-RU" sz="4450" b="0" strike="noStrike" spc="-1"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793800" y="4593960"/>
            <a:ext cx="7555680" cy="3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849"/>
              </a:lnSpc>
              <a:buNone/>
              <a:tabLst>
                <a:tab pos="0" algn="l"/>
              </a:tabLst>
            </a:pPr>
            <a:r>
              <a:rPr lang="en-US" sz="1750" b="0" strike="noStrike" spc="-1">
                <a:solidFill>
                  <a:srgbClr val="4B4A4A"/>
                </a:solidFill>
                <a:latin typeface="Geist"/>
                <a:ea typeface="Geist"/>
              </a:rPr>
              <a:t>Студент: Тебеньков Матвей</a:t>
            </a:r>
            <a:endParaRPr lang="ru-RU" sz="1750" b="0" strike="noStrike" spc="-1">
              <a:latin typeface="Arial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793800" y="5212080"/>
            <a:ext cx="7555680" cy="3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849"/>
              </a:lnSpc>
              <a:buNone/>
              <a:tabLst>
                <a:tab pos="0" algn="l"/>
              </a:tabLst>
            </a:pPr>
            <a:r>
              <a:rPr lang="en-US" sz="1750" b="0" strike="noStrike" spc="-1">
                <a:solidFill>
                  <a:srgbClr val="4B4A4A"/>
                </a:solidFill>
                <a:latin typeface="Geist"/>
                <a:ea typeface="Geist"/>
              </a:rPr>
              <a:t>Группа: 414</a:t>
            </a:r>
            <a:endParaRPr lang="ru-RU" sz="1750" b="0" strike="noStrike" spc="-1">
              <a:latin typeface="Arial"/>
            </a:endParaRPr>
          </a:p>
        </p:txBody>
      </p:sp>
      <p:sp>
        <p:nvSpPr>
          <p:cNvPr id="205" name="Text 4"/>
          <p:cNvSpPr/>
          <p:nvPr/>
        </p:nvSpPr>
        <p:spPr>
          <a:xfrm>
            <a:off x="720000" y="5937480"/>
            <a:ext cx="7379640" cy="3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849"/>
              </a:lnSpc>
              <a:buNone/>
              <a:tabLst>
                <a:tab pos="0" algn="l"/>
              </a:tabLst>
            </a:pPr>
            <a:r>
              <a:rPr lang="en-US" sz="1750" b="0" strike="noStrike" spc="-1">
                <a:solidFill>
                  <a:srgbClr val="4B4A4A"/>
                </a:solidFill>
                <a:latin typeface="Geist"/>
                <a:ea typeface="Geist"/>
              </a:rPr>
              <a:t>Преподаватель: Пунгин Илья Вячеславович</a:t>
            </a:r>
            <a:endParaRPr lang="ru-RU" sz="1750" b="0" strike="noStrike" spc="-1">
              <a:latin typeface="Arial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793800" y="6447960"/>
            <a:ext cx="7555680" cy="3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849"/>
              </a:lnSpc>
              <a:buNone/>
              <a:tabLst>
                <a:tab pos="0" algn="l"/>
              </a:tabLst>
            </a:pPr>
            <a:r>
              <a:rPr lang="en-US" sz="1750" b="0" strike="noStrike" spc="-1">
                <a:solidFill>
                  <a:srgbClr val="4B4A4A"/>
                </a:solidFill>
                <a:latin typeface="Geist"/>
                <a:ea typeface="Geist"/>
              </a:rPr>
              <a:t>Год: 2025</a:t>
            </a:r>
            <a:endParaRPr lang="ru-RU" sz="1750" b="0" strike="noStrike" spc="-1">
              <a:latin typeface="Arial"/>
            </a:endParaRPr>
          </a:p>
        </p:txBody>
      </p:sp>
      <p:sp>
        <p:nvSpPr>
          <p:cNvPr id="207" name="Прямоугольник 206"/>
          <p:cNvSpPr/>
          <p:nvPr/>
        </p:nvSpPr>
        <p:spPr>
          <a:xfrm>
            <a:off x="12600000" y="7560000"/>
            <a:ext cx="1980000" cy="6688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Image 0" descr="preencoded.png"/>
          <p:cNvPicPr/>
          <p:nvPr/>
        </p:nvPicPr>
        <p:blipFill>
          <a:blip r:embed="rId3"/>
          <a:stretch/>
        </p:blipFill>
        <p:spPr>
          <a:xfrm>
            <a:off x="0" y="0"/>
            <a:ext cx="14629680" cy="1797840"/>
          </a:xfrm>
          <a:prstGeom prst="rect">
            <a:avLst/>
          </a:prstGeom>
          <a:ln w="0">
            <a:noFill/>
          </a:ln>
        </p:spPr>
      </p:pic>
      <p:sp>
        <p:nvSpPr>
          <p:cNvPr id="209" name="Text 1"/>
          <p:cNvSpPr/>
          <p:nvPr/>
        </p:nvSpPr>
        <p:spPr>
          <a:xfrm>
            <a:off x="360000" y="968040"/>
            <a:ext cx="4065480" cy="42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351"/>
              </a:lnSpc>
              <a:buNone/>
              <a:tabLst>
                <a:tab pos="0" algn="l"/>
              </a:tabLst>
            </a:pPr>
            <a:r>
              <a:rPr lang="en-US" sz="2650" b="1" strike="noStrike" spc="-1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Цель и Задачи Работы</a:t>
            </a:r>
            <a:endParaRPr lang="ru-RU" sz="2650" b="0" strike="noStrike" spc="-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565560" y="1755720"/>
            <a:ext cx="13465080" cy="43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Целью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данной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курсовой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работы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является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разработка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базы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данных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для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трекинга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целей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привычек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которая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позволит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гибко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конфигурировать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цели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привычки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а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также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обеспечит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ввод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отслеживание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редактирование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результатов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Shape 3"/>
          <p:cNvSpPr/>
          <p:nvPr/>
        </p:nvSpPr>
        <p:spPr>
          <a:xfrm>
            <a:off x="360000" y="1601640"/>
            <a:ext cx="14400" cy="745920"/>
          </a:xfrm>
          <a:prstGeom prst="rect">
            <a:avLst/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2" name="Text 4"/>
          <p:cNvSpPr/>
          <p:nvPr/>
        </p:nvSpPr>
        <p:spPr>
          <a:xfrm>
            <a:off x="360000" y="2553840"/>
            <a:ext cx="2739600" cy="342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650"/>
              </a:lnSpc>
              <a:buNone/>
              <a:tabLst>
                <a:tab pos="0" algn="l"/>
              </a:tabLst>
            </a:pPr>
            <a:r>
              <a:rPr lang="en-US" sz="2150" b="1" strike="noStrike" spc="-1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Основные Задачи</a:t>
            </a:r>
            <a:endParaRPr lang="ru-RU" sz="2150" b="0" strike="noStrike" spc="-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Shape 5"/>
          <p:cNvSpPr/>
          <p:nvPr/>
        </p:nvSpPr>
        <p:spPr>
          <a:xfrm>
            <a:off x="360000" y="3101760"/>
            <a:ext cx="6766560" cy="410400"/>
          </a:xfrm>
          <a:prstGeom prst="roundRect">
            <a:avLst>
              <a:gd name="adj" fmla="val 480095"/>
            </a:avLst>
          </a:prstGeom>
          <a:solidFill>
            <a:srgbClr val="D1EFE4"/>
          </a:solidFill>
          <a:ln w="7620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4" name="Text 6"/>
          <p:cNvSpPr/>
          <p:nvPr/>
        </p:nvSpPr>
        <p:spPr>
          <a:xfrm>
            <a:off x="3640680" y="3178800"/>
            <a:ext cx="204840" cy="25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599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1</a:t>
            </a:r>
            <a:endParaRPr lang="ru-RU" sz="1600" b="0" strike="noStrike" spc="-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Text 7"/>
          <p:cNvSpPr/>
          <p:nvPr/>
        </p:nvSpPr>
        <p:spPr>
          <a:xfrm>
            <a:off x="264060" y="3669287"/>
            <a:ext cx="5671080" cy="213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Анализ</a:t>
            </a:r>
            <a:r>
              <a:rPr lang="en-US" sz="20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предметной</a:t>
            </a:r>
            <a:r>
              <a:rPr lang="en-US" sz="20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области</a:t>
            </a:r>
            <a:r>
              <a:rPr lang="en-US" sz="20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и </a:t>
            </a: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проектирование</a:t>
            </a:r>
            <a:r>
              <a:rPr lang="en-US" sz="20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архитектуры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Text 8"/>
          <p:cNvSpPr/>
          <p:nvPr/>
        </p:nvSpPr>
        <p:spPr>
          <a:xfrm>
            <a:off x="565560" y="4000680"/>
            <a:ext cx="6424200" cy="38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Исследование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процессов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целеполагания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формирования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привычек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изучение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методологий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(SMART, OKR)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для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определения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функциональных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требований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бизнес-процессов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системы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Shape 9"/>
          <p:cNvSpPr/>
          <p:nvPr/>
        </p:nvSpPr>
        <p:spPr>
          <a:xfrm>
            <a:off x="7264080" y="3101760"/>
            <a:ext cx="6766560" cy="410400"/>
          </a:xfrm>
          <a:prstGeom prst="roundRect">
            <a:avLst>
              <a:gd name="adj" fmla="val 480095"/>
            </a:avLst>
          </a:prstGeom>
          <a:solidFill>
            <a:srgbClr val="D1EFE4"/>
          </a:solidFill>
          <a:ln w="7620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8" name="Text 10"/>
          <p:cNvSpPr/>
          <p:nvPr/>
        </p:nvSpPr>
        <p:spPr>
          <a:xfrm>
            <a:off x="10544760" y="3178800"/>
            <a:ext cx="204840" cy="25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599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2</a:t>
            </a:r>
            <a:endParaRPr lang="ru-RU" sz="1600" b="0" strike="noStrike" spc="-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Text 11"/>
          <p:cNvSpPr/>
          <p:nvPr/>
        </p:nvSpPr>
        <p:spPr>
          <a:xfrm>
            <a:off x="7424218" y="3649680"/>
            <a:ext cx="4344840" cy="213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Проектирование</a:t>
            </a:r>
            <a:r>
              <a:rPr lang="en-US" sz="20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и </a:t>
            </a: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реализация</a:t>
            </a:r>
            <a:r>
              <a:rPr lang="en-US" sz="20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БД в PostgreSQL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Text 12"/>
          <p:cNvSpPr/>
          <p:nvPr/>
        </p:nvSpPr>
        <p:spPr>
          <a:xfrm>
            <a:off x="7401240" y="3945960"/>
            <a:ext cx="6492600" cy="43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Разработка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концептуальной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(ER-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диаграмма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),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логической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физической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моделей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хранимых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процедур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триггеров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для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автоматизации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1" name="Shape 13"/>
          <p:cNvSpPr/>
          <p:nvPr/>
        </p:nvSpPr>
        <p:spPr>
          <a:xfrm>
            <a:off x="266878" y="5209287"/>
            <a:ext cx="6766560" cy="410400"/>
          </a:xfrm>
          <a:prstGeom prst="roundRect">
            <a:avLst>
              <a:gd name="adj" fmla="val 480095"/>
            </a:avLst>
          </a:prstGeom>
          <a:solidFill>
            <a:srgbClr val="D1EFE4"/>
          </a:solidFill>
          <a:ln w="7620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22" name="Text 14"/>
          <p:cNvSpPr/>
          <p:nvPr/>
        </p:nvSpPr>
        <p:spPr>
          <a:xfrm>
            <a:off x="3640680" y="5266167"/>
            <a:ext cx="204840" cy="25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599"/>
              </a:lnSpc>
              <a:buNone/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3</a:t>
            </a:r>
            <a:endParaRPr lang="ru-RU" sz="16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3" name="Text 15"/>
          <p:cNvSpPr/>
          <p:nvPr/>
        </p:nvSpPr>
        <p:spPr>
          <a:xfrm>
            <a:off x="374400" y="5833260"/>
            <a:ext cx="2580840" cy="213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Разработка</a:t>
            </a:r>
            <a:r>
              <a:rPr lang="en-US" sz="20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веб-интерфейса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Text 16"/>
          <p:cNvSpPr/>
          <p:nvPr/>
        </p:nvSpPr>
        <p:spPr>
          <a:xfrm>
            <a:off x="394380" y="6255000"/>
            <a:ext cx="6492600" cy="43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Создание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интуитивно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понятного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веб-сайта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с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функциями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регистрации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управления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целями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/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привычками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фиксации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прогресса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просмотра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статистики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" name="Shape 17"/>
          <p:cNvSpPr/>
          <p:nvPr/>
        </p:nvSpPr>
        <p:spPr>
          <a:xfrm>
            <a:off x="7263900" y="5209287"/>
            <a:ext cx="6766560" cy="410400"/>
          </a:xfrm>
          <a:prstGeom prst="roundRect">
            <a:avLst>
              <a:gd name="adj" fmla="val 480095"/>
            </a:avLst>
          </a:prstGeom>
          <a:solidFill>
            <a:srgbClr val="D1EFE4"/>
          </a:solidFill>
          <a:ln w="7620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26" name="Text 18"/>
          <p:cNvSpPr/>
          <p:nvPr/>
        </p:nvSpPr>
        <p:spPr>
          <a:xfrm>
            <a:off x="10542389" y="5266167"/>
            <a:ext cx="204840" cy="25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599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4</a:t>
            </a:r>
            <a:endParaRPr lang="ru-RU" sz="1600" b="0" strike="noStrike" spc="-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7" name="Text 19"/>
          <p:cNvSpPr/>
          <p:nvPr/>
        </p:nvSpPr>
        <p:spPr>
          <a:xfrm>
            <a:off x="7401240" y="5940000"/>
            <a:ext cx="3680280" cy="213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Тестирование</a:t>
            </a:r>
            <a:r>
              <a:rPr lang="en-US" sz="20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и </a:t>
            </a: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подготовка</a:t>
            </a:r>
            <a:r>
              <a:rPr lang="en-US" sz="2000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sz="2000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отчетности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8" name="Text 20"/>
          <p:cNvSpPr/>
          <p:nvPr/>
        </p:nvSpPr>
        <p:spPr>
          <a:xfrm>
            <a:off x="7401240" y="6214320"/>
            <a:ext cx="6492600" cy="43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Проведение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комплексного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функционального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интеграционного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тестирования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подготовка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демонстрационных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данных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типовых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сценариев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использования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системы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9" name="Прямоугольник 228"/>
          <p:cNvSpPr/>
          <p:nvPr/>
        </p:nvSpPr>
        <p:spPr>
          <a:xfrm>
            <a:off x="12600000" y="7560000"/>
            <a:ext cx="2030400" cy="6696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Image 0" descr="preencoded.png"/>
          <p:cNvPicPr/>
          <p:nvPr/>
        </p:nvPicPr>
        <p:blipFill>
          <a:blip r:embed="rId3"/>
          <a:stretch/>
        </p:blipFill>
        <p:spPr>
          <a:xfrm>
            <a:off x="0" y="0"/>
            <a:ext cx="14629680" cy="8228880"/>
          </a:xfrm>
          <a:prstGeom prst="rect">
            <a:avLst/>
          </a:prstGeom>
          <a:ln w="0">
            <a:noFill/>
          </a:ln>
        </p:spPr>
      </p:pic>
      <p:sp>
        <p:nvSpPr>
          <p:cNvPr id="231" name="Shape 0"/>
          <p:cNvSpPr/>
          <p:nvPr/>
        </p:nvSpPr>
        <p:spPr>
          <a:xfrm>
            <a:off x="170100" y="0"/>
            <a:ext cx="14629680" cy="8228880"/>
          </a:xfrm>
          <a:prstGeom prst="rect">
            <a:avLst/>
          </a:prstGeom>
          <a:solidFill>
            <a:srgbClr val="E5F9F2">
              <a:alpha val="8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4" name="Text 2"/>
          <p:cNvSpPr/>
          <p:nvPr/>
        </p:nvSpPr>
        <p:spPr>
          <a:xfrm>
            <a:off x="793800" y="1076400"/>
            <a:ext cx="692172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5550"/>
              </a:lnSpc>
              <a:buNone/>
              <a:tabLst>
                <a:tab pos="0" algn="l"/>
              </a:tabLst>
            </a:pPr>
            <a:r>
              <a:rPr lang="en-US" sz="4450" b="1" strike="noStrike" spc="-1">
                <a:solidFill>
                  <a:srgbClr val="006747"/>
                </a:solidFill>
                <a:latin typeface="Noto Serif SC Bold"/>
                <a:ea typeface="Noto Serif SC Bold"/>
              </a:rPr>
              <a:t>Актуальность Проекта</a:t>
            </a:r>
            <a:endParaRPr lang="ru-RU" sz="4450" b="0" strike="noStrike" spc="-1">
              <a:latin typeface="Arial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1134000" y="2380320"/>
            <a:ext cx="12701880" cy="108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849"/>
              </a:lnSpc>
              <a:buNone/>
              <a:tabLst>
                <a:tab pos="0" algn="l"/>
              </a:tabLst>
            </a:pP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В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условиях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современного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ритма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жизни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осознанное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саморазвитие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и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формирование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позитивных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привычек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являются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ключевыми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для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личной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эффективности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.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Несистемный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подход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к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целеполаганию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часто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приводит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к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потере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мотивации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и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низкой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 </a:t>
            </a:r>
            <a:r>
              <a:rPr lang="en-US" sz="1750" b="0" strike="noStrike" spc="-1" dirty="0" err="1">
                <a:solidFill>
                  <a:srgbClr val="4B4A4A"/>
                </a:solidFill>
                <a:latin typeface="Geist"/>
                <a:ea typeface="Geist"/>
              </a:rPr>
              <a:t>результативности</a:t>
            </a:r>
            <a:r>
              <a:rPr lang="en-US" sz="1750" b="0" strike="noStrike" spc="-1" dirty="0">
                <a:solidFill>
                  <a:srgbClr val="4B4A4A"/>
                </a:solidFill>
                <a:latin typeface="Geist"/>
                <a:ea typeface="Geist"/>
              </a:rPr>
              <a:t>.</a:t>
            </a:r>
            <a:endParaRPr lang="ru-RU" sz="1750" b="0" strike="noStrike" spc="-1" dirty="0">
              <a:latin typeface="Arial"/>
            </a:endParaRPr>
          </a:p>
        </p:txBody>
      </p:sp>
      <p:sp>
        <p:nvSpPr>
          <p:cNvPr id="236" name="Shape 4"/>
          <p:cNvSpPr/>
          <p:nvPr/>
        </p:nvSpPr>
        <p:spPr>
          <a:xfrm>
            <a:off x="793800" y="2125440"/>
            <a:ext cx="29880" cy="1598400"/>
          </a:xfrm>
          <a:prstGeom prst="rect">
            <a:avLst/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7" name="Shape 5"/>
          <p:cNvSpPr/>
          <p:nvPr/>
        </p:nvSpPr>
        <p:spPr>
          <a:xfrm>
            <a:off x="793800" y="3979440"/>
            <a:ext cx="4195800" cy="3400560"/>
          </a:xfrm>
          <a:prstGeom prst="roundRect">
            <a:avLst>
              <a:gd name="adj" fmla="val 4610"/>
            </a:avLst>
          </a:prstGeom>
          <a:solidFill>
            <a:srgbClr val="E5F9F2">
              <a:alpha val="95000"/>
            </a:srgbClr>
          </a:solidFill>
          <a:ln w="30480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8" name="Shape 6"/>
          <p:cNvSpPr/>
          <p:nvPr/>
        </p:nvSpPr>
        <p:spPr>
          <a:xfrm>
            <a:off x="763200" y="3979440"/>
            <a:ext cx="121320" cy="3173040"/>
          </a:xfrm>
          <a:prstGeom prst="roundRect">
            <a:avLst>
              <a:gd name="adj" fmla="val 167442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9" name="Text 7"/>
          <p:cNvSpPr/>
          <p:nvPr/>
        </p:nvSpPr>
        <p:spPr>
          <a:xfrm>
            <a:off x="1142640" y="4236840"/>
            <a:ext cx="358956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750"/>
              </a:lnSpc>
              <a:buNone/>
              <a:tabLst>
                <a:tab pos="0" algn="l"/>
              </a:tabLst>
            </a:pPr>
            <a:r>
              <a:rPr lang="en-US" sz="2200" b="1" strike="noStrike" spc="-1">
                <a:solidFill>
                  <a:srgbClr val="4B4A4A"/>
                </a:solidFill>
                <a:latin typeface="Noto Serif SC Bold"/>
                <a:ea typeface="Noto Serif SC Bold"/>
              </a:rPr>
              <a:t>Систематизация Саморазвития</a:t>
            </a:r>
            <a:endParaRPr lang="ru-RU" sz="2200" b="0" strike="noStrike" spc="-1">
              <a:latin typeface="Arial"/>
            </a:endParaRPr>
          </a:p>
        </p:txBody>
      </p:sp>
      <p:sp>
        <p:nvSpPr>
          <p:cNvPr id="240" name="Text 8"/>
          <p:cNvSpPr/>
          <p:nvPr/>
        </p:nvSpPr>
        <p:spPr>
          <a:xfrm>
            <a:off x="1142640" y="5081400"/>
            <a:ext cx="3589560" cy="18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849"/>
              </a:lnSpc>
              <a:buNone/>
              <a:tabLst>
                <a:tab pos="0" algn="l"/>
              </a:tabLst>
            </a:pPr>
            <a:r>
              <a:rPr lang="en-US" sz="1750" b="0" strike="noStrike" spc="-1">
                <a:solidFill>
                  <a:srgbClr val="4B4A4A"/>
                </a:solidFill>
                <a:latin typeface="Geist"/>
                <a:ea typeface="Geist"/>
              </a:rPr>
              <a:t>Разработка инструментов для структурирования и автоматизации персонального роста и формирования устойчивых привычек.</a:t>
            </a:r>
            <a:endParaRPr lang="ru-RU" sz="1750" b="0" strike="noStrike" spc="-1">
              <a:latin typeface="Arial"/>
            </a:endParaRPr>
          </a:p>
        </p:txBody>
      </p:sp>
      <p:sp>
        <p:nvSpPr>
          <p:cNvPr id="241" name="Shape 9"/>
          <p:cNvSpPr/>
          <p:nvPr/>
        </p:nvSpPr>
        <p:spPr>
          <a:xfrm>
            <a:off x="5217120" y="3979440"/>
            <a:ext cx="4195800" cy="3400560"/>
          </a:xfrm>
          <a:prstGeom prst="roundRect">
            <a:avLst>
              <a:gd name="adj" fmla="val 4610"/>
            </a:avLst>
          </a:prstGeom>
          <a:solidFill>
            <a:srgbClr val="E5F9F2">
              <a:alpha val="95000"/>
            </a:srgbClr>
          </a:solidFill>
          <a:ln w="30480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42" name="Shape 10"/>
          <p:cNvSpPr/>
          <p:nvPr/>
        </p:nvSpPr>
        <p:spPr>
          <a:xfrm>
            <a:off x="5186520" y="3979440"/>
            <a:ext cx="121320" cy="3173040"/>
          </a:xfrm>
          <a:prstGeom prst="roundRect">
            <a:avLst>
              <a:gd name="adj" fmla="val 167442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43" name="Text 11"/>
          <p:cNvSpPr/>
          <p:nvPr/>
        </p:nvSpPr>
        <p:spPr>
          <a:xfrm>
            <a:off x="5565600" y="4236840"/>
            <a:ext cx="3425400" cy="35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750"/>
              </a:lnSpc>
              <a:buNone/>
              <a:tabLst>
                <a:tab pos="0" algn="l"/>
              </a:tabLst>
            </a:pPr>
            <a:r>
              <a:rPr lang="en-US" sz="2200" b="1" strike="noStrike" spc="-1">
                <a:solidFill>
                  <a:srgbClr val="4B4A4A"/>
                </a:solidFill>
                <a:latin typeface="Noto Serif SC Bold"/>
                <a:ea typeface="Noto Serif SC Bold"/>
              </a:rPr>
              <a:t>Гибкая Конфигурация</a:t>
            </a:r>
            <a:endParaRPr lang="ru-RU" sz="2200" b="0" strike="noStrike" spc="-1">
              <a:latin typeface="Arial"/>
            </a:endParaRPr>
          </a:p>
        </p:txBody>
      </p:sp>
      <p:sp>
        <p:nvSpPr>
          <p:cNvPr id="244" name="Text 12"/>
          <p:cNvSpPr/>
          <p:nvPr/>
        </p:nvSpPr>
        <p:spPr>
          <a:xfrm>
            <a:off x="5565600" y="4727160"/>
            <a:ext cx="3589560" cy="18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849"/>
              </a:lnSpc>
              <a:buNone/>
              <a:tabLst>
                <a:tab pos="0" algn="l"/>
              </a:tabLst>
            </a:pPr>
            <a:r>
              <a:rPr lang="en-US" sz="1750" b="0" strike="noStrike" spc="-1">
                <a:solidFill>
                  <a:srgbClr val="4B4A4A"/>
                </a:solidFill>
                <a:latin typeface="Geist"/>
                <a:ea typeface="Geist"/>
              </a:rPr>
              <a:t>Предоставление пользователям возможностей для настройки целей, привычек и методов отслеживания прогресса.</a:t>
            </a:r>
            <a:endParaRPr lang="ru-RU" sz="1750" b="0" strike="noStrike" spc="-1">
              <a:latin typeface="Arial"/>
            </a:endParaRPr>
          </a:p>
        </p:txBody>
      </p:sp>
      <p:sp>
        <p:nvSpPr>
          <p:cNvPr id="245" name="Shape 13"/>
          <p:cNvSpPr/>
          <p:nvPr/>
        </p:nvSpPr>
        <p:spPr>
          <a:xfrm>
            <a:off x="9640080" y="3979440"/>
            <a:ext cx="4195800" cy="3400560"/>
          </a:xfrm>
          <a:prstGeom prst="roundRect">
            <a:avLst>
              <a:gd name="adj" fmla="val 4610"/>
            </a:avLst>
          </a:prstGeom>
          <a:solidFill>
            <a:srgbClr val="E5F9F2">
              <a:alpha val="95000"/>
            </a:srgbClr>
          </a:solidFill>
          <a:ln w="30480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46" name="Shape 14"/>
          <p:cNvSpPr/>
          <p:nvPr/>
        </p:nvSpPr>
        <p:spPr>
          <a:xfrm>
            <a:off x="9609480" y="3979440"/>
            <a:ext cx="121320" cy="3173040"/>
          </a:xfrm>
          <a:prstGeom prst="roundRect">
            <a:avLst>
              <a:gd name="adj" fmla="val 167442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47" name="Text 15"/>
          <p:cNvSpPr/>
          <p:nvPr/>
        </p:nvSpPr>
        <p:spPr>
          <a:xfrm>
            <a:off x="9988920" y="4236840"/>
            <a:ext cx="3589560" cy="70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750"/>
              </a:lnSpc>
              <a:buNone/>
              <a:tabLst>
                <a:tab pos="0" algn="l"/>
              </a:tabLst>
            </a:pPr>
            <a:r>
              <a:rPr lang="en-US" sz="2200" b="1" strike="noStrike" spc="-1">
                <a:solidFill>
                  <a:srgbClr val="4B4A4A"/>
                </a:solidFill>
                <a:latin typeface="Noto Serif SC Bold"/>
                <a:ea typeface="Noto Serif SC Bold"/>
              </a:rPr>
              <a:t>Целостность и Безопасность Данных</a:t>
            </a:r>
            <a:endParaRPr lang="ru-RU" sz="2200" b="0" strike="noStrike" spc="-1">
              <a:latin typeface="Arial"/>
            </a:endParaRPr>
          </a:p>
        </p:txBody>
      </p:sp>
      <p:sp>
        <p:nvSpPr>
          <p:cNvPr id="248" name="Text 16"/>
          <p:cNvSpPr/>
          <p:nvPr/>
        </p:nvSpPr>
        <p:spPr>
          <a:xfrm>
            <a:off x="9988920" y="5081400"/>
            <a:ext cx="3589560" cy="181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849"/>
              </a:lnSpc>
              <a:buNone/>
              <a:tabLst>
                <a:tab pos="0" algn="l"/>
              </a:tabLst>
            </a:pPr>
            <a:r>
              <a:rPr lang="en-US" sz="1750" b="0" strike="noStrike" spc="-1">
                <a:solidFill>
                  <a:srgbClr val="4B4A4A"/>
                </a:solidFill>
                <a:latin typeface="Geist"/>
                <a:ea typeface="Geist"/>
              </a:rPr>
              <a:t>Обеспечение надежной обработки информации, поддержание ее непротиворечивости и защита персональных данных.</a:t>
            </a:r>
            <a:endParaRPr lang="ru-RU" sz="1750" b="0" strike="noStrike" spc="-1">
              <a:latin typeface="Arial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552A344-BBD3-4B33-8B87-8D091EB34D5E}"/>
              </a:ext>
            </a:extLst>
          </p:cNvPr>
          <p:cNvSpPr/>
          <p:nvPr/>
        </p:nvSpPr>
        <p:spPr>
          <a:xfrm>
            <a:off x="12600000" y="7560000"/>
            <a:ext cx="1980000" cy="6688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Image 0" descr="preencoded.png"/>
          <p:cNvPicPr/>
          <p:nvPr/>
        </p:nvPicPr>
        <p:blipFill>
          <a:blip r:embed="rId3"/>
          <a:stretch/>
        </p:blipFill>
        <p:spPr>
          <a:xfrm>
            <a:off x="358325" y="255240"/>
            <a:ext cx="14629680" cy="1789920"/>
          </a:xfrm>
          <a:prstGeom prst="rect">
            <a:avLst/>
          </a:prstGeom>
          <a:ln w="0">
            <a:noFill/>
          </a:ln>
        </p:spPr>
      </p:pic>
      <p:sp>
        <p:nvSpPr>
          <p:cNvPr id="250" name="Text 1"/>
          <p:cNvSpPr/>
          <p:nvPr/>
        </p:nvSpPr>
        <p:spPr>
          <a:xfrm>
            <a:off x="1734300" y="347580"/>
            <a:ext cx="10997640" cy="42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>
              <a:lnSpc>
                <a:spcPts val="3351"/>
              </a:lnSpc>
              <a:buNone/>
              <a:tabLst>
                <a:tab pos="0" algn="l"/>
              </a:tabLst>
            </a:pPr>
            <a:r>
              <a:rPr lang="en-US" sz="3600" b="1" strike="noStrike" spc="-1" dirty="0" err="1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Описание</a:t>
            </a:r>
            <a:r>
              <a:rPr lang="en-US" sz="3600" b="1" strike="noStrike" spc="-1" dirty="0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sz="3600" b="1" strike="noStrike" spc="-1" dirty="0" err="1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предметной</a:t>
            </a:r>
            <a:r>
              <a:rPr lang="en-US" sz="3600" b="1" strike="noStrike" spc="-1" dirty="0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sz="3600" b="1" strike="noStrike" spc="-1" dirty="0" err="1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области</a:t>
            </a:r>
            <a:r>
              <a:rPr lang="en-US" sz="3600" b="1" strike="noStrike" spc="-1" dirty="0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и </a:t>
            </a:r>
            <a:r>
              <a:rPr lang="en-US" sz="3600" b="1" strike="noStrike" spc="-1" dirty="0" err="1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функции</a:t>
            </a:r>
            <a:r>
              <a:rPr lang="en-US" sz="3600" b="1" strike="noStrike" spc="-1" dirty="0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sz="3600" b="1" strike="noStrike" spc="-1" dirty="0" err="1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решаемых</a:t>
            </a:r>
            <a:r>
              <a:rPr lang="en-US" sz="3600" b="1" strike="noStrike" spc="-1" dirty="0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sz="3600" b="1" strike="noStrike" spc="-1" dirty="0" err="1">
                <a:solidFill>
                  <a:srgbClr val="006747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задач</a:t>
            </a:r>
            <a:endParaRPr lang="ru-RU" sz="36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1" name="Text 2"/>
          <p:cNvSpPr/>
          <p:nvPr/>
        </p:nvSpPr>
        <p:spPr>
          <a:xfrm>
            <a:off x="558720" y="1236600"/>
            <a:ext cx="13674960" cy="43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Предметная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область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данной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работы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—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персонализированный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менеджмент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личного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развития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продуктивности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Система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направлена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на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автоматизацию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процессов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постановки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целей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формирования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привычек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отслеживания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прогресса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помогая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пользователю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структурировать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свои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устремления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повышать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осознанность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действий</a:t>
            </a:r>
            <a:r>
              <a:rPr lang="en-US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2" name="Shape 3"/>
          <p:cNvSpPr/>
          <p:nvPr/>
        </p:nvSpPr>
        <p:spPr>
          <a:xfrm>
            <a:off x="396000" y="2133565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ru-RU" dirty="0"/>
          </a:p>
        </p:txBody>
      </p:sp>
      <p:sp>
        <p:nvSpPr>
          <p:cNvPr id="253" name="Shape 4"/>
          <p:cNvSpPr/>
          <p:nvPr/>
        </p:nvSpPr>
        <p:spPr>
          <a:xfrm>
            <a:off x="477360" y="2318350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54" name="Shape 5"/>
          <p:cNvSpPr/>
          <p:nvPr/>
        </p:nvSpPr>
        <p:spPr>
          <a:xfrm>
            <a:off x="2506500" y="2160677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56" name="Text 6"/>
          <p:cNvSpPr/>
          <p:nvPr/>
        </p:nvSpPr>
        <p:spPr>
          <a:xfrm>
            <a:off x="628920" y="2674750"/>
            <a:ext cx="2663280" cy="21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Управление</a:t>
            </a:r>
            <a:r>
              <a:rPr lang="en-US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Пользователями</a:t>
            </a:r>
            <a:endParaRPr lang="ru-RU" b="1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Text 7"/>
          <p:cNvSpPr/>
          <p:nvPr/>
        </p:nvSpPr>
        <p:spPr>
          <a:xfrm>
            <a:off x="628920" y="2969590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Регистрация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аутентификация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обеспечение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конфиденциальности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изоляции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личных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данных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8" name="Shape 8"/>
          <p:cNvSpPr/>
          <p:nvPr/>
        </p:nvSpPr>
        <p:spPr>
          <a:xfrm>
            <a:off x="4944240" y="2712960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59" name="Shape 9"/>
          <p:cNvSpPr/>
          <p:nvPr/>
        </p:nvSpPr>
        <p:spPr>
          <a:xfrm>
            <a:off x="5081400" y="2318350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60" name="Shape 10"/>
          <p:cNvSpPr/>
          <p:nvPr/>
        </p:nvSpPr>
        <p:spPr>
          <a:xfrm>
            <a:off x="7054740" y="2160677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62" name="Text 11"/>
          <p:cNvSpPr/>
          <p:nvPr/>
        </p:nvSpPr>
        <p:spPr>
          <a:xfrm>
            <a:off x="6370946" y="2661257"/>
            <a:ext cx="1859760" cy="21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ru-RU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целями</a:t>
            </a:r>
            <a:endParaRPr lang="ru-RU" b="1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3" name="Text 12"/>
          <p:cNvSpPr/>
          <p:nvPr/>
        </p:nvSpPr>
        <p:spPr>
          <a:xfrm>
            <a:off x="5177160" y="3036780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Создание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редактирование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архивация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целей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различных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типов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с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установкой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значений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сроков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приоритетов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4" name="Shape 13"/>
          <p:cNvSpPr/>
          <p:nvPr/>
        </p:nvSpPr>
        <p:spPr>
          <a:xfrm>
            <a:off x="9655200" y="2429640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65" name="Shape 14"/>
          <p:cNvSpPr/>
          <p:nvPr/>
        </p:nvSpPr>
        <p:spPr>
          <a:xfrm>
            <a:off x="9685080" y="2318350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66" name="Shape 15"/>
          <p:cNvSpPr/>
          <p:nvPr/>
        </p:nvSpPr>
        <p:spPr>
          <a:xfrm>
            <a:off x="11714400" y="2210537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68" name="Text 16"/>
          <p:cNvSpPr/>
          <p:nvPr/>
        </p:nvSpPr>
        <p:spPr>
          <a:xfrm>
            <a:off x="10744020" y="2711880"/>
            <a:ext cx="2349000" cy="21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Управление</a:t>
            </a:r>
            <a:r>
              <a:rPr lang="en-US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Привычками</a:t>
            </a:r>
            <a:endParaRPr lang="ru-RU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9" name="Text 17"/>
          <p:cNvSpPr/>
          <p:nvPr/>
        </p:nvSpPr>
        <p:spPr>
          <a:xfrm>
            <a:off x="9988200" y="2972193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Создание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повторяющихся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активностей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с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заданной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частотой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выполнения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привязкой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напоминаний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0" name="Shape 18"/>
          <p:cNvSpPr/>
          <p:nvPr/>
        </p:nvSpPr>
        <p:spPr>
          <a:xfrm>
            <a:off x="502454" y="4464007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71" name="Shape 19"/>
          <p:cNvSpPr/>
          <p:nvPr/>
        </p:nvSpPr>
        <p:spPr>
          <a:xfrm>
            <a:off x="526320" y="3899837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72" name="Shape 20"/>
          <p:cNvSpPr/>
          <p:nvPr/>
        </p:nvSpPr>
        <p:spPr>
          <a:xfrm>
            <a:off x="2506500" y="375732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74" name="Text 21"/>
          <p:cNvSpPr/>
          <p:nvPr/>
        </p:nvSpPr>
        <p:spPr>
          <a:xfrm>
            <a:off x="1755360" y="4398455"/>
            <a:ext cx="1910880" cy="21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Фиксация</a:t>
            </a:r>
            <a:r>
              <a:rPr lang="en-US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</a:t>
            </a: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Прогресса</a:t>
            </a:r>
            <a:endParaRPr lang="ru-RU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5" name="Text 22"/>
          <p:cNvSpPr/>
          <p:nvPr/>
        </p:nvSpPr>
        <p:spPr>
          <a:xfrm>
            <a:off x="942374" y="5087334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Ежедневный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ввод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данных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о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выполнении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привычек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достижении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промежуточных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результатов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целям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6" name="Shape 23"/>
          <p:cNvSpPr/>
          <p:nvPr/>
        </p:nvSpPr>
        <p:spPr>
          <a:xfrm>
            <a:off x="5081400" y="5177160"/>
            <a:ext cx="4466880" cy="1223280"/>
          </a:xfrm>
          <a:prstGeom prst="roundRect">
            <a:avLst>
              <a:gd name="adj" fmla="val 5977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77" name="Shape 24"/>
          <p:cNvSpPr/>
          <p:nvPr/>
        </p:nvSpPr>
        <p:spPr>
          <a:xfrm>
            <a:off x="5066280" y="3899837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78" name="Shape 25"/>
          <p:cNvSpPr/>
          <p:nvPr/>
        </p:nvSpPr>
        <p:spPr>
          <a:xfrm>
            <a:off x="6981554" y="375732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0" name="Text 26"/>
          <p:cNvSpPr/>
          <p:nvPr/>
        </p:nvSpPr>
        <p:spPr>
          <a:xfrm>
            <a:off x="5777174" y="4446180"/>
            <a:ext cx="2817360" cy="21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Категоризация</a:t>
            </a:r>
            <a:r>
              <a:rPr lang="en-US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и </a:t>
            </a: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Организация</a:t>
            </a:r>
            <a:endParaRPr lang="ru-RU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1" name="Text 27"/>
          <p:cNvSpPr/>
          <p:nvPr/>
        </p:nvSpPr>
        <p:spPr>
          <a:xfrm>
            <a:off x="5468580" y="5085695"/>
            <a:ext cx="4163760" cy="43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Группировка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целей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привычек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пользовательским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категориям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для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упрощения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навигации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анализа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3" name="Shape 29"/>
          <p:cNvSpPr/>
          <p:nvPr/>
        </p:nvSpPr>
        <p:spPr>
          <a:xfrm>
            <a:off x="9632340" y="3899837"/>
            <a:ext cx="446688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4" name="Shape 30"/>
          <p:cNvSpPr/>
          <p:nvPr/>
        </p:nvSpPr>
        <p:spPr>
          <a:xfrm>
            <a:off x="11661480" y="3758983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8" name="Shape 33"/>
          <p:cNvSpPr/>
          <p:nvPr/>
        </p:nvSpPr>
        <p:spPr>
          <a:xfrm>
            <a:off x="477360" y="6742080"/>
            <a:ext cx="13674600" cy="1005120"/>
          </a:xfrm>
          <a:prstGeom prst="roundRect">
            <a:avLst>
              <a:gd name="adj" fmla="val 7274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9" name="Shape 34"/>
          <p:cNvSpPr/>
          <p:nvPr/>
        </p:nvSpPr>
        <p:spPr>
          <a:xfrm>
            <a:off x="477360" y="6726960"/>
            <a:ext cx="13674600" cy="60120"/>
          </a:xfrm>
          <a:prstGeom prst="roundRect">
            <a:avLst>
              <a:gd name="adj" fmla="val 201433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90" name="Shape 35"/>
          <p:cNvSpPr/>
          <p:nvPr/>
        </p:nvSpPr>
        <p:spPr>
          <a:xfrm>
            <a:off x="7110360" y="6537600"/>
            <a:ext cx="408600" cy="408600"/>
          </a:xfrm>
          <a:prstGeom prst="roundRect">
            <a:avLst>
              <a:gd name="adj" fmla="val 223451"/>
            </a:avLst>
          </a:prstGeom>
          <a:solidFill>
            <a:srgbClr val="0067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92" name="Text 36"/>
          <p:cNvSpPr/>
          <p:nvPr/>
        </p:nvSpPr>
        <p:spPr>
          <a:xfrm>
            <a:off x="10940040" y="4480624"/>
            <a:ext cx="1956960" cy="21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buNone/>
              <a:tabLst>
                <a:tab pos="0" algn="l"/>
              </a:tabLst>
            </a:pP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Анализ</a:t>
            </a:r>
            <a:r>
              <a:rPr lang="en-US" b="1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 и </a:t>
            </a:r>
            <a:r>
              <a:rPr lang="en-US" b="1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Noto Serif SC Bold"/>
                <a:cs typeface="Times New Roman" panose="02020603050405020304" pitchFamily="18" charset="0"/>
              </a:rPr>
              <a:t>Отчетность</a:t>
            </a:r>
            <a:endParaRPr lang="ru-RU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3" name="Text 37"/>
          <p:cNvSpPr/>
          <p:nvPr/>
        </p:nvSpPr>
        <p:spPr>
          <a:xfrm>
            <a:off x="10452538" y="4886990"/>
            <a:ext cx="3381461" cy="13575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Автоматический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расчет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статистики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,</a:t>
            </a:r>
            <a:endParaRPr lang="ru-RU" sz="2000" b="0" strike="noStrike" spc="-1" dirty="0">
              <a:solidFill>
                <a:srgbClr val="4B4A4A"/>
              </a:solidFill>
              <a:latin typeface="Times New Roman" panose="02020603050405020304" pitchFamily="18" charset="0"/>
              <a:ea typeface="Geist"/>
              <a:cs typeface="Times New Roman" panose="02020603050405020304" pitchFamily="18" charset="0"/>
            </a:endParaRPr>
          </a:p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формирование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endParaRPr lang="ru-RU" sz="2000" b="0" strike="noStrike" spc="-1" dirty="0">
              <a:solidFill>
                <a:srgbClr val="4B4A4A"/>
              </a:solidFill>
              <a:latin typeface="Times New Roman" panose="02020603050405020304" pitchFamily="18" charset="0"/>
              <a:ea typeface="Geist"/>
              <a:cs typeface="Times New Roman" panose="02020603050405020304" pitchFamily="18" charset="0"/>
            </a:endParaRPr>
          </a:p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отчетов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и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визуализация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данных</a:t>
            </a:r>
            <a:endParaRPr lang="ru-RU" sz="2000" b="0" strike="noStrike" spc="-1" dirty="0">
              <a:solidFill>
                <a:srgbClr val="4B4A4A"/>
              </a:solidFill>
              <a:latin typeface="Times New Roman" panose="02020603050405020304" pitchFamily="18" charset="0"/>
              <a:ea typeface="Geist"/>
              <a:cs typeface="Times New Roman" panose="02020603050405020304" pitchFamily="18" charset="0"/>
            </a:endParaRPr>
          </a:p>
          <a:p>
            <a:pPr>
              <a:lnSpc>
                <a:spcPts val="1701"/>
              </a:lnSpc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 в </a:t>
            </a:r>
            <a:r>
              <a:rPr lang="en-US" sz="2000" b="0" strike="noStrike" spc="-1" dirty="0" err="1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дашбордах</a:t>
            </a:r>
            <a:r>
              <a:rPr lang="en-US" sz="2000" b="0" strike="noStrike" spc="-1" dirty="0">
                <a:solidFill>
                  <a:srgbClr val="4B4A4A"/>
                </a:solidFill>
                <a:latin typeface="Times New Roman" panose="02020603050405020304" pitchFamily="18" charset="0"/>
                <a:ea typeface="Geist"/>
                <a:cs typeface="Times New Roman" panose="02020603050405020304" pitchFamily="18" charset="0"/>
              </a:rPr>
              <a:t>.</a:t>
            </a:r>
            <a:endParaRPr lang="ru-RU" sz="2000" b="0" strike="noStrike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12600000" y="7560000"/>
            <a:ext cx="2030400" cy="6696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Рисунок 295"/>
          <p:cNvPicPr/>
          <p:nvPr/>
        </p:nvPicPr>
        <p:blipFill>
          <a:blip r:embed="rId3"/>
          <a:stretch/>
        </p:blipFill>
        <p:spPr>
          <a:xfrm>
            <a:off x="296317" y="0"/>
            <a:ext cx="7018883" cy="8229600"/>
          </a:xfrm>
          <a:prstGeom prst="rect">
            <a:avLst/>
          </a:prstGeom>
          <a:ln w="0">
            <a:noFill/>
          </a:ln>
        </p:spPr>
      </p:pic>
      <p:sp>
        <p:nvSpPr>
          <p:cNvPr id="297" name="Прямоугольник 296"/>
          <p:cNvSpPr/>
          <p:nvPr/>
        </p:nvSpPr>
        <p:spPr>
          <a:xfrm>
            <a:off x="12420000" y="7740000"/>
            <a:ext cx="22104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98" name="TextBox 297"/>
          <p:cNvSpPr txBox="1"/>
          <p:nvPr/>
        </p:nvSpPr>
        <p:spPr>
          <a:xfrm>
            <a:off x="8100000" y="360000"/>
            <a:ext cx="5316455" cy="73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7200" b="0" strike="noStrike" spc="-1" dirty="0">
                <a:latin typeface="Arial"/>
              </a:rPr>
              <a:t>Физическая структура базы данных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Рисунок 298"/>
          <p:cNvPicPr/>
          <p:nvPr/>
        </p:nvPicPr>
        <p:blipFill>
          <a:blip r:embed="rId2"/>
          <a:stretch/>
        </p:blipFill>
        <p:spPr>
          <a:xfrm>
            <a:off x="1491269" y="1260000"/>
            <a:ext cx="3857400" cy="4533480"/>
          </a:xfrm>
          <a:prstGeom prst="rect">
            <a:avLst/>
          </a:prstGeom>
          <a:ln w="0">
            <a:noFill/>
          </a:ln>
        </p:spPr>
      </p:pic>
      <p:sp>
        <p:nvSpPr>
          <p:cNvPr id="300" name="Прямоугольник 299"/>
          <p:cNvSpPr/>
          <p:nvPr/>
        </p:nvSpPr>
        <p:spPr>
          <a:xfrm>
            <a:off x="12600000" y="7740000"/>
            <a:ext cx="19800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01" name="TextBox 300"/>
          <p:cNvSpPr txBox="1"/>
          <p:nvPr/>
        </p:nvSpPr>
        <p:spPr>
          <a:xfrm>
            <a:off x="4577641" y="154592"/>
            <a:ext cx="6300000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3200" b="1" strike="noStrike" spc="-1" dirty="0">
                <a:latin typeface="Arial"/>
              </a:rPr>
              <a:t>Веб интерфейс базы данных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840000" y="1260000"/>
            <a:ext cx="7020000" cy="1114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2400" b="0" strike="noStrike" spc="-1" dirty="0">
                <a:latin typeface="Arial"/>
              </a:rPr>
              <a:t>Реализован с помощью </a:t>
            </a:r>
            <a:r>
              <a:rPr lang="ru-RU" sz="2400" b="0" strike="noStrike" spc="-1" dirty="0" err="1">
                <a:latin typeface="Arial"/>
              </a:rPr>
              <a:t>php</a:t>
            </a:r>
            <a:r>
              <a:rPr lang="ru-RU" sz="2400" b="0" strike="noStrike" spc="-1" dirty="0">
                <a:latin typeface="Arial"/>
              </a:rPr>
              <a:t> и </a:t>
            </a:r>
            <a:r>
              <a:rPr lang="ru-RU" sz="2400" b="0" strike="noStrike" spc="-1" dirty="0" err="1">
                <a:latin typeface="Arial"/>
              </a:rPr>
              <a:t>html</a:t>
            </a:r>
            <a:r>
              <a:rPr lang="ru-RU" sz="2400" b="0" strike="noStrike" spc="-1" dirty="0">
                <a:latin typeface="Arial"/>
              </a:rPr>
              <a:t> </a:t>
            </a:r>
            <a:r>
              <a:rPr lang="ru-RU" sz="2400" b="0" strike="noStrike" spc="-1" dirty="0" err="1">
                <a:latin typeface="Arial"/>
              </a:rPr>
              <a:t>разметки,безопасность</a:t>
            </a:r>
            <a:r>
              <a:rPr lang="ru-RU" sz="2400" b="0" strike="noStrike" spc="-1" dirty="0">
                <a:latin typeface="Arial"/>
              </a:rPr>
              <a:t> данных осуществлена с помощью RLS системы </a:t>
            </a:r>
            <a:r>
              <a:rPr lang="ru-RU" sz="2400" b="0" strike="noStrike" spc="-1" dirty="0" err="1">
                <a:latin typeface="Arial"/>
              </a:rPr>
              <a:t>postgresql,так</a:t>
            </a:r>
            <a:r>
              <a:rPr lang="ru-RU" sz="2400" b="0" strike="noStrike" spc="-1" dirty="0">
                <a:latin typeface="Arial"/>
              </a:rPr>
              <a:t> же через пользователей данные о которых хранятся в отдельное таблице базы данных</a:t>
            </a:r>
          </a:p>
        </p:txBody>
      </p:sp>
      <p:pic>
        <p:nvPicPr>
          <p:cNvPr id="303" name="Рисунок 302"/>
          <p:cNvPicPr/>
          <p:nvPr/>
        </p:nvPicPr>
        <p:blipFill>
          <a:blip r:embed="rId3"/>
          <a:stretch/>
        </p:blipFill>
        <p:spPr>
          <a:xfrm rot="21595200">
            <a:off x="7730640" y="3424320"/>
            <a:ext cx="6488640" cy="4299840"/>
          </a:xfrm>
          <a:prstGeom prst="rect">
            <a:avLst/>
          </a:prstGeom>
          <a:ln w="0">
            <a:noFill/>
          </a:ln>
        </p:spPr>
      </p:pic>
      <p:sp>
        <p:nvSpPr>
          <p:cNvPr id="304" name="TextBox 303"/>
          <p:cNvSpPr txBox="1"/>
          <p:nvPr/>
        </p:nvSpPr>
        <p:spPr>
          <a:xfrm>
            <a:off x="1322760" y="5855401"/>
            <a:ext cx="5580000" cy="1114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2400" b="0" strike="noStrike" spc="-1" dirty="0">
                <a:latin typeface="Arial"/>
              </a:rPr>
              <a:t>На главной странице сайта показаны привычки которые надо </a:t>
            </a:r>
            <a:r>
              <a:rPr lang="ru-RU" sz="2400" b="0" strike="noStrike" spc="-1" dirty="0" err="1">
                <a:latin typeface="Arial"/>
              </a:rPr>
              <a:t>выполнить,график</a:t>
            </a:r>
            <a:r>
              <a:rPr lang="ru-RU" sz="2400" b="0" strike="noStrike" spc="-1" dirty="0">
                <a:latin typeface="Arial"/>
              </a:rPr>
              <a:t> </a:t>
            </a:r>
            <a:r>
              <a:rPr lang="ru-RU" sz="2400" b="0" strike="noStrike" spc="-1" dirty="0" err="1">
                <a:latin typeface="Arial"/>
              </a:rPr>
              <a:t>веса,активные</a:t>
            </a:r>
            <a:r>
              <a:rPr lang="ru-RU" sz="2400" b="0" strike="noStrike" spc="-1" dirty="0">
                <a:latin typeface="Arial"/>
              </a:rPr>
              <a:t> </a:t>
            </a:r>
            <a:r>
              <a:rPr lang="ru-RU" sz="2400" b="0" strike="noStrike" spc="-1" dirty="0" err="1">
                <a:latin typeface="Arial"/>
              </a:rPr>
              <a:t>цели,привычки,а</a:t>
            </a:r>
            <a:r>
              <a:rPr lang="ru-RU" sz="2400" b="0" strike="noStrike" spc="-1" dirty="0">
                <a:latin typeface="Arial"/>
              </a:rPr>
              <a:t> так же сверху вкладки на другие страницы сайта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Рисунок 304"/>
          <p:cNvPicPr/>
          <p:nvPr/>
        </p:nvPicPr>
        <p:blipFill>
          <a:blip r:embed="rId2"/>
          <a:stretch/>
        </p:blipFill>
        <p:spPr>
          <a:xfrm>
            <a:off x="309960" y="180000"/>
            <a:ext cx="7250040" cy="4860000"/>
          </a:xfrm>
          <a:prstGeom prst="rect">
            <a:avLst/>
          </a:prstGeom>
          <a:ln w="0">
            <a:noFill/>
          </a:ln>
        </p:spPr>
      </p:pic>
      <p:sp>
        <p:nvSpPr>
          <p:cNvPr id="306" name="TextBox 305"/>
          <p:cNvSpPr txBox="1"/>
          <p:nvPr/>
        </p:nvSpPr>
        <p:spPr>
          <a:xfrm>
            <a:off x="8100000" y="1080000"/>
            <a:ext cx="5760000" cy="85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2400" b="0" strike="noStrike" spc="-1" dirty="0" err="1">
                <a:latin typeface="Arial"/>
              </a:rPr>
              <a:t>Вклакда</a:t>
            </a:r>
            <a:r>
              <a:rPr lang="ru-RU" sz="2400" b="0" strike="noStrike" spc="-1" dirty="0">
                <a:latin typeface="Arial"/>
              </a:rPr>
              <a:t> цели дает доступ к созданию новых </a:t>
            </a:r>
            <a:r>
              <a:rPr lang="ru-RU" sz="2400" b="0" strike="noStrike" spc="-1" dirty="0" err="1">
                <a:latin typeface="Arial"/>
              </a:rPr>
              <a:t>целей,так</a:t>
            </a:r>
            <a:r>
              <a:rPr lang="ru-RU" sz="2400" b="0" strike="noStrike" spc="-1" dirty="0">
                <a:latin typeface="Arial"/>
              </a:rPr>
              <a:t> же их </a:t>
            </a:r>
            <a:r>
              <a:rPr lang="ru-RU" sz="2400" b="0" strike="noStrike" spc="-1" dirty="0" err="1">
                <a:latin typeface="Arial"/>
              </a:rPr>
              <a:t>редакитрованию</a:t>
            </a:r>
            <a:r>
              <a:rPr lang="ru-RU" sz="2400" b="0" strike="noStrike" spc="-1" dirty="0">
                <a:latin typeface="Arial"/>
              </a:rPr>
              <a:t> и более детальному просмотру</a:t>
            </a:r>
          </a:p>
        </p:txBody>
      </p:sp>
      <p:pic>
        <p:nvPicPr>
          <p:cNvPr id="307" name="Рисунок 306"/>
          <p:cNvPicPr/>
          <p:nvPr/>
        </p:nvPicPr>
        <p:blipFill>
          <a:blip r:embed="rId3"/>
          <a:stretch/>
        </p:blipFill>
        <p:spPr>
          <a:xfrm>
            <a:off x="6895800" y="4181760"/>
            <a:ext cx="7684200" cy="3738240"/>
          </a:xfrm>
          <a:prstGeom prst="rect">
            <a:avLst/>
          </a:prstGeom>
          <a:ln w="0">
            <a:noFill/>
          </a:ln>
        </p:spPr>
      </p:pic>
      <p:sp>
        <p:nvSpPr>
          <p:cNvPr id="308" name="TextBox 307"/>
          <p:cNvSpPr txBox="1"/>
          <p:nvPr/>
        </p:nvSpPr>
        <p:spPr>
          <a:xfrm>
            <a:off x="1440000" y="5441760"/>
            <a:ext cx="4140000" cy="85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2000" b="0" strike="noStrike" spc="-1" dirty="0">
                <a:latin typeface="Arial"/>
              </a:rPr>
              <a:t>Детальный просмотр показывает прогресс цели ,статус </a:t>
            </a:r>
            <a:r>
              <a:rPr lang="ru-RU" sz="2000" b="0" strike="noStrike" spc="-1" dirty="0" err="1">
                <a:latin typeface="Arial"/>
              </a:rPr>
              <a:t>приоритет,сроки</a:t>
            </a:r>
            <a:endParaRPr lang="ru-RU" sz="2000" b="0" strike="noStrike" spc="-1" dirty="0">
              <a:latin typeface="Arial"/>
            </a:endParaRPr>
          </a:p>
        </p:txBody>
      </p:sp>
      <p:sp>
        <p:nvSpPr>
          <p:cNvPr id="309" name="TextBox 308"/>
          <p:cNvSpPr txBox="1"/>
          <p:nvPr/>
        </p:nvSpPr>
        <p:spPr>
          <a:xfrm>
            <a:off x="1440000" y="7200000"/>
            <a:ext cx="4140000" cy="60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2000" b="0" strike="noStrike" spc="-1" dirty="0">
                <a:latin typeface="Arial"/>
              </a:rPr>
              <a:t>Привычки сделаны по такому же шаблону</a:t>
            </a:r>
          </a:p>
        </p:txBody>
      </p:sp>
      <p:sp>
        <p:nvSpPr>
          <p:cNvPr id="310" name="Прямоугольник 309"/>
          <p:cNvSpPr/>
          <p:nvPr/>
        </p:nvSpPr>
        <p:spPr>
          <a:xfrm>
            <a:off x="12780000" y="7698240"/>
            <a:ext cx="1800000" cy="40176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Рисунок 310"/>
          <p:cNvPicPr/>
          <p:nvPr/>
        </p:nvPicPr>
        <p:blipFill>
          <a:blip r:embed="rId2"/>
          <a:stretch/>
        </p:blipFill>
        <p:spPr>
          <a:xfrm>
            <a:off x="-846435" y="484920"/>
            <a:ext cx="11467800" cy="5874840"/>
          </a:xfrm>
          <a:prstGeom prst="rect">
            <a:avLst/>
          </a:prstGeom>
          <a:ln w="0">
            <a:noFill/>
          </a:ln>
        </p:spPr>
      </p:pic>
      <p:sp>
        <p:nvSpPr>
          <p:cNvPr id="312" name="TextBox 311"/>
          <p:cNvSpPr txBox="1"/>
          <p:nvPr/>
        </p:nvSpPr>
        <p:spPr>
          <a:xfrm>
            <a:off x="9805406" y="640129"/>
            <a:ext cx="4320000" cy="137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4000" b="0" strike="noStrike" spc="-1" dirty="0">
                <a:latin typeface="Arial"/>
              </a:rPr>
              <a:t>Календарь показывает привычки и цели по </a:t>
            </a:r>
            <a:r>
              <a:rPr lang="ru-RU" sz="4000" b="0" strike="noStrike" spc="-1" dirty="0" err="1">
                <a:latin typeface="Arial"/>
              </a:rPr>
              <a:t>дням,показывает</a:t>
            </a:r>
            <a:r>
              <a:rPr lang="ru-RU" sz="4000" b="0" strike="noStrike" spc="-1" dirty="0">
                <a:latin typeface="Arial"/>
              </a:rPr>
              <a:t> сделаны ли цели и выполнены ли задачи по привычкам на </a:t>
            </a:r>
            <a:r>
              <a:rPr lang="ru-RU" sz="4000" b="0" strike="noStrike" spc="-1" dirty="0" err="1">
                <a:latin typeface="Arial"/>
              </a:rPr>
              <a:t>сегоднящний</a:t>
            </a:r>
            <a:r>
              <a:rPr lang="ru-RU" sz="4000" b="0" strike="noStrike" spc="-1" dirty="0">
                <a:latin typeface="Arial"/>
              </a:rPr>
              <a:t> день</a:t>
            </a:r>
          </a:p>
        </p:txBody>
      </p:sp>
      <p:sp>
        <p:nvSpPr>
          <p:cNvPr id="313" name="Прямоугольник 312"/>
          <p:cNvSpPr/>
          <p:nvPr/>
        </p:nvSpPr>
        <p:spPr>
          <a:xfrm>
            <a:off x="12600000" y="7560000"/>
            <a:ext cx="2030400" cy="6696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Box 313"/>
          <p:cNvSpPr txBox="1"/>
          <p:nvPr/>
        </p:nvSpPr>
        <p:spPr>
          <a:xfrm>
            <a:off x="4680000" y="193680"/>
            <a:ext cx="8460000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4800" b="0" strike="noStrike" spc="-1" dirty="0">
                <a:latin typeface="Arial"/>
              </a:rPr>
              <a:t>Заключение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695538" y="2607950"/>
            <a:ext cx="11239324" cy="506985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3600" b="0" strike="noStrike" spc="-1" dirty="0">
                <a:latin typeface="Arial"/>
              </a:rPr>
              <a:t>В рамках выполнения курсового проекта была успешно разработана и реализована информационная система управления целями и привычками с использованием современных технологий и подходов к программированию.</a:t>
            </a:r>
          </a:p>
        </p:txBody>
      </p:sp>
      <p:sp>
        <p:nvSpPr>
          <p:cNvPr id="316" name="Прямоугольник 315"/>
          <p:cNvSpPr/>
          <p:nvPr/>
        </p:nvSpPr>
        <p:spPr>
          <a:xfrm>
            <a:off x="12600000" y="7560000"/>
            <a:ext cx="2030400" cy="6696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Box 316"/>
          <p:cNvSpPr txBox="1"/>
          <p:nvPr/>
        </p:nvSpPr>
        <p:spPr>
          <a:xfrm>
            <a:off x="2397849" y="2975375"/>
            <a:ext cx="12420000" cy="60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ru-RU" sz="7200" b="0" strike="noStrike" spc="-1" dirty="0">
                <a:latin typeface="Arial"/>
              </a:rPr>
              <a:t>Спасибо за внимание!</a:t>
            </a:r>
          </a:p>
          <a:p>
            <a:endParaRPr lang="ru-RU" sz="1800" b="0" strike="noStrike" spc="-1" dirty="0">
              <a:latin typeface="Arial"/>
            </a:endParaRPr>
          </a:p>
        </p:txBody>
      </p:sp>
      <p:sp>
        <p:nvSpPr>
          <p:cNvPr id="318" name="Прямоугольник 317"/>
          <p:cNvSpPr/>
          <p:nvPr/>
        </p:nvSpPr>
        <p:spPr>
          <a:xfrm>
            <a:off x="12600000" y="7560000"/>
            <a:ext cx="2030400" cy="6696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Words>527</Words>
  <Application>Microsoft Office PowerPoint</Application>
  <PresentationFormat>Произвольный</PresentationFormat>
  <Paragraphs>61</Paragraphs>
  <Slides>10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5</vt:i4>
      </vt:variant>
      <vt:variant>
        <vt:lpstr>Заголовки слайдов</vt:lpstr>
      </vt:variant>
      <vt:variant>
        <vt:i4>10</vt:i4>
      </vt:variant>
    </vt:vector>
  </HeadingPairs>
  <TitlesOfParts>
    <vt:vector size="21" baseType="lpstr">
      <vt:lpstr>Arial</vt:lpstr>
      <vt:lpstr>Geist</vt:lpstr>
      <vt:lpstr>Noto Serif SC Bold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dc:description/>
  <cp:lastModifiedBy>Тебеньков Матвей</cp:lastModifiedBy>
  <cp:revision>8</cp:revision>
  <dcterms:created xsi:type="dcterms:W3CDTF">2025-12-17T12:45:21Z</dcterms:created>
  <dcterms:modified xsi:type="dcterms:W3CDTF">2025-12-17T17:42:20Z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(16:9)</vt:lpwstr>
  </property>
  <property fmtid="{D5CDD505-2E9C-101B-9397-08002B2CF9AE}" pid="4" name="Slides">
    <vt:i4>5</vt:i4>
  </property>
</Properties>
</file>