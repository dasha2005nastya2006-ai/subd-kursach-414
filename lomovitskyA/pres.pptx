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Merriweather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Merriweather-bold.fntdata"/><Relationship Id="rId23" Type="http://schemas.openxmlformats.org/officeDocument/2006/relationships/font" Target="fonts/Merriweath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boldItalic.fntdata"/><Relationship Id="rId25" Type="http://schemas.openxmlformats.org/officeDocument/2006/relationships/font" Target="fonts/Merriweath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159f6d9e4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b159f6d9e4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159f6d9e4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b159f6d9e4_2_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159f6d9e4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b159f6d9e4_2_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159f6d9e4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b159f6d9e4_2_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159f6d9e4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b159f6d9e4_2_9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159f6d9e4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b159f6d9e4_2_10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159f6d9e4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b159f6d9e4_2_10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159f6d9e4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b159f6d9e4_2_1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159f6d9e4_2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b159f6d9e4_2_1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159f6d9e4_2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b159f6d9e4_2_1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159f6d9e4_2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b159f6d9e4_2_1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159f6d9e4_2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b159f6d9e4_2_1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159f6d9e4_2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b159f6d9e4_2_1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ait-ester/subd-kursach-414/tree/main/lomovitskyA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ctrTitle"/>
          </p:nvPr>
        </p:nvSpPr>
        <p:spPr>
          <a:xfrm>
            <a:off x="121825" y="0"/>
            <a:ext cx="9144000" cy="264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ru" sz="2800">
                <a:latin typeface="Times New Roman"/>
                <a:ea typeface="Times New Roman"/>
                <a:cs typeface="Times New Roman"/>
                <a:sym typeface="Times New Roman"/>
              </a:rPr>
              <a:t>Министерство образования,</a:t>
            </a:r>
            <a:br>
              <a:rPr b="1" lang="ru" sz="2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ru" sz="2800">
                <a:latin typeface="Times New Roman"/>
                <a:ea typeface="Times New Roman"/>
                <a:cs typeface="Times New Roman"/>
                <a:sym typeface="Times New Roman"/>
              </a:rPr>
              <a:t>науки и молодежной политики Республики Коми</a:t>
            </a:r>
            <a:br>
              <a:rPr b="1" lang="ru" sz="2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ru" sz="2800">
                <a:latin typeface="Times New Roman"/>
                <a:ea typeface="Times New Roman"/>
                <a:cs typeface="Times New Roman"/>
                <a:sym typeface="Times New Roman"/>
              </a:rPr>
              <a:t>ГПОУ "Сыктывкарский политехнический техникум"</a:t>
            </a:r>
            <a:br>
              <a:rPr b="1" lang="ru" sz="2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ru" sz="2800">
                <a:latin typeface="Times New Roman"/>
                <a:ea typeface="Times New Roman"/>
                <a:cs typeface="Times New Roman"/>
                <a:sym typeface="Times New Roman"/>
              </a:rPr>
              <a:t>Курсовая работа</a:t>
            </a:r>
            <a:br>
              <a:rPr b="1" lang="ru" sz="2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ru" sz="2800">
                <a:latin typeface="Times New Roman"/>
                <a:ea typeface="Times New Roman"/>
                <a:cs typeface="Times New Roman"/>
                <a:sym typeface="Times New Roman"/>
              </a:rPr>
              <a:t>Тема: </a:t>
            </a:r>
            <a:r>
              <a:rPr b="1" lang="ru" sz="2800">
                <a:latin typeface="Times New Roman"/>
                <a:ea typeface="Times New Roman"/>
                <a:cs typeface="Times New Roman"/>
                <a:sym typeface="Times New Roman"/>
              </a:rPr>
              <a:t>Разработка базы данных и программного обеспечения для склада автотоваров</a:t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14"/>
          <p:cNvSpPr txBox="1"/>
          <p:nvPr>
            <p:ph idx="1" type="subTitle"/>
          </p:nvPr>
        </p:nvSpPr>
        <p:spPr>
          <a:xfrm>
            <a:off x="0" y="438150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ru" sz="2100">
                <a:solidFill>
                  <a:schemeClr val="lt1"/>
                </a:solidFill>
              </a:rPr>
              <a:t>Выполнил студент 4 курса 414 группы Ломовицкий А. И.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ru" sz="2100">
                <a:solidFill>
                  <a:schemeClr val="lt1"/>
                </a:solidFill>
              </a:rPr>
              <a:t>Проверил Пунгин И. В.</a:t>
            </a:r>
            <a:endParaRPr b="1" sz="2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0" y="1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ru" sz="3000"/>
              <a:t>Цели, задачи, объект, предмет, методы</a:t>
            </a:r>
            <a:endParaRPr sz="3000"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0" y="647700"/>
            <a:ext cx="9144000" cy="38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142"/>
              <a:t>Цель проекта:</a:t>
            </a:r>
            <a:endParaRPr b="1" sz="2142"/>
          </a:p>
          <a:p>
            <a:pPr indent="-364648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143"/>
              <a:buFont typeface="Calibri"/>
              <a:buChar char="●"/>
            </a:pPr>
            <a:r>
              <a:rPr lang="ru" sz="2142">
                <a:latin typeface="Calibri"/>
                <a:ea typeface="Calibri"/>
                <a:cs typeface="Calibri"/>
                <a:sym typeface="Calibri"/>
              </a:rPr>
              <a:t>Разработка программно-информационного комплекса для автоматизации складского учета магазина автотоваров, обеспечивающего поддержку адресного хранения, контроль сроков годности и минимизацию ошибок при приемке и отгрузке продукции.</a:t>
            </a:r>
            <a:endParaRPr sz="2142">
              <a:latin typeface="Calibri"/>
              <a:ea typeface="Calibri"/>
              <a:cs typeface="Calibri"/>
              <a:sym typeface="Calibri"/>
            </a:endParaRPr>
          </a:p>
          <a:p>
            <a:pPr indent="0" lvl="0" marL="1778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2142">
              <a:latin typeface="Calibri"/>
              <a:ea typeface="Calibri"/>
              <a:cs typeface="Calibri"/>
              <a:sym typeface="Calibri"/>
            </a:endParaRPr>
          </a:p>
          <a:p>
            <a:pPr indent="0" lvl="0" marL="1778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ru" sz="2142"/>
              <a:t>Задачи:</a:t>
            </a:r>
            <a:endParaRPr b="1" sz="2142"/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b="1" sz="2142"/>
          </a:p>
          <a:p>
            <a:pPr indent="-364648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143"/>
              <a:buFont typeface="Calibri"/>
              <a:buChar char="●"/>
            </a:pPr>
            <a:r>
              <a:rPr lang="ru" sz="2142">
                <a:latin typeface="Calibri"/>
                <a:ea typeface="Calibri"/>
                <a:cs typeface="Calibri"/>
                <a:sym typeface="Calibri"/>
              </a:rPr>
              <a:t>Проанализировать логистические процессы склада автозапчастей (приемка, хранение, списание).</a:t>
            </a:r>
            <a:endParaRPr sz="2142">
              <a:latin typeface="Calibri"/>
              <a:ea typeface="Calibri"/>
              <a:cs typeface="Calibri"/>
              <a:sym typeface="Calibri"/>
            </a:endParaRPr>
          </a:p>
          <a:p>
            <a:pPr indent="-364648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143"/>
              <a:buFont typeface="Calibri"/>
              <a:buChar char="●"/>
            </a:pPr>
            <a:r>
              <a:rPr lang="ru" sz="2142">
                <a:latin typeface="Calibri"/>
                <a:ea typeface="Calibri"/>
                <a:cs typeface="Calibri"/>
                <a:sym typeface="Calibri"/>
              </a:rPr>
              <a:t>Спроектировать нормализованную реляционную базу данных (3NF) с учетом требований целостности.</a:t>
            </a:r>
            <a:endParaRPr sz="2142">
              <a:latin typeface="Calibri"/>
              <a:ea typeface="Calibri"/>
              <a:cs typeface="Calibri"/>
              <a:sym typeface="Calibri"/>
            </a:endParaRPr>
          </a:p>
          <a:p>
            <a:pPr indent="-364648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143"/>
              <a:buFont typeface="Calibri"/>
              <a:buChar char="●"/>
            </a:pPr>
            <a:r>
              <a:rPr lang="ru" sz="2142">
                <a:latin typeface="Calibri"/>
                <a:ea typeface="Calibri"/>
                <a:cs typeface="Calibri"/>
                <a:sym typeface="Calibri"/>
              </a:rPr>
              <a:t>Реализовать физическую структуру базы данных в СУБД PostgreSQL, включая разработку серверной логики (триггеры и хранимые процедуры).</a:t>
            </a:r>
            <a:endParaRPr sz="2142">
              <a:latin typeface="Calibri"/>
              <a:ea typeface="Calibri"/>
              <a:cs typeface="Calibri"/>
              <a:sym typeface="Calibri"/>
            </a:endParaRPr>
          </a:p>
          <a:p>
            <a:pPr indent="-364648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143"/>
              <a:buFont typeface="Calibri"/>
              <a:buChar char="●"/>
            </a:pPr>
            <a:r>
              <a:rPr lang="ru" sz="2142">
                <a:latin typeface="Calibri"/>
                <a:ea typeface="Calibri"/>
                <a:cs typeface="Calibri"/>
                <a:sym typeface="Calibri"/>
              </a:rPr>
              <a:t>Разработать клиентское приложение с графическим интерфейсом на языке Python (библиотека Tkinter).</a:t>
            </a:r>
            <a:endParaRPr sz="2142">
              <a:latin typeface="Calibri"/>
              <a:ea typeface="Calibri"/>
              <a:cs typeface="Calibri"/>
              <a:sym typeface="Calibri"/>
            </a:endParaRPr>
          </a:p>
          <a:p>
            <a:pPr indent="-364648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143"/>
              <a:buFont typeface="Calibri"/>
              <a:buChar char="●"/>
            </a:pPr>
            <a:r>
              <a:rPr lang="ru" sz="2142">
                <a:latin typeface="Calibri"/>
                <a:ea typeface="Calibri"/>
                <a:cs typeface="Calibri"/>
                <a:sym typeface="Calibri"/>
              </a:rPr>
              <a:t>Обеспечить защиту данных от логических ошибок (отрицательные остатки) и разграничить доступ к системе.</a:t>
            </a:r>
            <a:endParaRPr sz="2142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0" y="647700"/>
            <a:ext cx="9144000" cy="44957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ru" sz="2500"/>
              <a:t>Объект исследования:</a:t>
            </a:r>
            <a:endParaRPr b="1" sz="2500"/>
          </a:p>
          <a:p>
            <a:pPr indent="-3429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ru" sz="1700"/>
              <a:t>Процессы складского учета, адресного хранения и движения товарно-материальных ценностей в магазине автозапчастей.</a:t>
            </a:r>
            <a:endParaRPr b="1" sz="1700"/>
          </a:p>
          <a:p>
            <a:pPr indent="-38100" lvl="0" marL="177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ru" sz="2500"/>
              <a:t>Предмет исследования:</a:t>
            </a:r>
            <a:endParaRPr b="1" sz="2500"/>
          </a:p>
          <a:p>
            <a:pPr indent="-3429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ru" sz="1700"/>
              <a:t>Структура реляционной базы данных и программные алгоритмы для автоматизации операций приемки, отгрузки и контроля остатков.</a:t>
            </a:r>
            <a:endParaRPr b="1" sz="1700"/>
          </a:p>
          <a:p>
            <a:pPr indent="-38100" lvl="0" marL="177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ru" sz="2500"/>
              <a:t>Методы:</a:t>
            </a:r>
            <a:endParaRPr b="1" sz="2500"/>
          </a:p>
          <a:p>
            <a:pPr indent="-3429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ru" sz="1700"/>
              <a:t>Теоретические: системный анализ предметной области, инфологическое моделирование, построение ER-диаграмм.</a:t>
            </a:r>
            <a:endParaRPr b="1" sz="1700"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 sz="1700"/>
              <a:t>Практические: нормализация отношений (3NF), реализация серверной логики (SQL, PL/pgSQL), объектно-ориентированное программирование (Python), функциональное тестирование.</a:t>
            </a:r>
            <a:endParaRPr b="1" sz="1700"/>
          </a:p>
        </p:txBody>
      </p:sp>
      <p:sp>
        <p:nvSpPr>
          <p:cNvPr id="83" name="Google Shape;83;p16"/>
          <p:cNvSpPr txBox="1"/>
          <p:nvPr/>
        </p:nvSpPr>
        <p:spPr>
          <a:xfrm>
            <a:off x="0" y="1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i="0" lang="ru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Цели, задачи, объект, предмет, методы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0" y="647700"/>
            <a:ext cx="9144000" cy="44957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-3683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200"/>
              <a:buChar char="●"/>
            </a:pPr>
            <a:r>
              <a:rPr b="1" lang="ru" sz="2200"/>
              <a:t>Проблемы ручного учета на складе автотоваров:</a:t>
            </a:r>
            <a:endParaRPr b="1" sz="22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700"/>
              <a:t>Длительный поиск товара: Отсутствие системы адресного хранения (привязки к полкам) приводит к потере времени при сборке заказов.</a:t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700"/>
              <a:t>Пересортица и неточность данных: Расхождение фактического наличия с данными в Excel из-за ошибок ручного ввода (путаница в похожих артикулах и брендах).</a:t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700"/>
              <a:t>Финансовые потери от просрочки: Невозможность оперативно отследить товары с истекающим сроком годности (масла, автохимия) без автоматизации.</a:t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700"/>
              <a:t>Ошибки в расчетах: «Человеческий фактор» при ручном пересчете остатков после каждой операции прихода или расхода.</a:t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700"/>
              <a:t>Отсутствие истории движения: Сложность в выявлении виновных при недостачах или браке.</a:t>
            </a:r>
            <a:endParaRPr sz="1700"/>
          </a:p>
          <a:p>
            <a:pPr indent="-3683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200"/>
              <a:buChar char="●"/>
            </a:pPr>
            <a:r>
              <a:rPr b="1" lang="ru" sz="2200"/>
              <a:t>Актуальность:</a:t>
            </a:r>
            <a:endParaRPr b="1" sz="22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700"/>
              <a:t>Разрабатываемая система решает эти проблемы путем внедрения адресного хранения и автоматического партионного учета. Это позволяет минимизировать издержки, исключить ошибки оператора и ускорить обслуживание клиентов, что является критическим фактором конкурентоспособности для магазина с широкой номенклатурой запчастей.</a:t>
            </a:r>
            <a:endParaRPr sz="1700"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0" y="1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i="0" lang="ru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Актуальность работы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607377" y="647700"/>
            <a:ext cx="3771900" cy="44957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b="1" lang="ru" sz="1900"/>
              <a:t>Задача 1:</a:t>
            </a:r>
            <a:r>
              <a:rPr b="1" lang="ru"/>
              <a:t> 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ru" sz="1600"/>
              <a:t>Проанализировать логистические процессы склада автозапчастей (приемка, хранение, списание).</a:t>
            </a:r>
            <a:endParaRPr sz="1600"/>
          </a:p>
          <a:p>
            <a:pPr indent="-355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000"/>
              <a:buChar char="●"/>
            </a:pPr>
            <a:r>
              <a:rPr b="1" lang="ru" sz="1900"/>
              <a:t>Результат:</a:t>
            </a:r>
            <a:endParaRPr b="1" sz="19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ru" sz="1600"/>
              <a:t>Формализованы процессы: Описаны алгоритмы поступления товара на склад, размещения по ячейкам (адресное хранение) и отгрузки контрагентам.</a:t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ru" sz="1600"/>
              <a:t>Выявлены требования к системе: Необходимость партионного учета, контроля отрицательных остатков и мониторинга сроков годности.</a:t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ru" sz="1600"/>
              <a:t>Спроектирована структура данных: Разработана инфологическая модель в виде ER-диаграммы, связывающая товары, справочники и документы движения.</a:t>
            </a:r>
            <a:endParaRPr sz="1600"/>
          </a:p>
          <a:p>
            <a:pPr indent="-50800" lvl="0" marL="17780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0" y="1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i="0" lang="ru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Задача (1/5)                   →            Результат</a:t>
            </a:r>
            <a:endParaRPr b="1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1677" y="800101"/>
            <a:ext cx="4459924" cy="3547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1" y="647700"/>
            <a:ext cx="4495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ru" sz="1400"/>
              <a:t>Задача 2: Спроектировать нормализованную реляционную базу данных.</a:t>
            </a:r>
            <a:endParaRPr b="1" sz="1400"/>
          </a:p>
          <a:p>
            <a:pPr indent="-203200" lvl="0" marL="177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b="1" lang="ru" sz="1800"/>
              <a:t>Результат:</a:t>
            </a:r>
            <a:endParaRPr b="1" sz="1800"/>
          </a:p>
          <a:p>
            <a:pPr indent="-177800" lvl="0" marL="177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ru" sz="1400"/>
              <a:t>Разработана логическая модель: Структура данных приведена к 3-й нормальной форме (3NF), что исключило дублирование информации в справочниках (бренды, категории).</a:t>
            </a:r>
            <a:endParaRPr sz="1400"/>
          </a:p>
          <a:p>
            <a:pPr indent="-177800" lvl="0" marL="177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ru" sz="1400"/>
              <a:t>Реализована физическая структура в СУБД PostgreSQL: Выбор системы обоснован поддержкой ACID-транзакций, необходимых для финансовой точности складского учета.</a:t>
            </a:r>
            <a:endParaRPr sz="1400"/>
          </a:p>
          <a:p>
            <a:pPr indent="-177800" lvl="0" marL="177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200"/>
              <a:buChar char="●"/>
            </a:pPr>
            <a:r>
              <a:rPr lang="ru" sz="1400"/>
              <a:t>Обеспечена целостность данных: На уровне физической модели внедрены ограничения (CHECK constraints), делающие невозможным появление отрицательных остатков или цен.</a:t>
            </a:r>
            <a:endParaRPr sz="1400"/>
          </a:p>
        </p:txBody>
      </p:sp>
      <p:sp>
        <p:nvSpPr>
          <p:cNvPr id="102" name="Google Shape;102;p19"/>
          <p:cNvSpPr txBox="1"/>
          <p:nvPr/>
        </p:nvSpPr>
        <p:spPr>
          <a:xfrm>
            <a:off x="0" y="0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i="0" lang="ru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Задача (2/5)                        →            Результат</a:t>
            </a:r>
            <a:endParaRPr b="1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5800" y="1018455"/>
            <a:ext cx="4495800" cy="3106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0" y="647700"/>
            <a:ext cx="4429125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ru" sz="1700"/>
              <a:t>Задача 3: Реализовать физическую структуру и серверную логику в PostgreSQL.</a:t>
            </a:r>
            <a:endParaRPr b="1"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ru" sz="1700"/>
              <a:t>Результат:</a:t>
            </a:r>
            <a:endParaRPr b="1" sz="17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ru" sz="1500"/>
              <a:t>Создана структура БД: Написаны SQL-скрипты для развертывания таблиц справочников, товаров и документов движения.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ru" sz="1500"/>
              <a:t>Обеспечена целостность: Настроены внешние ключи и жесткие ограничения (CHECK Constraints), исключающие появление отрицательных остатков и цен.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ru" sz="1500"/>
              <a:t>Автоматизированы процессы: Реализованы триггеры на языке PL/pgSQL, которые автоматически пересчитывают количество товара на складе при проведении накладной.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ru" sz="1500"/>
              <a:t>Настроена аналитика: Созданы представления (Views) для мониторинга текущих остатков и товаров с истекающим сроком годности.</a:t>
            </a:r>
            <a:endParaRPr sz="1500"/>
          </a:p>
          <a:p>
            <a:pPr indent="-50800" lvl="0" marL="17780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109" name="Google Shape;109;p20"/>
          <p:cNvSpPr txBox="1"/>
          <p:nvPr/>
        </p:nvSpPr>
        <p:spPr>
          <a:xfrm>
            <a:off x="0" y="0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i="0" lang="ru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Задача (3/5)                        →            Результат</a:t>
            </a:r>
            <a:endParaRPr b="1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7350" y="647700"/>
            <a:ext cx="3615491" cy="419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0" y="647700"/>
            <a:ext cx="4572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50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ru"/>
              <a:t>Задача 4: Разработать клиентское приложение с графическим интерфейсом.</a:t>
            </a:r>
            <a:endParaRPr b="1"/>
          </a:p>
          <a:p>
            <a:pPr indent="-50800" lvl="0" marL="177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ru"/>
              <a:t>Результат:</a:t>
            </a:r>
            <a:endParaRPr b="1"/>
          </a:p>
          <a:p>
            <a:pPr indent="-50800" lvl="0" marL="177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ru"/>
              <a:t>Создано приложение на языке Python с использованием стандартной библиотеки Tkinter (обеспечивает легкость развертывания без лишних зависимостей).</a:t>
            </a:r>
            <a:endParaRPr/>
          </a:p>
          <a:p>
            <a:pPr indent="-50800" lvl="0" marL="177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ru"/>
              <a:t>Реализован интерфейс АРМ Кладовщика, включающий:</a:t>
            </a:r>
            <a:endParaRPr/>
          </a:p>
          <a:p>
            <a:pPr indent="-50800" lvl="0" marL="177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ru"/>
              <a:t>Вкладку «Складские остатки» для мониторинга наличия товаров в реальном времени.</a:t>
            </a:r>
            <a:endParaRPr/>
          </a:p>
          <a:p>
            <a:pPr indent="-50800" lvl="0" marL="177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ru"/>
              <a:t>Вкладку «Операции» для быстрого оформления прихода, расхода и списания.</a:t>
            </a:r>
            <a:endParaRPr/>
          </a:p>
          <a:p>
            <a:pPr indent="-50800" lvl="0" marL="177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ru"/>
              <a:t>Модальные окна для добавления новой номенклатуры в справочник.</a:t>
            </a:r>
            <a:endParaRPr/>
          </a:p>
          <a:p>
            <a:pPr indent="-50800" lvl="0" marL="177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100"/>
              <a:buNone/>
            </a:pPr>
            <a:r>
              <a:rPr lang="ru"/>
              <a:t>Приложение взаимодействует с БД через драйвер psycopg2, используя хранимые процедуры (API), что повышает безопасность данных.</a:t>
            </a:r>
            <a:endParaRPr/>
          </a:p>
        </p:txBody>
      </p:sp>
      <p:sp>
        <p:nvSpPr>
          <p:cNvPr id="116" name="Google Shape;116;p21"/>
          <p:cNvSpPr txBox="1"/>
          <p:nvPr/>
        </p:nvSpPr>
        <p:spPr>
          <a:xfrm>
            <a:off x="0" y="0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i="0" lang="ru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Задача (4/5)                        →            Результат</a:t>
            </a:r>
            <a:endParaRPr b="1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800100"/>
            <a:ext cx="4267201" cy="4181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/>
        </p:nvSpPr>
        <p:spPr>
          <a:xfrm>
            <a:off x="0" y="0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i="0" lang="ru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Результат (4/5)</a:t>
            </a:r>
            <a:endParaRPr b="1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00100"/>
            <a:ext cx="6158607" cy="4191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3407" y="800100"/>
            <a:ext cx="2528194" cy="3038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0" y="647700"/>
            <a:ext cx="4286250" cy="44957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Задача 5: Обеспечить целостность данных и формирование складской отчетности.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Результат: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841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ru"/>
              <a:t>Безопасность данных:</a:t>
            </a:r>
            <a:r>
              <a:rPr lang="ru"/>
              <a:t> Реализован доступ к базе только через хранимые процедуры (Server API). Это скрывает физическую структуру таблиц от приложения и защищает от SQL-инъекций.</a:t>
            </a:r>
            <a:endParaRPr/>
          </a:p>
          <a:p>
            <a:pPr indent="-1841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ru"/>
              <a:t>Гарантия целостности:</a:t>
            </a:r>
            <a:r>
              <a:rPr lang="ru"/>
              <a:t> Настроены ограничения (CHECK Constraints), которые на уровне ядра СУБД блокируют любые попытки создания отрицательных остатков и цен.</a:t>
            </a:r>
            <a:endParaRPr/>
          </a:p>
          <a:p>
            <a:pPr indent="-1841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ru"/>
              <a:t>Система отчетности:</a:t>
            </a:r>
            <a:r>
              <a:rPr lang="ru"/>
              <a:t> Реализованы представления (Views) для мгновенного получения ключевых отчетов:</a:t>
            </a:r>
            <a:endParaRPr/>
          </a:p>
          <a:p>
            <a:pPr indent="-1841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ru"/>
              <a:t>Складская справка: </a:t>
            </a:r>
            <a:r>
              <a:rPr lang="ru"/>
              <a:t>текущие остатки с адресами ячеек.</a:t>
            </a:r>
            <a:endParaRPr/>
          </a:p>
          <a:p>
            <a:pPr indent="-1841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ru"/>
              <a:t>Монитор качества: </a:t>
            </a:r>
            <a:r>
              <a:rPr lang="ru"/>
              <a:t>список товаров с истекающим сроком годности (автохимия, масла).</a:t>
            </a:r>
            <a:endParaRPr/>
          </a:p>
          <a:p>
            <a:pPr indent="-1841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ru"/>
              <a:t>История движений:</a:t>
            </a:r>
            <a:r>
              <a:rPr lang="ru"/>
              <a:t> детализация прихода и расхода по контрагентам.</a:t>
            </a:r>
            <a:endParaRPr/>
          </a:p>
          <a:p>
            <a:pPr indent="-50800" lvl="0" marL="17780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130" name="Google Shape;130;p23"/>
          <p:cNvSpPr txBox="1"/>
          <p:nvPr/>
        </p:nvSpPr>
        <p:spPr>
          <a:xfrm>
            <a:off x="0" y="1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i="0" lang="ru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Задача (5/5)                        →            Результат</a:t>
            </a:r>
            <a:endParaRPr b="1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8650" y="800101"/>
            <a:ext cx="4552951" cy="3923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0" y="647700"/>
            <a:ext cx="9144000" cy="44957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b="1" lang="ru"/>
              <a:t>Цель достигнута:</a:t>
            </a:r>
            <a:endParaRPr b="1"/>
          </a:p>
          <a:p>
            <a:pPr indent="-38100" lvl="0" marL="177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ru"/>
              <a:t>Разработан полнофункциональный программно-информационный комплекс для автоматизации складского учета автотоваров, готовый к внедрению.</a:t>
            </a:r>
            <a:endParaRPr b="1"/>
          </a:p>
          <a:p>
            <a:pPr indent="-3175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ru"/>
              <a:t>Все задачи решены:</a:t>
            </a:r>
            <a:endParaRPr b="1"/>
          </a:p>
          <a:p>
            <a:pPr indent="-38100" lvl="0" marL="177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ru"/>
              <a:t>Проведен полный цикл работ: от анализа логистики и проектирования 3NF до реализации серверной логики (триггеры) и клиентского приложения.</a:t>
            </a:r>
            <a:endParaRPr b="1"/>
          </a:p>
          <a:p>
            <a:pPr indent="-3175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ru"/>
              <a:t>Практическая значимость:</a:t>
            </a:r>
            <a:endParaRPr b="1"/>
          </a:p>
          <a:p>
            <a:pPr indent="-38100" lvl="0" marL="177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ru"/>
              <a:t>Система внедряет технологии адресного хранения и партионного учета, что минимизирует ошибки (пересортицу), предотвращает убытки от просроченных товаров и ускоряет сборку заказов.</a:t>
            </a:r>
            <a:endParaRPr b="1"/>
          </a:p>
          <a:p>
            <a:pPr indent="-3175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ru"/>
              <a:t>Технологический </a:t>
            </a:r>
            <a:r>
              <a:rPr b="1" lang="ru"/>
              <a:t>стек</a:t>
            </a:r>
            <a:r>
              <a:rPr b="1" lang="ru"/>
              <a:t>:</a:t>
            </a:r>
            <a:endParaRPr b="1"/>
          </a:p>
          <a:p>
            <a:pPr indent="-38100" lvl="0" marL="177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ru"/>
              <a:t>Использованы надежные и актуальные инструменты: PostgreSQL (PL/pgSQL), Python, библиотека Tkinter, драйвер Psycopg2.</a:t>
            </a:r>
            <a:endParaRPr b="1"/>
          </a:p>
          <a:p>
            <a:pPr indent="-3175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ru"/>
              <a:t>Перспективы развития:</a:t>
            </a:r>
            <a:endParaRPr b="1"/>
          </a:p>
          <a:p>
            <a:pPr indent="-38100" lvl="0" marL="177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100"/>
              <a:buNone/>
            </a:pPr>
            <a:r>
              <a:rPr b="1" lang="ru"/>
              <a:t>Архитектура системы позволяет масштабирование: возможна интеграция со сканерами штрих-кодов для ускорения приемки, а также создание веб-интерфейса для удаленного доступа менеджеров.</a:t>
            </a:r>
            <a:endParaRPr b="1"/>
          </a:p>
        </p:txBody>
      </p:sp>
      <p:sp>
        <p:nvSpPr>
          <p:cNvPr id="137" name="Google Shape;137;p24"/>
          <p:cNvSpPr txBox="1"/>
          <p:nvPr/>
        </p:nvSpPr>
        <p:spPr>
          <a:xfrm>
            <a:off x="0" y="1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i="0" lang="ru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Выводы по работе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0" y="647701"/>
            <a:ext cx="9144000" cy="44957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ru" sz="2700"/>
              <a:t> </a:t>
            </a:r>
            <a:r>
              <a:rPr lang="ru" sz="2700"/>
              <a:t>Разработанный проект демонстрирует комплексное применение знаний в области проектирования БД, разработки и обеспечения информационной безопасности, что соответствует компетенциям специальности 09.02.07.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Clr>
                <a:schemeClr val="dk1"/>
              </a:buClr>
              <a:buSzPts val="2700"/>
              <a:buChar char="●"/>
            </a:pPr>
            <a:r>
              <a:rPr lang="ru" sz="2700"/>
              <a:t> </a:t>
            </a:r>
            <a:r>
              <a:rPr lang="ru" sz="2700"/>
              <a:t>Полный код программы, структуру базы данных и функционал приложения можно увидеть на ресурсе GitHub по ссылке: </a:t>
            </a:r>
            <a:r>
              <a:rPr b="1" lang="ru" sz="2700" u="sng">
                <a:solidFill>
                  <a:schemeClr val="hlink"/>
                </a:solidFill>
                <a:hlinkClick r:id="rId3"/>
              </a:rPr>
              <a:t>https://github.com/ait-ester/subd-kursach-414/tree/main/lomovitskyA</a:t>
            </a:r>
            <a:endParaRPr b="1" sz="2700"/>
          </a:p>
        </p:txBody>
      </p:sp>
      <p:sp>
        <p:nvSpPr>
          <p:cNvPr id="143" name="Google Shape;143;p25"/>
          <p:cNvSpPr txBox="1"/>
          <p:nvPr/>
        </p:nvSpPr>
        <p:spPr>
          <a:xfrm>
            <a:off x="0" y="1"/>
            <a:ext cx="914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i="0" lang="ru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Заключение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</a:pPr>
            <a:r>
              <a:rPr b="1" lang="ru" sz="6600"/>
              <a:t>Спасибо за внимание</a:t>
            </a:r>
            <a:endParaRPr b="1" sz="6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