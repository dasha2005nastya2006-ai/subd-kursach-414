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D891-7C78-4E33-B98F-EB2985FD2367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8BA5-0207-4FE8-A24D-2A226DF4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663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D891-7C78-4E33-B98F-EB2985FD2367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8BA5-0207-4FE8-A24D-2A226DF4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211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D891-7C78-4E33-B98F-EB2985FD2367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8BA5-0207-4FE8-A24D-2A226DF4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44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D891-7C78-4E33-B98F-EB2985FD2367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8BA5-0207-4FE8-A24D-2A226DF4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369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D891-7C78-4E33-B98F-EB2985FD2367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8BA5-0207-4FE8-A24D-2A226DF4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4321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D891-7C78-4E33-B98F-EB2985FD2367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8BA5-0207-4FE8-A24D-2A226DF4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415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D891-7C78-4E33-B98F-EB2985FD2367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8BA5-0207-4FE8-A24D-2A226DF4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505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D891-7C78-4E33-B98F-EB2985FD2367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8BA5-0207-4FE8-A24D-2A226DF4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49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D891-7C78-4E33-B98F-EB2985FD2367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8BA5-0207-4FE8-A24D-2A226DF4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7515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D891-7C78-4E33-B98F-EB2985FD2367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8BA5-0207-4FE8-A24D-2A226DF4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506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D891-7C78-4E33-B98F-EB2985FD2367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8BA5-0207-4FE8-A24D-2A226DF41C22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723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D891-7C78-4E33-B98F-EB2985FD2367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8BA5-0207-4FE8-A24D-2A226DF4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124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D891-7C78-4E33-B98F-EB2985FD2367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8BA5-0207-4FE8-A24D-2A226DF41C22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0825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D891-7C78-4E33-B98F-EB2985FD2367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8BA5-0207-4FE8-A24D-2A226DF4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821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D891-7C78-4E33-B98F-EB2985FD2367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8BA5-0207-4FE8-A24D-2A226DF4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3423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D891-7C78-4E33-B98F-EB2985FD2367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8BA5-0207-4FE8-A24D-2A226DF4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4208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AD891-7C78-4E33-B98F-EB2985FD2367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3548BA5-0207-4FE8-A24D-2A226DF41C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290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584984-2EEF-45AA-B625-0EA3158D4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b="1" dirty="0"/>
              <a:t>Тема:</a:t>
            </a:r>
            <a:r>
              <a:rPr lang="ru-RU" dirty="0"/>
              <a:t> Разработка БД агентства по аренде квартир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096C884-4B57-4096-B6F1-54C4D14130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9942" y="4612808"/>
            <a:ext cx="7766936" cy="1096899"/>
          </a:xfrm>
        </p:spPr>
        <p:txBody>
          <a:bodyPr>
            <a:normAutofit/>
          </a:bodyPr>
          <a:lstStyle/>
          <a:p>
            <a:r>
              <a:rPr lang="ru-RU" dirty="0"/>
              <a:t>Выполнил: студент 4 курса гр. 414 Кочанов А.М.</a:t>
            </a:r>
          </a:p>
          <a:p>
            <a:r>
              <a:rPr lang="ru-RU" dirty="0"/>
              <a:t>Проверил: </a:t>
            </a:r>
            <a:r>
              <a:rPr lang="ru-RU" dirty="0" err="1"/>
              <a:t>Пунгин</a:t>
            </a:r>
            <a:r>
              <a:rPr lang="ru-RU" dirty="0"/>
              <a:t> И.В.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800225-F544-415D-8A68-DDE872E0D812}"/>
              </a:ext>
            </a:extLst>
          </p:cNvPr>
          <p:cNvSpPr txBox="1"/>
          <p:nvPr/>
        </p:nvSpPr>
        <p:spPr>
          <a:xfrm>
            <a:off x="4495800" y="6211669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Сыктывкар, 2025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0242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DC87C-9BF4-42CA-984D-C7CFC2765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Цели, задачи, объект, предмет, методы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05952C-DCEA-4830-9822-CCE694EB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8914341" cy="4240211"/>
          </a:xfrm>
        </p:spPr>
        <p:txBody>
          <a:bodyPr>
            <a:normAutofit fontScale="92500" lnSpcReduction="10000"/>
          </a:bodyPr>
          <a:lstStyle/>
          <a:p>
            <a:r>
              <a:rPr lang="ru-RU" sz="1900" b="1" dirty="0"/>
              <a:t>Цель:</a:t>
            </a:r>
            <a:r>
              <a:rPr lang="ru-RU" sz="1900" dirty="0"/>
              <a:t> Проектирование и реализация комплексной ИС для автоматизации агентства аренды.</a:t>
            </a:r>
          </a:p>
          <a:p>
            <a:r>
              <a:rPr lang="ru-RU" sz="1900" b="1" dirty="0"/>
              <a:t>Задачи:</a:t>
            </a:r>
            <a:endParaRPr lang="ru-RU" sz="1900" dirty="0"/>
          </a:p>
          <a:p>
            <a:pPr lvl="1"/>
            <a:r>
              <a:rPr lang="ru-RU" sz="1700" dirty="0"/>
              <a:t>Анализ предметной области и проектирование моделей БД.</a:t>
            </a:r>
          </a:p>
          <a:p>
            <a:pPr lvl="1"/>
            <a:r>
              <a:rPr lang="ru-RU" sz="1700" dirty="0"/>
              <a:t>Реализация БД в </a:t>
            </a:r>
            <a:r>
              <a:rPr lang="ru-RU" sz="1700" dirty="0" err="1"/>
              <a:t>PostgreSQL</a:t>
            </a:r>
            <a:r>
              <a:rPr lang="ru-RU" sz="1700" dirty="0"/>
              <a:t> (таблицы, индексы, триггеры).</a:t>
            </a:r>
          </a:p>
          <a:p>
            <a:pPr lvl="1"/>
            <a:r>
              <a:rPr lang="ru-RU" sz="1700" dirty="0"/>
              <a:t>Разработка веб-интерфейса с ролевым доступом.</a:t>
            </a:r>
          </a:p>
          <a:p>
            <a:pPr lvl="1"/>
            <a:r>
              <a:rPr lang="ru-RU" sz="1700" dirty="0"/>
              <a:t>Реализация защиты данных и API для интеграции.</a:t>
            </a:r>
          </a:p>
          <a:p>
            <a:pPr lvl="1"/>
            <a:r>
              <a:rPr lang="ru-RU" sz="1700" dirty="0"/>
              <a:t>Тестирование и документирование.</a:t>
            </a:r>
          </a:p>
          <a:p>
            <a:r>
              <a:rPr lang="ru-RU" sz="1900" b="1" dirty="0"/>
              <a:t>Объект:</a:t>
            </a:r>
            <a:r>
              <a:rPr lang="ru-RU" sz="1900" dirty="0"/>
              <a:t> Процессы управления агентством недвижимости.</a:t>
            </a:r>
          </a:p>
          <a:p>
            <a:r>
              <a:rPr lang="ru-RU" sz="1900" b="1" dirty="0"/>
              <a:t>Предмет:</a:t>
            </a:r>
            <a:r>
              <a:rPr lang="ru-RU" sz="1900" dirty="0"/>
              <a:t> Структура и взаимосвязи данных.</a:t>
            </a:r>
          </a:p>
          <a:p>
            <a:r>
              <a:rPr lang="ru-RU" sz="1900" b="1" dirty="0"/>
              <a:t>Методы:</a:t>
            </a:r>
            <a:r>
              <a:rPr lang="ru-RU" sz="1900" dirty="0"/>
              <a:t> Анализ, ER-моделирование, нормализация, ООП.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9848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1ADBE-E97F-499A-A0DB-53A4F9A39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Актуальность работы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C6E190-9848-4518-BED5-0CA57E2A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1489"/>
            <a:ext cx="8596668" cy="3880773"/>
          </a:xfrm>
        </p:spPr>
        <p:txBody>
          <a:bodyPr/>
          <a:lstStyle/>
          <a:p>
            <a:r>
              <a:rPr lang="ru-RU" dirty="0"/>
              <a:t>Рост рынка краткосрочной аренды.</a:t>
            </a:r>
          </a:p>
          <a:p>
            <a:r>
              <a:rPr lang="ru-RU" dirty="0"/>
              <a:t>Неэффективность и ошибки при ручном управлении (объекты, брони, финансы, уборка).</a:t>
            </a:r>
          </a:p>
          <a:p>
            <a:r>
              <a:rPr lang="ru-RU" b="1" dirty="0"/>
              <a:t>Автоматизация — ключевой фактор</a:t>
            </a:r>
            <a:r>
              <a:rPr lang="ru-RU" dirty="0"/>
              <a:t> для повышения конкурентоспособности, качества сервиса и предотвращения потерь.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4860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BEEC22-A77B-4E62-B965-0EB453CC1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Задача 1. Анализ и проектирование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F37ACC-36ED-4B28-AA0B-CE92D5059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1964"/>
            <a:ext cx="8596668" cy="3880773"/>
          </a:xfrm>
        </p:spPr>
        <p:txBody>
          <a:bodyPr/>
          <a:lstStyle/>
          <a:p>
            <a:r>
              <a:rPr lang="ru-RU" b="1" dirty="0"/>
              <a:t>Результат: Модели БД (ER, логическая, физическая).</a:t>
            </a:r>
            <a:endParaRPr lang="ru-RU" dirty="0"/>
          </a:p>
          <a:p>
            <a:r>
              <a:rPr lang="ru-RU" dirty="0"/>
              <a:t>Проанализированы 8 ключевых бизнес-процессов агентства.</a:t>
            </a:r>
          </a:p>
          <a:p>
            <a:r>
              <a:rPr lang="ru-RU" dirty="0"/>
              <a:t>Выделено </a:t>
            </a:r>
            <a:r>
              <a:rPr lang="ru-RU" b="1" dirty="0"/>
              <a:t>21 сущность</a:t>
            </a:r>
            <a:r>
              <a:rPr lang="ru-RU" dirty="0"/>
              <a:t> (Гость, Объект, Бронирование, Платеж, Задача и др.).</a:t>
            </a:r>
          </a:p>
          <a:p>
            <a:r>
              <a:rPr lang="ru-RU" dirty="0"/>
              <a:t>Построена ER-диаграмма, отображающая связи (1-М, М-М).</a:t>
            </a:r>
          </a:p>
          <a:p>
            <a:r>
              <a:rPr lang="ru-RU" dirty="0"/>
              <a:t>Выбрана СУБД </a:t>
            </a:r>
            <a:r>
              <a:rPr lang="ru-RU" b="1" dirty="0" err="1"/>
              <a:t>PostgreSQL</a:t>
            </a:r>
            <a:r>
              <a:rPr lang="ru-RU" dirty="0"/>
              <a:t> (надежность, производительность, </a:t>
            </a:r>
            <a:r>
              <a:rPr lang="ru-RU" dirty="0" err="1"/>
              <a:t>open-source</a:t>
            </a:r>
            <a:r>
              <a:rPr lang="ru-RU" dirty="0"/>
              <a:t>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2470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30860-F5A4-4936-ABF2-741E55C0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Задача 2. Реализация БД в </a:t>
            </a:r>
            <a:r>
              <a:rPr lang="ru-RU" b="1" dirty="0" err="1"/>
              <a:t>PostgreSQL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7319BF-D7D2-40A8-BF64-663E09A8E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Результат: Рабочая база данных.</a:t>
            </a:r>
            <a:endParaRPr lang="ru-RU" dirty="0"/>
          </a:p>
          <a:p>
            <a:r>
              <a:rPr lang="ru-RU" dirty="0"/>
              <a:t>Создано </a:t>
            </a:r>
            <a:r>
              <a:rPr lang="ru-RU" b="1" dirty="0"/>
              <a:t>&gt;25 таблиц</a:t>
            </a:r>
            <a:r>
              <a:rPr lang="ru-RU" dirty="0"/>
              <a:t> с внешними ключами.</a:t>
            </a:r>
          </a:p>
          <a:p>
            <a:r>
              <a:rPr lang="ru-RU" dirty="0"/>
              <a:t>Реализовано </a:t>
            </a:r>
            <a:r>
              <a:rPr lang="ru-RU" b="1" dirty="0"/>
              <a:t>15 индексов</a:t>
            </a:r>
            <a:r>
              <a:rPr lang="ru-RU" dirty="0"/>
              <a:t> для оптимизации запросов.</a:t>
            </a:r>
          </a:p>
          <a:p>
            <a:r>
              <a:rPr lang="ru-RU" dirty="0"/>
              <a:t>Создано </a:t>
            </a:r>
            <a:r>
              <a:rPr lang="ru-RU" b="1" dirty="0"/>
              <a:t>7 триггеров</a:t>
            </a:r>
            <a:r>
              <a:rPr lang="ru-RU" dirty="0"/>
              <a:t> для автоматизации:</a:t>
            </a:r>
          </a:p>
          <a:p>
            <a:pPr lvl="1"/>
            <a:r>
              <a:rPr lang="ru-RU" dirty="0"/>
              <a:t>Генерация номера брони.</a:t>
            </a:r>
          </a:p>
          <a:p>
            <a:pPr lvl="1"/>
            <a:r>
              <a:rPr lang="ru-RU" dirty="0"/>
              <a:t>Создание задачи на уборку после выезда.</a:t>
            </a:r>
          </a:p>
          <a:p>
            <a:pPr lvl="1"/>
            <a:r>
              <a:rPr lang="ru-RU" dirty="0"/>
              <a:t>Обновление рейтингов.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0086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91B32-3DE2-4912-98A8-A34703F56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Задача 3. Интерфейс и безопасность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D36340-D9C3-4941-9CFF-A9FA18B2D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79564"/>
            <a:ext cx="8596668" cy="3880773"/>
          </a:xfrm>
        </p:spPr>
        <p:txBody>
          <a:bodyPr/>
          <a:lstStyle/>
          <a:p>
            <a:r>
              <a:rPr lang="ru-RU" b="1" dirty="0"/>
              <a:t>Результат: Веб-система с ролевой моделью доступа (RBAC).</a:t>
            </a:r>
            <a:endParaRPr lang="ru-RU" dirty="0"/>
          </a:p>
          <a:p>
            <a:r>
              <a:rPr lang="ru-RU" dirty="0"/>
              <a:t>Адаптивный интерфейс на </a:t>
            </a:r>
            <a:r>
              <a:rPr lang="ru-RU" b="1" dirty="0"/>
              <a:t>PHP + </a:t>
            </a:r>
            <a:r>
              <a:rPr lang="ru-RU" b="1" dirty="0" err="1"/>
              <a:t>Bootstrap</a:t>
            </a:r>
            <a:r>
              <a:rPr lang="ru-RU" dirty="0"/>
              <a:t>.</a:t>
            </a:r>
          </a:p>
          <a:p>
            <a:r>
              <a:rPr lang="ru-RU" b="1" dirty="0"/>
              <a:t>4 роли пользователей:</a:t>
            </a:r>
            <a:endParaRPr lang="ru-RU" dirty="0"/>
          </a:p>
          <a:p>
            <a:pPr lvl="1"/>
            <a:r>
              <a:rPr lang="ru-RU" i="1" dirty="0"/>
              <a:t>Админ</a:t>
            </a:r>
            <a:r>
              <a:rPr lang="ru-RU" dirty="0"/>
              <a:t>: полные права.</a:t>
            </a:r>
          </a:p>
          <a:p>
            <a:pPr lvl="1"/>
            <a:r>
              <a:rPr lang="ru-RU" i="1" dirty="0"/>
              <a:t>Менеджер</a:t>
            </a:r>
            <a:r>
              <a:rPr lang="ru-RU" dirty="0"/>
              <a:t>: объекты, брони, гости.</a:t>
            </a:r>
          </a:p>
          <a:p>
            <a:pPr lvl="1"/>
            <a:r>
              <a:rPr lang="ru-RU" i="1" dirty="0" err="1"/>
              <a:t>Клинер</a:t>
            </a:r>
            <a:r>
              <a:rPr lang="ru-RU" dirty="0"/>
              <a:t>: задачи на уборку.</a:t>
            </a:r>
          </a:p>
          <a:p>
            <a:pPr lvl="1"/>
            <a:r>
              <a:rPr lang="ru-RU" i="1" dirty="0"/>
              <a:t>Гость</a:t>
            </a:r>
            <a:r>
              <a:rPr lang="ru-RU" dirty="0"/>
              <a:t>: каталог, заявки.</a:t>
            </a:r>
          </a:p>
          <a:p>
            <a:r>
              <a:rPr lang="ru-RU" dirty="0"/>
              <a:t>Защита: хеширование паролей (</a:t>
            </a:r>
            <a:r>
              <a:rPr lang="ru-RU" dirty="0" err="1"/>
              <a:t>bcrypt</a:t>
            </a:r>
            <a:r>
              <a:rPr lang="ru-RU" dirty="0"/>
              <a:t>), подготовленные SQL-запросы.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030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D753D5-7DA7-4759-9CE1-7F1CAD922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Задача 4. Защита данных и интеграция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645A03-CB94-425A-95A8-60C9AC495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Результат 1: Стратегия резервного копирования.</a:t>
            </a:r>
            <a:endParaRPr lang="ru-RU" dirty="0"/>
          </a:p>
          <a:p>
            <a:pPr lvl="1"/>
            <a:r>
              <a:rPr lang="ru-RU" dirty="0"/>
              <a:t>Ежедневные полные бэкапы(</a:t>
            </a:r>
            <a:r>
              <a:rPr lang="en-US" dirty="0" err="1"/>
              <a:t>pg_dump</a:t>
            </a:r>
            <a:r>
              <a:rPr lang="en-US" dirty="0"/>
              <a:t>).</a:t>
            </a:r>
            <a:endParaRPr lang="ru-RU" dirty="0"/>
          </a:p>
          <a:p>
            <a:pPr lvl="1"/>
            <a:r>
              <a:rPr lang="ru-RU" dirty="0"/>
              <a:t>Непрерывная архивация WAL (восстановление на любую точку).</a:t>
            </a:r>
          </a:p>
          <a:p>
            <a:r>
              <a:rPr lang="ru-RU" b="1" dirty="0"/>
              <a:t>Результат 2: REST API для интеграции.</a:t>
            </a:r>
            <a:endParaRPr lang="ru-RU" dirty="0"/>
          </a:p>
          <a:p>
            <a:pPr lvl="1"/>
            <a:r>
              <a:rPr lang="en-US" dirty="0"/>
              <a:t>Endpoints: GET /properties, POST /bookings.</a:t>
            </a:r>
          </a:p>
          <a:p>
            <a:pPr lvl="1"/>
            <a:r>
              <a:rPr lang="ru-RU" dirty="0"/>
              <a:t>Позволяет подключить мобильное приложение, партнерские сайты.</a:t>
            </a:r>
          </a:p>
          <a:p>
            <a:pPr lvl="1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2545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E02A4-8C5C-4833-A7FE-D9366E87C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Задача 5. Тестирование и документация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08B391-6A98-48B1-9A12-3842C5010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Результат: Готовый к внедрению продукт.</a:t>
            </a:r>
            <a:endParaRPr lang="ru-RU" dirty="0"/>
          </a:p>
          <a:p>
            <a:r>
              <a:rPr lang="ru-RU" dirty="0"/>
              <a:t>Заполнение БД тестовыми данными (30+ записей).</a:t>
            </a:r>
          </a:p>
          <a:p>
            <a:r>
              <a:rPr lang="ru-RU" dirty="0"/>
              <a:t>Проверка связей, бизнес-правил, производительности.</a:t>
            </a:r>
          </a:p>
          <a:p>
            <a:r>
              <a:rPr lang="ru-RU" dirty="0"/>
              <a:t>Разработана документация:</a:t>
            </a:r>
          </a:p>
          <a:p>
            <a:pPr lvl="1"/>
            <a:r>
              <a:rPr lang="ru-RU" dirty="0"/>
              <a:t>Руководство пользователя (по ролям).</a:t>
            </a:r>
          </a:p>
          <a:p>
            <a:pPr lvl="1"/>
            <a:r>
              <a:rPr lang="ru-RU" dirty="0"/>
              <a:t>Руководство программиста (архитектура, API, развертывание).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9833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417922-B8D4-4974-BAB8-555B87BD0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Выводы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7136AF-3D39-40C9-A487-147C66411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03389"/>
            <a:ext cx="8596668" cy="3880773"/>
          </a:xfrm>
        </p:spPr>
        <p:txBody>
          <a:bodyPr/>
          <a:lstStyle/>
          <a:p>
            <a:r>
              <a:rPr lang="ru-RU" b="1" dirty="0"/>
              <a:t>Система успешно разработана</a:t>
            </a:r>
            <a:r>
              <a:rPr lang="ru-RU" dirty="0"/>
              <a:t> (БД, интерфейс, API, защита).</a:t>
            </a:r>
          </a:p>
          <a:p>
            <a:r>
              <a:rPr lang="ru-RU" b="1" dirty="0"/>
              <a:t>Обеспечивает централизацию и автоматизацию</a:t>
            </a:r>
            <a:r>
              <a:rPr lang="ru-RU" dirty="0"/>
              <a:t> ключевых процессов аренды.</a:t>
            </a:r>
          </a:p>
          <a:p>
            <a:r>
              <a:rPr lang="ru-RU" b="1" dirty="0"/>
              <a:t>Готова к промышленной эксплуатации</a:t>
            </a:r>
            <a:r>
              <a:rPr lang="ru-RU" dirty="0"/>
              <a:t> благодаря надежности, безопасности и документации.</a:t>
            </a:r>
          </a:p>
          <a:p>
            <a:r>
              <a:rPr lang="ru-RU" b="1" dirty="0"/>
              <a:t>Повышает эффективность</a:t>
            </a:r>
            <a:r>
              <a:rPr lang="ru-RU" dirty="0"/>
              <a:t> реального бизнеса, соответствуя современным требованиям.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0701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14CDEA-C391-47A6-AEF3-519918108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Спасибо за внимание!</a:t>
            </a: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46005FA-0A29-4622-A542-29D64FCFF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270000"/>
            <a:ext cx="4838700" cy="483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47073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</TotalTime>
  <Words>471</Words>
  <Application>Microsoft Office PowerPoint</Application>
  <PresentationFormat>Широкоэкранный</PresentationFormat>
  <Paragraphs>62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Аспект</vt:lpstr>
      <vt:lpstr>Тема: Разработка БД агентства по аренде квартир </vt:lpstr>
      <vt:lpstr>Цели, задачи, объект, предмет, методы</vt:lpstr>
      <vt:lpstr>Актуальность работы</vt:lpstr>
      <vt:lpstr>Задача 1. Анализ и проектирование</vt:lpstr>
      <vt:lpstr>Задача 2. Реализация БД в PostgreSQL</vt:lpstr>
      <vt:lpstr>Задача 3. Интерфейс и безопасность</vt:lpstr>
      <vt:lpstr>Задача 4. Защита данных и интеграция</vt:lpstr>
      <vt:lpstr>Задача 5. Тестирование и документация</vt:lpstr>
      <vt:lpstr>Выводы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 Разработка БД агентства по аренде квартир </dc:title>
  <dc:creator>Богдан</dc:creator>
  <cp:lastModifiedBy>Богдан</cp:lastModifiedBy>
  <cp:revision>2</cp:revision>
  <dcterms:created xsi:type="dcterms:W3CDTF">2025-12-17T18:41:44Z</dcterms:created>
  <dcterms:modified xsi:type="dcterms:W3CDTF">2025-12-17T19:03:36Z</dcterms:modified>
</cp:coreProperties>
</file>