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>
        <p:scale>
          <a:sx n="50" d="100"/>
          <a:sy n="50" d="100"/>
        </p:scale>
        <p:origin x="318" y="1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A342-BCC3-4E2C-A493-C01B81AC0893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F55EC-3D4D-4821-84C3-986A39251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053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A342-BCC3-4E2C-A493-C01B81AC0893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F55EC-3D4D-4821-84C3-986A39251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78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A342-BCC3-4E2C-A493-C01B81AC0893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F55EC-3D4D-4821-84C3-986A39251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497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A342-BCC3-4E2C-A493-C01B81AC0893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F55EC-3D4D-4821-84C3-986A39251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42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A342-BCC3-4E2C-A493-C01B81AC0893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F55EC-3D4D-4821-84C3-986A39251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999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A342-BCC3-4E2C-A493-C01B81AC0893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F55EC-3D4D-4821-84C3-986A39251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501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A342-BCC3-4E2C-A493-C01B81AC0893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F55EC-3D4D-4821-84C3-986A39251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225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A342-BCC3-4E2C-A493-C01B81AC0893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F55EC-3D4D-4821-84C3-986A39251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033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A342-BCC3-4E2C-A493-C01B81AC0893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F55EC-3D4D-4821-84C3-986A39251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171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A342-BCC3-4E2C-A493-C01B81AC0893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F55EC-3D4D-4821-84C3-986A39251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791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A342-BCC3-4E2C-A493-C01B81AC0893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F55EC-3D4D-4821-84C3-986A39251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33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3A342-BCC3-4E2C-A493-C01B81AC0893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F55EC-3D4D-4821-84C3-986A39251B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533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3251200"/>
          </a:xfrm>
        </p:spPr>
        <p:txBody>
          <a:bodyPr>
            <a:normAutofit/>
          </a:bodyPr>
          <a:lstStyle/>
          <a:p>
            <a:r>
              <a:rPr lang="ru-RU" sz="4400" b="1" dirty="0"/>
              <a:t>Министерство </a:t>
            </a:r>
            <a:r>
              <a:rPr lang="ru-RU" sz="4400" b="1" dirty="0" smtClean="0"/>
              <a:t>образования,</a:t>
            </a:r>
            <a:br>
              <a:rPr lang="ru-RU" sz="4400" b="1" dirty="0" smtClean="0"/>
            </a:br>
            <a:r>
              <a:rPr lang="ru-RU" sz="4400" b="1" dirty="0" smtClean="0"/>
              <a:t>науки </a:t>
            </a:r>
            <a:r>
              <a:rPr lang="ru-RU" sz="4400" b="1" dirty="0"/>
              <a:t>и молодежной политики Республики Коми</a:t>
            </a:r>
            <a:br>
              <a:rPr lang="ru-RU" sz="4400" b="1" dirty="0"/>
            </a:br>
            <a:r>
              <a:rPr lang="ru-RU" sz="4400" b="1" dirty="0"/>
              <a:t>ГПОУ "Сыктывкарский политехнический техникум"</a:t>
            </a:r>
            <a:br>
              <a:rPr lang="ru-RU" sz="4400" b="1" dirty="0"/>
            </a:br>
            <a:r>
              <a:rPr lang="ru-RU" sz="4400" b="1" dirty="0"/>
              <a:t>Курсовая работа</a:t>
            </a:r>
            <a:br>
              <a:rPr lang="ru-RU" sz="4400" b="1" dirty="0"/>
            </a:br>
            <a:r>
              <a:rPr lang="ru-RU" sz="4400" b="1" dirty="0"/>
              <a:t>Тема: База данных для </a:t>
            </a:r>
            <a:r>
              <a:rPr lang="ru-RU" sz="4400" b="1" dirty="0" smtClean="0"/>
              <a:t>фотостудии.</a:t>
            </a:r>
            <a:endParaRPr lang="ru-RU" sz="44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5842000"/>
            <a:ext cx="12192000" cy="1016000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/>
              <a:t>Выполнил студент 4 курса 414 группы Блинников А. Н.</a:t>
            </a:r>
          </a:p>
          <a:p>
            <a:pPr algn="l"/>
            <a:r>
              <a:rPr lang="ru-RU" sz="2800" b="1" dirty="0" smtClean="0"/>
              <a:t>Проверил </a:t>
            </a:r>
            <a:r>
              <a:rPr lang="ru-RU" sz="2800" b="1" dirty="0" err="1" smtClean="0"/>
              <a:t>Пунгин</a:t>
            </a:r>
            <a:r>
              <a:rPr lang="ru-RU" sz="2800" b="1" dirty="0" smtClean="0"/>
              <a:t> И. В.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29128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63600"/>
          </a:xfrm>
        </p:spPr>
        <p:txBody>
          <a:bodyPr>
            <a:normAutofit/>
          </a:bodyPr>
          <a:lstStyle/>
          <a:p>
            <a:r>
              <a:rPr lang="ru-RU" sz="4000" b="1" dirty="0"/>
              <a:t>Цели, задачи, объект, предмет, </a:t>
            </a:r>
            <a:r>
              <a:rPr lang="ru-RU" sz="4000" b="1" dirty="0" smtClean="0"/>
              <a:t>методы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63600"/>
            <a:ext cx="12192000" cy="5994399"/>
          </a:xfrm>
        </p:spPr>
        <p:txBody>
          <a:bodyPr>
            <a:normAutofit/>
          </a:bodyPr>
          <a:lstStyle/>
          <a:p>
            <a:r>
              <a:rPr lang="ru-RU" b="1" dirty="0"/>
              <a:t>Цель проекта: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Разработка интегрированной информационной системы для комплексной автоматизации операционной деятельности фотостудии, повышения точности учета и качества обслуживания</a:t>
            </a:r>
            <a:r>
              <a:rPr lang="ru-RU" dirty="0" smtClean="0"/>
              <a:t>.</a:t>
            </a:r>
          </a:p>
          <a:p>
            <a:r>
              <a:rPr lang="ru-RU" b="1" dirty="0"/>
              <a:t>Задачи:</a:t>
            </a:r>
            <a:endParaRPr lang="ru-RU" dirty="0"/>
          </a:p>
          <a:p>
            <a:r>
              <a:rPr lang="ru-RU" dirty="0"/>
              <a:t>Проанализировать бизнес-процессы фотостудии.</a:t>
            </a:r>
          </a:p>
          <a:p>
            <a:r>
              <a:rPr lang="ru-RU" dirty="0"/>
              <a:t>Спроектировать нормализованную реляционную базу </a:t>
            </a:r>
            <a:r>
              <a:rPr lang="ru-RU" dirty="0" smtClean="0"/>
              <a:t>данных.</a:t>
            </a:r>
            <a:endParaRPr lang="ru-RU" dirty="0"/>
          </a:p>
          <a:p>
            <a:r>
              <a:rPr lang="ru-RU" dirty="0"/>
              <a:t>Реализовать </a:t>
            </a:r>
            <a:r>
              <a:rPr lang="ru-RU" dirty="0" smtClean="0"/>
              <a:t>базу данных </a:t>
            </a:r>
            <a:r>
              <a:rPr lang="ru-RU" dirty="0"/>
              <a:t>в СУБД </a:t>
            </a:r>
            <a:r>
              <a:rPr lang="ru-RU" dirty="0" err="1"/>
              <a:t>PostgreSQL</a:t>
            </a:r>
            <a:r>
              <a:rPr lang="ru-RU" dirty="0"/>
              <a:t>.</a:t>
            </a:r>
          </a:p>
          <a:p>
            <a:r>
              <a:rPr lang="ru-RU" dirty="0"/>
              <a:t>Разработать клиентское приложение с графическим интерфейсом (</a:t>
            </a:r>
            <a:r>
              <a:rPr lang="ru-RU" dirty="0" err="1"/>
              <a:t>Python</a:t>
            </a:r>
            <a:r>
              <a:rPr lang="ru-RU" dirty="0"/>
              <a:t> + </a:t>
            </a:r>
            <a:r>
              <a:rPr lang="ru-RU" dirty="0" err="1"/>
              <a:t>PyQt</a:t>
            </a:r>
            <a:r>
              <a:rPr lang="ru-RU" dirty="0"/>
              <a:t>).</a:t>
            </a:r>
          </a:p>
          <a:p>
            <a:r>
              <a:rPr lang="ru-RU" dirty="0"/>
              <a:t>Внедрить систему ролевого доступа и обеспечить безопасность данных.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828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63600"/>
            <a:ext cx="12192000" cy="5994399"/>
          </a:xfrm>
        </p:spPr>
        <p:txBody>
          <a:bodyPr/>
          <a:lstStyle/>
          <a:p>
            <a:r>
              <a:rPr lang="ru-RU" b="1" dirty="0" smtClean="0"/>
              <a:t>Объект исследования:</a:t>
            </a:r>
            <a:r>
              <a:rPr lang="ru-RU" dirty="0" smtClean="0"/>
              <a:t> Процессы управления заказами, клиентами и услугами в фотостудии.</a:t>
            </a:r>
          </a:p>
          <a:p>
            <a:r>
              <a:rPr lang="ru-RU" b="1" dirty="0" smtClean="0"/>
              <a:t>Предмет исследования:</a:t>
            </a:r>
            <a:r>
              <a:rPr lang="ru-RU" dirty="0" smtClean="0"/>
              <a:t> Информационная система и база данных для автоматизации этих процессов.</a:t>
            </a:r>
          </a:p>
          <a:p>
            <a:r>
              <a:rPr lang="ru-RU" b="1" dirty="0"/>
              <a:t>Методы: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- Теоретические</a:t>
            </a:r>
            <a:r>
              <a:rPr lang="ru-RU" dirty="0"/>
              <a:t>: анализ предметной области, моделирование (ER-диаграммы).</a:t>
            </a:r>
          </a:p>
          <a:p>
            <a:pPr marL="0" indent="0">
              <a:buNone/>
            </a:pPr>
            <a:r>
              <a:rPr lang="ru-RU" dirty="0" smtClean="0"/>
              <a:t>- Практические</a:t>
            </a:r>
            <a:r>
              <a:rPr lang="ru-RU" dirty="0"/>
              <a:t>: проектирование БД (нормализация), программирование (</a:t>
            </a:r>
            <a:r>
              <a:rPr lang="ru-RU" dirty="0" err="1"/>
              <a:t>Python</a:t>
            </a:r>
            <a:r>
              <a:rPr lang="ru-RU" dirty="0"/>
              <a:t>, SQL), тестирование.</a:t>
            </a:r>
          </a:p>
          <a:p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0" y="1"/>
            <a:ext cx="12192000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dirty="0" smtClean="0"/>
              <a:t>Цели, задачи, объект, предмет, методы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560120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63600"/>
            <a:ext cx="12192000" cy="5994399"/>
          </a:xfrm>
        </p:spPr>
        <p:txBody>
          <a:bodyPr>
            <a:normAutofit/>
          </a:bodyPr>
          <a:lstStyle/>
          <a:p>
            <a:r>
              <a:rPr lang="ru-RU" b="1" dirty="0"/>
              <a:t>Проблемы ручного учета в фотостудии:</a:t>
            </a:r>
            <a:endParaRPr lang="ru-RU" dirty="0"/>
          </a:p>
          <a:p>
            <a:r>
              <a:rPr lang="ru-RU" dirty="0"/>
              <a:t>Дублирование и потеря данных в бумажных журналах и </a:t>
            </a:r>
            <a:r>
              <a:rPr lang="ru-RU" dirty="0" err="1"/>
              <a:t>Excel</a:t>
            </a:r>
            <a:r>
              <a:rPr lang="ru-RU" dirty="0"/>
              <a:t>.</a:t>
            </a:r>
          </a:p>
          <a:p>
            <a:r>
              <a:rPr lang="ru-RU" dirty="0"/>
              <a:t>Ошибки в ручных расчетах стоимости заказов.</a:t>
            </a:r>
          </a:p>
          <a:p>
            <a:r>
              <a:rPr lang="ru-RU" dirty="0"/>
              <a:t>Отсутствие единой клиентской базы для анализа и маркетинга.</a:t>
            </a:r>
          </a:p>
          <a:p>
            <a:r>
              <a:rPr lang="ru-RU" dirty="0"/>
              <a:t>Сложность формирования отчетов для управленческих решений.</a:t>
            </a:r>
          </a:p>
          <a:p>
            <a:r>
              <a:rPr lang="ru-RU" dirty="0"/>
              <a:t>Отсутствие контроля доступа к коммерческой информации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b="1" dirty="0"/>
              <a:t>Актуальность:</a:t>
            </a:r>
            <a:r>
              <a:rPr lang="ru-RU" dirty="0"/>
              <a:t> Разрабатываемая система решает эти проблемы, переводя бизнес на цифровой уровень, что является требованием времени для повышения конкурентоспособности любого малого </a:t>
            </a:r>
            <a:r>
              <a:rPr lang="ru-RU" dirty="0" smtClean="0"/>
              <a:t>предприятия, включая </a:t>
            </a:r>
            <a:r>
              <a:rPr lang="ru-RU" dirty="0"/>
              <a:t>фотостудии.</a:t>
            </a:r>
          </a:p>
          <a:p>
            <a:endParaRPr lang="ru-RU" dirty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0" y="1"/>
            <a:ext cx="12192000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Актуальность работы</a:t>
            </a:r>
          </a:p>
        </p:txBody>
      </p:sp>
    </p:spTree>
    <p:extLst>
      <p:ext uri="{BB962C8B-B14F-4D97-AF65-F5344CB8AC3E}">
        <p14:creationId xmlns:p14="http://schemas.microsoft.com/office/powerpoint/2010/main" val="130062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9836" y="863600"/>
            <a:ext cx="5029200" cy="5994399"/>
          </a:xfrm>
        </p:spPr>
        <p:txBody>
          <a:bodyPr>
            <a:normAutofit fontScale="92500"/>
          </a:bodyPr>
          <a:lstStyle/>
          <a:p>
            <a:r>
              <a:rPr lang="ru-RU" b="1" dirty="0"/>
              <a:t>Задача 1: Проанализировать и формализовать бизнес-процессы фотостудии.</a:t>
            </a:r>
            <a:endParaRPr lang="ru-RU" dirty="0"/>
          </a:p>
          <a:p>
            <a:r>
              <a:rPr lang="ru-RU" b="1" dirty="0"/>
              <a:t>Результат: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 - Определены </a:t>
            </a:r>
            <a:r>
              <a:rPr lang="ru-RU" dirty="0"/>
              <a:t>ключевые сущности: Клиент, Заказ, Услуга, Сотрудник.</a:t>
            </a:r>
          </a:p>
          <a:p>
            <a:pPr marL="0" indent="0">
              <a:buNone/>
            </a:pPr>
            <a:r>
              <a:rPr lang="ru-RU" dirty="0" smtClean="0"/>
              <a:t> - Составлены </a:t>
            </a:r>
            <a:r>
              <a:rPr lang="ru-RU" dirty="0"/>
              <a:t>перечни входных (данные о клиентах, услугах, заказах) и выходных данных (чеки, отчеты).</a:t>
            </a:r>
          </a:p>
          <a:p>
            <a:pPr marL="0" indent="0">
              <a:buNone/>
            </a:pPr>
            <a:r>
              <a:rPr lang="ru-RU" dirty="0" smtClean="0"/>
              <a:t>- Построена</a:t>
            </a:r>
            <a:r>
              <a:rPr lang="ru-RU" dirty="0"/>
              <a:t> </a:t>
            </a:r>
            <a:r>
              <a:rPr lang="ru-RU" b="1" dirty="0"/>
              <a:t>концептуальная (инфологическая) модель</a:t>
            </a:r>
            <a:r>
              <a:rPr lang="ru-RU" dirty="0"/>
              <a:t> в виде ER-диаграммы, отображающая связи между сущностями.</a:t>
            </a:r>
          </a:p>
          <a:p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0" y="1"/>
            <a:ext cx="12192000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 smtClean="0"/>
              <a:t>Задача </a:t>
            </a:r>
            <a:r>
              <a:rPr lang="ru-RU" b="1" dirty="0" smtClean="0"/>
              <a:t>(1/5)</a:t>
            </a:r>
            <a:r>
              <a:rPr lang="ru-RU" b="1" dirty="0" smtClean="0"/>
              <a:t>                        →            Результат</a:t>
            </a:r>
            <a:endParaRPr lang="ru-RU" b="1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38473" t="16872" r="33194" b="8724"/>
          <a:stretch/>
        </p:blipFill>
        <p:spPr>
          <a:xfrm>
            <a:off x="7053789" y="846363"/>
            <a:ext cx="3923457" cy="579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73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863600"/>
            <a:ext cx="5994400" cy="5994400"/>
          </a:xfrm>
        </p:spPr>
        <p:txBody>
          <a:bodyPr>
            <a:normAutofit/>
          </a:bodyPr>
          <a:lstStyle/>
          <a:p>
            <a:r>
              <a:rPr lang="ru-RU" b="1" dirty="0"/>
              <a:t>Задача 2: Спроектировать логическую и физическую структуру БД.</a:t>
            </a:r>
            <a:endParaRPr lang="ru-RU" dirty="0"/>
          </a:p>
          <a:p>
            <a:r>
              <a:rPr lang="ru-RU" b="1" dirty="0"/>
              <a:t>Результат:</a:t>
            </a:r>
            <a:endParaRPr lang="ru-RU" dirty="0"/>
          </a:p>
          <a:p>
            <a:r>
              <a:rPr lang="ru-RU" dirty="0"/>
              <a:t>Разработана </a:t>
            </a:r>
            <a:r>
              <a:rPr lang="ru-RU" b="1" dirty="0"/>
              <a:t>логическая модель</a:t>
            </a:r>
            <a:r>
              <a:rPr lang="ru-RU" dirty="0"/>
              <a:t> (набор таблиц, атрибутов и связей), приведенная к 3-й нормальной форме для исключения избыточности.</a:t>
            </a:r>
          </a:p>
          <a:p>
            <a:r>
              <a:rPr lang="ru-RU" dirty="0"/>
              <a:t>Выбрана и обоснована </a:t>
            </a:r>
            <a:r>
              <a:rPr lang="ru-RU" b="1" dirty="0"/>
              <a:t>СУБД </a:t>
            </a:r>
            <a:r>
              <a:rPr lang="ru-RU" b="1" dirty="0" err="1"/>
              <a:t>PostgreSQL</a:t>
            </a:r>
            <a:r>
              <a:rPr lang="ru-RU" dirty="0"/>
              <a:t> (надежность, безопасность, открытая лицензия).</a:t>
            </a:r>
          </a:p>
          <a:p>
            <a:r>
              <a:rPr lang="ru-RU" dirty="0"/>
              <a:t>Определена </a:t>
            </a:r>
            <a:r>
              <a:rPr lang="ru-RU" b="1" dirty="0"/>
              <a:t>физическая структура</a:t>
            </a:r>
            <a:r>
              <a:rPr lang="ru-RU" dirty="0"/>
              <a:t>: типы </a:t>
            </a:r>
            <a:r>
              <a:rPr lang="ru-RU" dirty="0" smtClean="0"/>
              <a:t>данных.</a:t>
            </a:r>
            <a:endParaRPr lang="ru-RU" dirty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 smtClean="0"/>
              <a:t>Задача </a:t>
            </a:r>
            <a:r>
              <a:rPr lang="ru-RU" b="1" dirty="0" smtClean="0"/>
              <a:t>(2/5)</a:t>
            </a:r>
            <a:r>
              <a:rPr lang="ru-RU" b="1" dirty="0" smtClean="0"/>
              <a:t>                        →            Результат</a:t>
            </a:r>
            <a:endParaRPr lang="ru-RU" b="1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32635" t="47120" r="18333" b="9918"/>
          <a:stretch/>
        </p:blipFill>
        <p:spPr>
          <a:xfrm>
            <a:off x="6361867" y="863600"/>
            <a:ext cx="5462666" cy="26924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/>
          <a:srcRect l="34769" t="35184" r="22211" b="21761"/>
          <a:stretch/>
        </p:blipFill>
        <p:spPr>
          <a:xfrm>
            <a:off x="6361867" y="3610049"/>
            <a:ext cx="5462666" cy="307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947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0" y="863600"/>
            <a:ext cx="5905500" cy="5994400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Задача 3: Реализовать базу данных в среде </a:t>
            </a:r>
            <a:r>
              <a:rPr lang="ru-RU" b="1" dirty="0" err="1"/>
              <a:t>PostgreSQL</a:t>
            </a:r>
            <a:r>
              <a:rPr lang="ru-RU" b="1" dirty="0" smtClean="0"/>
              <a:t>.</a:t>
            </a:r>
          </a:p>
          <a:p>
            <a:r>
              <a:rPr lang="ru-RU" b="1" dirty="0"/>
              <a:t>Результат</a:t>
            </a:r>
            <a:r>
              <a:rPr lang="ru-RU" b="1" dirty="0" smtClean="0"/>
              <a:t>:</a:t>
            </a:r>
          </a:p>
          <a:p>
            <a:pPr marL="0" indent="0">
              <a:buNone/>
            </a:pPr>
            <a:r>
              <a:rPr lang="ru-RU" dirty="0" smtClean="0"/>
              <a:t>- Созданы все таблицы (и др.) с помощью SQL-скриптов.</a:t>
            </a:r>
          </a:p>
          <a:p>
            <a:pPr marL="0" indent="0">
              <a:buNone/>
            </a:pPr>
            <a:r>
              <a:rPr lang="ru-RU" dirty="0" smtClean="0"/>
              <a:t>- Настроены </a:t>
            </a:r>
            <a:r>
              <a:rPr lang="ru-RU" dirty="0"/>
              <a:t>связи через внешние ключи для обеспечения целостности данных.</a:t>
            </a:r>
          </a:p>
          <a:p>
            <a:pPr marL="0" indent="0">
              <a:buNone/>
            </a:pPr>
            <a:r>
              <a:rPr lang="ru-RU" dirty="0" smtClean="0"/>
              <a:t>- Реализованы</a:t>
            </a:r>
            <a:r>
              <a:rPr lang="ru-RU" dirty="0"/>
              <a:t> </a:t>
            </a:r>
            <a:r>
              <a:rPr lang="ru-RU" b="1" dirty="0"/>
              <a:t>ключевые SQL-запросы</a:t>
            </a:r>
            <a:r>
              <a:rPr lang="ru-RU" dirty="0"/>
              <a:t>: оформление заказа, формирование ежедневного отчета, анализ популярности услуг.</a:t>
            </a:r>
          </a:p>
          <a:p>
            <a:pPr marL="0" indent="0">
              <a:buNone/>
            </a:pPr>
            <a:r>
              <a:rPr lang="ru-RU" dirty="0" smtClean="0"/>
              <a:t>- Созданы</a:t>
            </a:r>
            <a:r>
              <a:rPr lang="ru-RU" dirty="0"/>
              <a:t> </a:t>
            </a:r>
            <a:r>
              <a:rPr lang="ru-RU" b="1" dirty="0"/>
              <a:t>роли пользователей</a:t>
            </a:r>
            <a:r>
              <a:rPr lang="ru-RU" dirty="0"/>
              <a:t> (</a:t>
            </a:r>
            <a:r>
              <a:rPr lang="ru-RU" dirty="0" err="1"/>
              <a:t>worker</a:t>
            </a:r>
            <a:r>
              <a:rPr lang="ru-RU" dirty="0"/>
              <a:t>, </a:t>
            </a:r>
            <a:r>
              <a:rPr lang="ru-RU" dirty="0" err="1"/>
              <a:t>accountant</a:t>
            </a:r>
            <a:r>
              <a:rPr lang="ru-RU" dirty="0"/>
              <a:t>, </a:t>
            </a:r>
            <a:r>
              <a:rPr lang="ru-RU" dirty="0" err="1"/>
              <a:t>admin</a:t>
            </a:r>
            <a:r>
              <a:rPr lang="ru-RU" dirty="0"/>
              <a:t>, </a:t>
            </a:r>
            <a:r>
              <a:rPr lang="ru-RU" dirty="0" err="1"/>
              <a:t>owner</a:t>
            </a:r>
            <a:r>
              <a:rPr lang="ru-RU" dirty="0"/>
              <a:t>) с разными правами доступа (</a:t>
            </a:r>
            <a:r>
              <a:rPr lang="ru-RU" dirty="0" smtClean="0"/>
              <a:t>GRANT).</a:t>
            </a:r>
            <a:endParaRPr lang="ru-RU" dirty="0"/>
          </a:p>
          <a:p>
            <a:endParaRPr lang="ru-RU" dirty="0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 smtClean="0"/>
              <a:t>Задача </a:t>
            </a:r>
            <a:r>
              <a:rPr lang="ru-RU" b="1" dirty="0" smtClean="0"/>
              <a:t>(3/5)</a:t>
            </a:r>
            <a:r>
              <a:rPr lang="ru-RU" b="1" dirty="0" smtClean="0"/>
              <a:t>                        →            Результат</a:t>
            </a:r>
            <a:endParaRPr lang="ru-RU" b="1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2"/>
          <a:srcRect l="21344" t="34074" r="21236" b="11362"/>
          <a:stretch/>
        </p:blipFill>
        <p:spPr>
          <a:xfrm>
            <a:off x="6152243" y="863600"/>
            <a:ext cx="5793014" cy="292735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3"/>
          <a:srcRect l="21666" t="61852" r="32084" b="3704"/>
          <a:stretch/>
        </p:blipFill>
        <p:spPr>
          <a:xfrm>
            <a:off x="6124559" y="3860800"/>
            <a:ext cx="5820697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256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63600"/>
            <a:ext cx="6096000" cy="5994400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Задача 4: Разработать клиентское приложение с графическим интерфейсом.</a:t>
            </a:r>
            <a:endParaRPr lang="ru-RU" dirty="0"/>
          </a:p>
          <a:p>
            <a:r>
              <a:rPr lang="ru-RU" b="1" dirty="0"/>
              <a:t>Результат: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- Создано приложение </a:t>
            </a:r>
            <a:r>
              <a:rPr lang="ru-RU" dirty="0"/>
              <a:t>на </a:t>
            </a:r>
            <a:r>
              <a:rPr lang="ru-RU" b="1" dirty="0" err="1"/>
              <a:t>Python</a:t>
            </a:r>
            <a:r>
              <a:rPr lang="ru-RU" dirty="0"/>
              <a:t> с использованием библиотеки </a:t>
            </a:r>
            <a:r>
              <a:rPr lang="ru-RU" b="1" dirty="0"/>
              <a:t>PyQt6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 smtClean="0"/>
              <a:t>- Реализован </a:t>
            </a:r>
            <a:r>
              <a:rPr lang="ru-RU" dirty="0"/>
              <a:t>интуитивно понятный интерфейс с окнами:</a:t>
            </a:r>
          </a:p>
          <a:p>
            <a:pPr lvl="1"/>
            <a:r>
              <a:rPr lang="ru-RU" dirty="0"/>
              <a:t>Авторизация.</a:t>
            </a:r>
          </a:p>
          <a:p>
            <a:pPr lvl="1"/>
            <a:r>
              <a:rPr lang="ru-RU" dirty="0"/>
              <a:t>Главное меню с вкладками (Клиенты, Заказы, Услуги, Отчеты).</a:t>
            </a:r>
          </a:p>
          <a:p>
            <a:pPr lvl="1"/>
            <a:r>
              <a:rPr lang="ru-RU" dirty="0"/>
              <a:t>Диалоги оформления заказа с "корзиной" услуг.</a:t>
            </a:r>
          </a:p>
          <a:p>
            <a:pPr lvl="1"/>
            <a:r>
              <a:rPr lang="ru-RU" dirty="0"/>
              <a:t>Формирование и </a:t>
            </a:r>
            <a:r>
              <a:rPr lang="ru-RU" dirty="0" err="1"/>
              <a:t>предпросмотр</a:t>
            </a:r>
            <a:r>
              <a:rPr lang="ru-RU" dirty="0"/>
              <a:t> чека.</a:t>
            </a:r>
          </a:p>
          <a:p>
            <a:pPr marL="0" indent="0">
              <a:buNone/>
            </a:pPr>
            <a:r>
              <a:rPr lang="ru-RU" dirty="0" smtClean="0"/>
              <a:t>- Приложение </a:t>
            </a:r>
            <a:r>
              <a:rPr lang="ru-RU" dirty="0"/>
              <a:t>надежно взаимодействует с БД через драйвер </a:t>
            </a:r>
            <a:r>
              <a:rPr lang="ru-RU" b="1" dirty="0"/>
              <a:t>psycopg2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 smtClean="0"/>
              <a:t>Задача </a:t>
            </a:r>
            <a:r>
              <a:rPr lang="ru-RU" b="1" dirty="0" smtClean="0"/>
              <a:t>(4/5)</a:t>
            </a:r>
            <a:r>
              <a:rPr lang="ru-RU" b="1" dirty="0" smtClean="0"/>
              <a:t>                        →            Результат</a:t>
            </a:r>
            <a:endParaRPr lang="ru-RU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17647" t="19815" r="50380" b="14074"/>
          <a:stretch/>
        </p:blipFill>
        <p:spPr>
          <a:xfrm>
            <a:off x="6634163" y="863600"/>
            <a:ext cx="5019674" cy="583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72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 smtClean="0"/>
              <a:t>Результат (4</a:t>
            </a:r>
            <a:r>
              <a:rPr lang="en-US" b="1" dirty="0" smtClean="0"/>
              <a:t>/</a:t>
            </a:r>
            <a:r>
              <a:rPr lang="ru-RU" b="1" dirty="0" smtClean="0"/>
              <a:t>5)</a:t>
            </a:r>
            <a:endParaRPr lang="ru-RU" b="1" dirty="0"/>
          </a:p>
        </p:txBody>
      </p:sp>
      <p:pic>
        <p:nvPicPr>
          <p:cNvPr id="7" name="Picture 2" descr="imag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54686"/>
            <a:ext cx="3085681" cy="3103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02077"/>
            <a:ext cx="3085683" cy="3014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5681" y="802077"/>
            <a:ext cx="3084731" cy="3014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5681" y="3754686"/>
            <a:ext cx="3084731" cy="3103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mag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412" y="802077"/>
            <a:ext cx="5926667" cy="3014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mag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412" y="3816209"/>
            <a:ext cx="5926667" cy="3041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906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63600"/>
            <a:ext cx="5715000" cy="5994399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Задача 5: Обеспечить безопасность и формирование отчетности.</a:t>
            </a:r>
            <a:endParaRPr lang="ru-RU" dirty="0"/>
          </a:p>
          <a:p>
            <a:r>
              <a:rPr lang="ru-RU" b="1" dirty="0"/>
              <a:t>Результат: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- Внедрена</a:t>
            </a:r>
            <a:r>
              <a:rPr lang="ru-RU" dirty="0"/>
              <a:t> </a:t>
            </a:r>
            <a:r>
              <a:rPr lang="ru-RU" b="1" dirty="0"/>
              <a:t>ролевая модель доступа (RBAC)</a:t>
            </a:r>
            <a:r>
              <a:rPr lang="ru-RU" dirty="0"/>
              <a:t>: работник, бухгалтер, администратор, владелец имеют разные права на просмотр и изменение данных.</a:t>
            </a:r>
          </a:p>
          <a:p>
            <a:pPr marL="0" indent="0">
              <a:buNone/>
            </a:pPr>
            <a:r>
              <a:rPr lang="ru-RU" dirty="0" smtClean="0"/>
              <a:t>- Пароли </a:t>
            </a:r>
            <a:r>
              <a:rPr lang="ru-RU" dirty="0"/>
              <a:t>хранятся в виде </a:t>
            </a:r>
            <a:r>
              <a:rPr lang="ru-RU" b="1" dirty="0" err="1" smtClean="0"/>
              <a:t>хэш</a:t>
            </a:r>
            <a:r>
              <a:rPr lang="ru-RU" b="1" dirty="0" smtClean="0"/>
              <a:t>-данных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- Реализован</a:t>
            </a:r>
            <a:r>
              <a:rPr lang="ru-RU" dirty="0"/>
              <a:t> </a:t>
            </a:r>
            <a:r>
              <a:rPr lang="ru-RU" b="1" dirty="0"/>
              <a:t>механизм отчетов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Ежедневный отчет по продажам.</a:t>
            </a:r>
          </a:p>
          <a:p>
            <a:pPr lvl="1"/>
            <a:r>
              <a:rPr lang="ru-RU" dirty="0"/>
              <a:t>Финансовый отчет за произвольный период.</a:t>
            </a:r>
          </a:p>
          <a:p>
            <a:pPr lvl="1"/>
            <a:r>
              <a:rPr lang="ru-RU" dirty="0"/>
              <a:t>Аналитическая статистика (топ услуг, топ клиентов).</a:t>
            </a:r>
          </a:p>
          <a:p>
            <a:pPr lvl="1"/>
            <a:r>
              <a:rPr lang="ru-RU" dirty="0"/>
              <a:t>Экспорт отчетов в форматы </a:t>
            </a:r>
            <a:r>
              <a:rPr lang="ru-RU" b="1" dirty="0"/>
              <a:t>CSV и </a:t>
            </a:r>
            <a:r>
              <a:rPr lang="ru-RU" b="1" dirty="0" err="1"/>
              <a:t>Excel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0" y="1"/>
            <a:ext cx="12192000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 smtClean="0"/>
              <a:t>Задача </a:t>
            </a:r>
            <a:r>
              <a:rPr lang="ru-RU" b="1" dirty="0" smtClean="0"/>
              <a:t>(5/5)</a:t>
            </a:r>
            <a:r>
              <a:rPr lang="ru-RU" b="1" dirty="0" smtClean="0"/>
              <a:t>                        →            Результат</a:t>
            </a:r>
            <a:endParaRPr lang="ru-RU" b="1" dirty="0"/>
          </a:p>
        </p:txBody>
      </p:sp>
      <p:pic>
        <p:nvPicPr>
          <p:cNvPr id="4100" name="Picture 4" descr="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356" y="863600"/>
            <a:ext cx="5102778" cy="287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356" y="3733913"/>
            <a:ext cx="5102778" cy="287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543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0" y="1"/>
            <a:ext cx="12192000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 smtClean="0"/>
              <a:t>Результат (5</a:t>
            </a:r>
            <a:r>
              <a:rPr lang="en-US" b="1" dirty="0" smtClean="0"/>
              <a:t>/</a:t>
            </a:r>
            <a:r>
              <a:rPr lang="ru-RU" b="1" dirty="0" smtClean="0"/>
              <a:t>5)</a:t>
            </a:r>
            <a:endParaRPr lang="ru-RU" b="1" dirty="0"/>
          </a:p>
        </p:txBody>
      </p:sp>
      <p:pic>
        <p:nvPicPr>
          <p:cNvPr id="5128" name="Picture 8" descr="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1"/>
          <a:stretch/>
        </p:blipFill>
        <p:spPr bwMode="auto">
          <a:xfrm>
            <a:off x="809625" y="1304924"/>
            <a:ext cx="3676650" cy="464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699" y="1950229"/>
            <a:ext cx="5889625" cy="3312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550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63600"/>
            <a:ext cx="12192000" cy="5994399"/>
          </a:xfrm>
        </p:spPr>
        <p:txBody>
          <a:bodyPr>
            <a:normAutofit/>
          </a:bodyPr>
          <a:lstStyle/>
          <a:p>
            <a:r>
              <a:rPr lang="ru-RU" b="1" dirty="0"/>
              <a:t>Цель достигнута:</a:t>
            </a:r>
            <a:r>
              <a:rPr lang="ru-RU" dirty="0"/>
              <a:t> Создана полнофункциональная информационная система для фотостудии, готовая к внедрению.</a:t>
            </a:r>
          </a:p>
          <a:p>
            <a:r>
              <a:rPr lang="ru-RU" b="1" dirty="0"/>
              <a:t>Все задачи решены:</a:t>
            </a:r>
            <a:r>
              <a:rPr lang="ru-RU" dirty="0"/>
              <a:t> От анализа до рабочего прототипа, включая БД, приложение и безопасность.</a:t>
            </a:r>
          </a:p>
          <a:p>
            <a:r>
              <a:rPr lang="ru-RU" b="1" dirty="0"/>
              <a:t>Практическая значимость:</a:t>
            </a:r>
            <a:r>
              <a:rPr lang="ru-RU" dirty="0"/>
              <a:t> Система автоматизирует ключевые процессы, минимизирует ошибки, предоставляет инструменты для анализа бизнеса и повышает качество обслуживания клиентов.</a:t>
            </a:r>
          </a:p>
          <a:p>
            <a:r>
              <a:rPr lang="ru-RU" b="1" dirty="0"/>
              <a:t>Технологическая </a:t>
            </a:r>
            <a:r>
              <a:rPr lang="ru-RU" b="1" dirty="0" err="1" smtClean="0"/>
              <a:t>стэк</a:t>
            </a:r>
            <a:r>
              <a:rPr lang="ru-RU" b="1" dirty="0" smtClean="0"/>
              <a:t> (</a:t>
            </a:r>
            <a:r>
              <a:rPr lang="en-US" b="1" dirty="0" smtClean="0"/>
              <a:t>stack)</a:t>
            </a:r>
            <a:r>
              <a:rPr lang="ru-RU" b="1" dirty="0" smtClean="0"/>
              <a:t>:</a:t>
            </a:r>
            <a:r>
              <a:rPr lang="ru-RU" dirty="0"/>
              <a:t> Использованы современные и востребованные технологии: </a:t>
            </a:r>
            <a:r>
              <a:rPr lang="ru-RU" b="1" dirty="0" err="1"/>
              <a:t>PostgreSQL</a:t>
            </a:r>
            <a:r>
              <a:rPr lang="ru-RU" b="1" dirty="0"/>
              <a:t>, </a:t>
            </a:r>
            <a:r>
              <a:rPr lang="ru-RU" b="1" dirty="0" err="1"/>
              <a:t>Python</a:t>
            </a:r>
            <a:r>
              <a:rPr lang="ru-RU" b="1" dirty="0"/>
              <a:t>, </a:t>
            </a:r>
            <a:r>
              <a:rPr lang="ru-RU" b="1" dirty="0" err="1"/>
              <a:t>PyQt</a:t>
            </a:r>
            <a:r>
              <a:rPr lang="ru-RU" b="1" dirty="0"/>
              <a:t>, SQL</a:t>
            </a:r>
            <a:r>
              <a:rPr lang="ru-RU" dirty="0"/>
              <a:t>.</a:t>
            </a:r>
          </a:p>
          <a:p>
            <a:r>
              <a:rPr lang="ru-RU" b="1" dirty="0"/>
              <a:t>Перспективы развития:</a:t>
            </a:r>
            <a:r>
              <a:rPr lang="ru-RU" dirty="0"/>
              <a:t> Система имеет модульную архитектуру и может быть расширена (онлайн-запись, интеграция с платежными системами, личный кабинет клиента).</a:t>
            </a:r>
          </a:p>
          <a:p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0" y="1"/>
            <a:ext cx="12192000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Выводы по работе</a:t>
            </a:r>
          </a:p>
        </p:txBody>
      </p:sp>
    </p:spTree>
    <p:extLst>
      <p:ext uri="{BB962C8B-B14F-4D97-AF65-F5344CB8AC3E}">
        <p14:creationId xmlns:p14="http://schemas.microsoft.com/office/powerpoint/2010/main" val="2339703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63601"/>
            <a:ext cx="12192000" cy="5994399"/>
          </a:xfrm>
        </p:spPr>
        <p:txBody>
          <a:bodyPr>
            <a:normAutofit/>
          </a:bodyPr>
          <a:lstStyle/>
          <a:p>
            <a:r>
              <a:rPr lang="ru-RU" sz="3600" dirty="0"/>
              <a:t>Разработанный проект демонстрирует комплексное применение знаний в области проектирования </a:t>
            </a:r>
            <a:r>
              <a:rPr lang="ru-RU" sz="3600" dirty="0" smtClean="0"/>
              <a:t>БД</a:t>
            </a:r>
            <a:r>
              <a:rPr lang="en-US" sz="3600" dirty="0" smtClean="0"/>
              <a:t>, </a:t>
            </a:r>
            <a:r>
              <a:rPr lang="ru-RU" sz="3600" dirty="0" smtClean="0"/>
              <a:t>разработки </a:t>
            </a:r>
            <a:r>
              <a:rPr lang="ru-RU" sz="3600" dirty="0"/>
              <a:t>и обеспечения информационной безопасности, что соответствует компетенциям специальности 09.02.07</a:t>
            </a:r>
            <a:r>
              <a:rPr lang="ru-RU" sz="3600" dirty="0" smtClean="0"/>
              <a:t>.</a:t>
            </a:r>
          </a:p>
          <a:p>
            <a:r>
              <a:rPr lang="ru-RU" sz="3600" dirty="0" smtClean="0"/>
              <a:t>Полный код программы</a:t>
            </a:r>
            <a:r>
              <a:rPr lang="en-US" sz="3600" dirty="0" smtClean="0"/>
              <a:t>, </a:t>
            </a:r>
            <a:r>
              <a:rPr lang="ru-RU" sz="3600" dirty="0" smtClean="0"/>
              <a:t>структуру базы данных и функционал приложения можно увидеть на ресурсе </a:t>
            </a:r>
            <a:r>
              <a:rPr lang="en-US" sz="3600" dirty="0" smtClean="0"/>
              <a:t>GitHub </a:t>
            </a:r>
            <a:r>
              <a:rPr lang="ru-RU" sz="3600" dirty="0" smtClean="0"/>
              <a:t>по ссылке</a:t>
            </a:r>
            <a:r>
              <a:rPr lang="en-US" sz="3600" dirty="0" smtClean="0"/>
              <a:t>: </a:t>
            </a:r>
            <a:r>
              <a:rPr lang="en-US" sz="3600" b="1" dirty="0" smtClean="0"/>
              <a:t>https://github.com/ait-ester/subd-kursach-414/tree/main/Blinnikov</a:t>
            </a:r>
            <a:endParaRPr lang="ru-RU" sz="3600" b="1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0" y="1"/>
            <a:ext cx="12192000" cy="8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3422357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r>
              <a:rPr lang="ru-RU" sz="8800" b="1" dirty="0" smtClean="0"/>
              <a:t>Спасибо за внимание!</a:t>
            </a:r>
            <a:endParaRPr lang="ru-RU" sz="8800" b="1" dirty="0"/>
          </a:p>
        </p:txBody>
      </p:sp>
    </p:spTree>
    <p:extLst>
      <p:ext uri="{BB962C8B-B14F-4D97-AF65-F5344CB8AC3E}">
        <p14:creationId xmlns:p14="http://schemas.microsoft.com/office/powerpoint/2010/main" val="5728791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319</Words>
  <Application>Microsoft Office PowerPoint</Application>
  <PresentationFormat>Широкоэкранный</PresentationFormat>
  <Paragraphs>77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Министерство образования, науки и молодежной политики Республики Коми ГПОУ "Сыктывкарский политехнический техникум" Курсовая работа Тема: База данных для фотостудии.</vt:lpstr>
      <vt:lpstr>Цели, задачи, объект, предмет, методы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образования, науки и молодежной политики Республики Коми ГПОУ "Сыктывкарский политехнический техникум" Курсовая работа Тема: База данных для фотостудии.</dc:title>
  <dc:creator>overm1nd</dc:creator>
  <cp:lastModifiedBy>overm1nd</cp:lastModifiedBy>
  <cp:revision>5</cp:revision>
  <dcterms:created xsi:type="dcterms:W3CDTF">2025-12-17T14:07:21Z</dcterms:created>
  <dcterms:modified xsi:type="dcterms:W3CDTF">2025-12-17T14:38:46Z</dcterms:modified>
</cp:coreProperties>
</file>