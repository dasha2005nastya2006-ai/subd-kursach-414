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DF6507-8765-41E6-A1C2-94C2BC0394C4}" v="1134" dt="2025-12-17T17:17:52.3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94" d="100"/>
          <a:sy n="94" d="100"/>
        </p:scale>
        <p:origin x="18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ru-RU" sz="7200" dirty="0">
                <a:latin typeface="Times New Roman"/>
                <a:ea typeface="Calibri"/>
                <a:cs typeface="Calibri"/>
              </a:rPr>
              <a:t>БД для проведения инвентаризации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1500"/>
              <a:t>Выполнил: Белов М.В.</a:t>
            </a:r>
          </a:p>
          <a:p>
            <a:r>
              <a:rPr lang="ru-RU" sz="1500"/>
              <a:t>Руководитель: Пунгин И.В.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858D8C-8463-4231-F17A-4A1ECBC90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Times New Roman"/>
                <a:cs typeface="Times New Roman"/>
              </a:rPr>
              <a:t>Актуальность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D0CAA4-A789-5F86-C9C4-4C7539467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068" y="2481943"/>
            <a:ext cx="10358628" cy="36950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/>
                <a:cs typeface="Times New Roman"/>
              </a:rPr>
              <a:t> В современном мире понимание что, в каком количестве, где хранится и используется является ядром не только производственного процесса, но и административного, без этих данных большинство логистических систем просто не смогут функционировать. Всё это обуславливает актуальность разработки базы данных (БД) для проведения инвентаризации. 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21299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D25D44-D4F9-A8BC-0141-17C83185B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Times New Roman"/>
                <a:cs typeface="Times New Roman"/>
              </a:rPr>
              <a:t>Цель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729040-4F1E-BC36-290C-28A05FCF0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lnSpc>
                <a:spcPct val="200000"/>
              </a:lnSpc>
              <a:buNone/>
            </a:pPr>
            <a:r>
              <a:rPr lang="ru-RU" sz="2400" dirty="0">
                <a:latin typeface="Times New Roman"/>
                <a:ea typeface="+mn-lt"/>
                <a:cs typeface="+mn-lt"/>
              </a:rPr>
              <a:t> Целью данной курсовой работы является разработка базы данных для проведения инвентаризации, которая позволит эффективно создавать и управлять информацией о хранимых объектах и их местоположении, а также обеспечить доступ к этой информации для различных пользователей.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5294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AAD196-B791-786A-7A46-00176D870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Times New Roman"/>
                <a:cs typeface="Times New Roman"/>
              </a:rPr>
              <a:t>Задачи</a:t>
            </a:r>
            <a:r>
              <a:rPr lang="ru-RU" sz="4000" dirty="0"/>
              <a:t>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80CDB7-164A-CF5B-BDEB-0D0C48977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334986"/>
            <a:ext cx="10168128" cy="369502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514350" indent="-514350">
              <a:lnSpc>
                <a:spcPct val="160000"/>
              </a:lnSpc>
              <a:buAutoNum type="arabicPeriod"/>
            </a:pPr>
            <a:r>
              <a:rPr lang="ru-RU" sz="2400" dirty="0">
                <a:latin typeface="Times New Roman"/>
                <a:ea typeface="+mn-lt"/>
                <a:cs typeface="+mn-lt"/>
              </a:rPr>
              <a:t>Проанализировать предметную область инвентаризации.</a:t>
            </a:r>
            <a:endParaRPr lang="ru-RU" sz="2400" dirty="0">
              <a:latin typeface="Times New Roman"/>
              <a:cs typeface="Times New Roman"/>
            </a:endParaRPr>
          </a:p>
          <a:p>
            <a:pPr marL="514350" indent="-514350">
              <a:lnSpc>
                <a:spcPct val="160000"/>
              </a:lnSpc>
              <a:buAutoNum type="arabicPeriod"/>
            </a:pPr>
            <a:r>
              <a:rPr lang="ru-RU" sz="2400" dirty="0">
                <a:latin typeface="Times New Roman"/>
                <a:ea typeface="+mn-lt"/>
                <a:cs typeface="+mn-lt"/>
              </a:rPr>
              <a:t>Спроектировать структуру базы данных.</a:t>
            </a:r>
          </a:p>
          <a:p>
            <a:pPr marL="514350" indent="-514350">
              <a:lnSpc>
                <a:spcPct val="160000"/>
              </a:lnSpc>
              <a:buAutoNum type="arabicPeriod"/>
            </a:pPr>
            <a:r>
              <a:rPr lang="ru-RU" sz="2400" dirty="0">
                <a:latin typeface="Times New Roman"/>
                <a:ea typeface="+mn-lt"/>
                <a:cs typeface="+mn-lt"/>
              </a:rPr>
              <a:t>Выбрать и обосновать систему управления базами данных.</a:t>
            </a:r>
          </a:p>
          <a:p>
            <a:pPr marL="514350" indent="-514350">
              <a:lnSpc>
                <a:spcPct val="160000"/>
              </a:lnSpc>
              <a:buAutoNum type="arabicPeriod"/>
            </a:pPr>
            <a:r>
              <a:rPr lang="ru-RU" sz="2400" dirty="0">
                <a:latin typeface="Times New Roman"/>
                <a:ea typeface="+mn-lt"/>
                <a:cs typeface="+mn-lt"/>
              </a:rPr>
              <a:t>Реализовать структуру базы данных на выбранной СУБД</a:t>
            </a:r>
          </a:p>
          <a:p>
            <a:pPr marL="514350" indent="-514350">
              <a:lnSpc>
                <a:spcPct val="160000"/>
              </a:lnSpc>
              <a:buAutoNum type="arabicPeriod"/>
            </a:pPr>
            <a:r>
              <a:rPr lang="ru-RU" sz="2400" dirty="0">
                <a:latin typeface="Times New Roman"/>
                <a:ea typeface="+mn-lt"/>
                <a:cs typeface="+mn-lt"/>
              </a:rPr>
              <a:t>Заполнить базу данных тестовыми данными</a:t>
            </a:r>
          </a:p>
          <a:p>
            <a:pPr marL="514350" indent="-514350">
              <a:lnSpc>
                <a:spcPct val="160000"/>
              </a:lnSpc>
              <a:buAutoNum type="arabicPeriod"/>
            </a:pPr>
            <a:r>
              <a:rPr lang="ru-RU" sz="2400" dirty="0">
                <a:latin typeface="Times New Roman"/>
                <a:ea typeface="+mn-lt"/>
                <a:cs typeface="+mn-lt"/>
              </a:rPr>
              <a:t>Осуществить тестирование базы данных</a:t>
            </a:r>
          </a:p>
          <a:p>
            <a:pPr marL="0" indent="0">
              <a:buNone/>
            </a:pPr>
            <a:endParaRPr lang="ru-RU" sz="22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80536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549C3F-3D43-2B46-9362-6BDBF7408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Times New Roman"/>
                <a:ea typeface="+mj-lt"/>
                <a:cs typeface="+mj-lt"/>
              </a:rPr>
              <a:t>Предметная область</a:t>
            </a:r>
            <a:endParaRPr lang="ru-RU" sz="4000" dirty="0">
              <a:latin typeface="Times New Roman"/>
              <a:cs typeface="Times New Roman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EABF78-1E37-CC03-209A-1759DD7C3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850" y="2090057"/>
            <a:ext cx="11095758" cy="36950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dirty="0">
                <a:latin typeface="Times New Roman"/>
                <a:ea typeface="+mn-lt"/>
                <a:cs typeface="+mn-lt"/>
              </a:rPr>
              <a:t> Предметная область данной работы - управление материальной собственности в различных организациях. Система направлена на автоматизацию процессов учета объектов, что позволит сотрудникам быстро искать, считать и отслеживать перемещения предметов на предприятии. </a:t>
            </a:r>
            <a:endParaRPr lang="ru-RU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52168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8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Freeform: Shape 10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Freeform: Shape 12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7AF077-57FF-5C4A-0501-A9F19AB5A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763" y="2311080"/>
            <a:ext cx="4023360" cy="257344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Структура базы</a:t>
            </a:r>
            <a:br>
              <a:rPr lang="ru-RU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данных.</a:t>
            </a:r>
          </a:p>
        </p:txBody>
      </p:sp>
      <p:sp>
        <p:nvSpPr>
          <p:cNvPr id="22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Объект 3" descr="image.png">
            <a:extLst>
              <a:ext uri="{FF2B5EF4-FFF2-40B4-BE49-F238E27FC236}">
                <a16:creationId xmlns:a16="http://schemas.microsoft.com/office/drawing/2014/main" id="{2428636F-8466-3B4C-66A7-50B4B5D787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05340" y="440627"/>
            <a:ext cx="6852696" cy="611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448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D481BA-E120-1376-EAE7-B68F3CB5C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ru-RU" sz="3700" dirty="0" err="1">
                <a:latin typeface="Times New Roman"/>
                <a:cs typeface="Times New Roman"/>
              </a:rPr>
              <a:t>Postgresql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151BAB-01FE-202A-0723-45644172C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09" y="2300968"/>
            <a:ext cx="7116220" cy="38759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sz="2400" dirty="0">
                <a:latin typeface="Times New Roman"/>
                <a:cs typeface="Times New Roman"/>
              </a:rPr>
              <a:t> Для выполнения курсовой работы я решил использовать </a:t>
            </a:r>
            <a:r>
              <a:rPr lang="ru-RU" sz="2400" dirty="0" err="1">
                <a:latin typeface="Times New Roman"/>
                <a:cs typeface="Times New Roman"/>
              </a:rPr>
              <a:t>Postgresql</a:t>
            </a:r>
            <a:r>
              <a:rPr lang="ru-RU" sz="2400" dirty="0">
                <a:latin typeface="Times New Roman"/>
                <a:cs typeface="Times New Roman"/>
              </a:rPr>
              <a:t>, потому что эта СУБД</a:t>
            </a:r>
            <a:r>
              <a:rPr lang="ru-RU" sz="2400" dirty="0">
                <a:latin typeface="Times New Roman"/>
                <a:ea typeface="+mn-lt"/>
                <a:cs typeface="+mn-lt"/>
              </a:rPr>
              <a:t> базируется на механизме </a:t>
            </a:r>
            <a:r>
              <a:rPr lang="ru-RU" sz="2400" dirty="0" err="1">
                <a:latin typeface="Times New Roman"/>
                <a:ea typeface="+mn-lt"/>
                <a:cs typeface="+mn-lt"/>
              </a:rPr>
              <a:t>многоверсионного</a:t>
            </a:r>
            <a:r>
              <a:rPr lang="ru-RU" sz="2400" dirty="0">
                <a:latin typeface="Times New Roman"/>
                <a:ea typeface="+mn-lt"/>
                <a:cs typeface="+mn-lt"/>
              </a:rPr>
              <a:t> управления конкурентным доступом (MVCC — </a:t>
            </a:r>
            <a:r>
              <a:rPr lang="ru-RU" sz="2400" dirty="0" err="1">
                <a:latin typeface="Times New Roman"/>
                <a:ea typeface="+mn-lt"/>
                <a:cs typeface="+mn-lt"/>
              </a:rPr>
              <a:t>Multiversion</a:t>
            </a:r>
            <a:r>
              <a:rPr lang="ru-RU" sz="2400" dirty="0">
                <a:latin typeface="Times New Roman"/>
                <a:ea typeface="+mn-lt"/>
                <a:cs typeface="+mn-lt"/>
              </a:rPr>
              <a:t> </a:t>
            </a:r>
            <a:r>
              <a:rPr lang="ru-RU" sz="2400" dirty="0" err="1">
                <a:latin typeface="Times New Roman"/>
                <a:ea typeface="+mn-lt"/>
                <a:cs typeface="+mn-lt"/>
              </a:rPr>
              <a:t>Concurrency</a:t>
            </a:r>
            <a:r>
              <a:rPr lang="ru-RU" sz="2400" dirty="0">
                <a:latin typeface="Times New Roman"/>
                <a:ea typeface="+mn-lt"/>
                <a:cs typeface="+mn-lt"/>
              </a:rPr>
              <a:t> Control). В отличие от некоторых других систем (например, MySQL), где требуется выбор движка хранения, PostgreSQL не требует явного указания механизма хранения при создании таблиц, так как все таблицы автоматически используют встроенный механизм.</a:t>
            </a:r>
            <a:endParaRPr lang="ru-RU" sz="2400" dirty="0">
              <a:latin typeface="Times New Roman"/>
            </a:endParaRPr>
          </a:p>
        </p:txBody>
      </p:sp>
      <p:pic>
        <p:nvPicPr>
          <p:cNvPr id="4" name="Рисунок 3" descr="Picture background">
            <a:extLst>
              <a:ext uri="{FF2B5EF4-FFF2-40B4-BE49-F238E27FC236}">
                <a16:creationId xmlns:a16="http://schemas.microsoft.com/office/drawing/2014/main" id="{6859A5BF-D52B-A23F-77D2-15FD5C5B1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700" y="2305050"/>
            <a:ext cx="3835908" cy="372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311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56CE0A-F584-D837-9741-4243FA62E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Заполнение</a:t>
            </a:r>
            <a:r>
              <a:rPr lang="en-US" sz="3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БД </a:t>
            </a:r>
            <a:r>
              <a:rPr lang="en-US" sz="3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тестовыми</a:t>
            </a:r>
            <a:r>
              <a:rPr lang="en-US" sz="3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данными</a:t>
            </a:r>
            <a:r>
              <a:rPr lang="en-US" sz="3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8B518E-AF4A-3E73-E907-BC56F5A49A11}"/>
              </a:ext>
            </a:extLst>
          </p:cNvPr>
          <p:cNvSpPr txBox="1"/>
          <p:nvPr/>
        </p:nvSpPr>
        <p:spPr>
          <a:xfrm>
            <a:off x="411479" y="2541219"/>
            <a:ext cx="4813663" cy="3933059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latin typeface="Times New Roman"/>
                <a:cs typeface="Times New Roman"/>
              </a:rPr>
              <a:t> </a:t>
            </a:r>
            <a:r>
              <a:rPr lang="en-US" sz="2400" dirty="0" err="1">
                <a:latin typeface="Times New Roman"/>
                <a:cs typeface="Times New Roman"/>
              </a:rPr>
              <a:t>Для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того</a:t>
            </a:r>
            <a:r>
              <a:rPr lang="ru-RU" sz="2400" dirty="0">
                <a:latin typeface="Times New Roman"/>
                <a:cs typeface="Times New Roman"/>
              </a:rPr>
              <a:t>,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чтобы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провести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тестирование</a:t>
            </a:r>
            <a:r>
              <a:rPr lang="en-US" sz="2400" dirty="0">
                <a:latin typeface="Times New Roman"/>
                <a:cs typeface="Times New Roman"/>
              </a:rPr>
              <a:t> БД, </a:t>
            </a:r>
            <a:r>
              <a:rPr lang="en-US" sz="2400" dirty="0" err="1">
                <a:latin typeface="Times New Roman"/>
                <a:cs typeface="Times New Roman"/>
              </a:rPr>
              <a:t>нужно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заполнить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её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тестовыми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данными</a:t>
            </a:r>
            <a:r>
              <a:rPr lang="en-US" sz="2400" dirty="0">
                <a:latin typeface="Times New Roman"/>
                <a:cs typeface="Times New Roman"/>
              </a:rPr>
              <a:t>.</a:t>
            </a:r>
            <a:endParaRPr lang="ru-RU" dirty="0"/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latin typeface="Times New Roman"/>
                <a:cs typeface="Times New Roman"/>
              </a:rPr>
              <a:t> В </a:t>
            </a:r>
            <a:r>
              <a:rPr lang="en-US" sz="2400" dirty="0" err="1">
                <a:latin typeface="Times New Roman"/>
                <a:cs typeface="Times New Roman"/>
              </a:rPr>
              <a:t>случае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postgresql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для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заполнения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нужно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выполнить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команду</a:t>
            </a:r>
            <a:r>
              <a:rPr lang="en-US" sz="2400" dirty="0">
                <a:latin typeface="Times New Roman"/>
                <a:cs typeface="Times New Roman"/>
              </a:rPr>
              <a:t> INSERT INTO, </a:t>
            </a:r>
            <a:r>
              <a:rPr lang="en-US" sz="2400" dirty="0" err="1">
                <a:latin typeface="Times New Roman"/>
                <a:cs typeface="Times New Roman"/>
              </a:rPr>
              <a:t>где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нужно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выбрать</a:t>
            </a:r>
            <a:r>
              <a:rPr lang="en-US" sz="2400" dirty="0">
                <a:latin typeface="Times New Roman"/>
                <a:cs typeface="Times New Roman"/>
              </a:rPr>
              <a:t> в </a:t>
            </a:r>
            <a:r>
              <a:rPr lang="en-US" sz="2400" dirty="0" err="1">
                <a:latin typeface="Times New Roman"/>
                <a:cs typeface="Times New Roman"/>
              </a:rPr>
              <a:t>какую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таблицу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вводить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данные</a:t>
            </a:r>
            <a:r>
              <a:rPr lang="en-US" sz="2400" dirty="0">
                <a:latin typeface="Times New Roman"/>
                <a:cs typeface="Times New Roman"/>
              </a:rPr>
              <a:t> и, </a:t>
            </a:r>
            <a:r>
              <a:rPr lang="en-US" sz="2400" dirty="0" err="1">
                <a:latin typeface="Times New Roman"/>
                <a:cs typeface="Times New Roman"/>
              </a:rPr>
              <a:t>если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необходимо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выбрать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столбцы</a:t>
            </a:r>
            <a:r>
              <a:rPr lang="en-US" sz="2400" dirty="0">
                <a:latin typeface="Times New Roman"/>
                <a:cs typeface="Times New Roman"/>
              </a:rPr>
              <a:t> в </a:t>
            </a:r>
            <a:r>
              <a:rPr lang="en-US" sz="2400" dirty="0" err="1">
                <a:latin typeface="Times New Roman"/>
                <a:cs typeface="Times New Roman"/>
              </a:rPr>
              <a:t>которые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хочется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ввести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данные</a:t>
            </a:r>
            <a:endParaRPr lang="en-US" sz="2400" dirty="0">
              <a:latin typeface="Times New Roman"/>
              <a:cs typeface="Times New Roman"/>
            </a:endParaRPr>
          </a:p>
        </p:txBody>
      </p:sp>
      <p:pic>
        <p:nvPicPr>
          <p:cNvPr id="4" name="Объект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5CEBBE3-E800-3281-0654-196B6BA2A9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85816" y="760749"/>
            <a:ext cx="6440424" cy="5281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548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4A6563-C1D4-6F18-1BD6-7850D5617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978619"/>
            <a:ext cx="3410712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Тестирование</a:t>
            </a: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базы данных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1300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093976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F1474B-F6F2-16A7-3674-3752F09E3AFA}"/>
              </a:ext>
            </a:extLst>
          </p:cNvPr>
          <p:cNvSpPr txBox="1"/>
          <p:nvPr/>
        </p:nvSpPr>
        <p:spPr>
          <a:xfrm>
            <a:off x="473584" y="2252870"/>
            <a:ext cx="4122910" cy="356025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US" sz="2400" dirty="0">
                <a:latin typeface="Times New Roman"/>
                <a:cs typeface="Times New Roman"/>
              </a:rPr>
              <a:t> </a:t>
            </a:r>
            <a:r>
              <a:rPr lang="en-US" sz="2400" dirty="0" err="1">
                <a:latin typeface="Times New Roman"/>
                <a:cs typeface="Times New Roman"/>
              </a:rPr>
              <a:t>Тестирование</a:t>
            </a:r>
            <a:r>
              <a:rPr lang="en-US" sz="2400" dirty="0">
                <a:latin typeface="Times New Roman"/>
                <a:cs typeface="Times New Roman"/>
              </a:rPr>
              <a:t> БД </a:t>
            </a:r>
            <a:r>
              <a:rPr lang="en-US" sz="2400" dirty="0" err="1">
                <a:latin typeface="Times New Roman"/>
                <a:cs typeface="Times New Roman"/>
              </a:rPr>
              <a:t>обязательно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перед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выпуском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её</a:t>
            </a:r>
            <a:r>
              <a:rPr lang="en-US" sz="2400" dirty="0">
                <a:latin typeface="Times New Roman"/>
                <a:cs typeface="Times New Roman"/>
              </a:rPr>
              <a:t> в </a:t>
            </a:r>
            <a:r>
              <a:rPr lang="en-US" sz="2400" dirty="0" err="1">
                <a:latin typeface="Times New Roman"/>
                <a:cs typeface="Times New Roman"/>
              </a:rPr>
              <a:t>мир</a:t>
            </a:r>
            <a:r>
              <a:rPr lang="en-US" sz="2400" dirty="0">
                <a:latin typeface="Times New Roman"/>
                <a:cs typeface="Times New Roman"/>
              </a:rPr>
              <a:t>, </a:t>
            </a:r>
            <a:r>
              <a:rPr lang="en-US" sz="2400" dirty="0" err="1">
                <a:latin typeface="Times New Roman"/>
                <a:cs typeface="Times New Roman"/>
              </a:rPr>
              <a:t>поэтому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мной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было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проведено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тестирование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всех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процедур</a:t>
            </a:r>
            <a:r>
              <a:rPr lang="en-US" sz="2400" dirty="0">
                <a:latin typeface="Times New Roman"/>
                <a:cs typeface="Times New Roman"/>
              </a:rPr>
              <a:t> и </a:t>
            </a:r>
            <a:r>
              <a:rPr lang="en-US" sz="2400" dirty="0" err="1">
                <a:latin typeface="Times New Roman"/>
                <a:cs typeface="Times New Roman"/>
              </a:rPr>
              <a:t>функций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между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таблицами</a:t>
            </a:r>
            <a:r>
              <a:rPr lang="en-US" sz="2400" dirty="0">
                <a:latin typeface="Times New Roman"/>
                <a:cs typeface="Times New Roman"/>
              </a:rPr>
              <a:t> и </a:t>
            </a:r>
            <a:r>
              <a:rPr lang="en-US" sz="2400" dirty="0" err="1">
                <a:latin typeface="Times New Roman"/>
                <a:cs typeface="Times New Roman"/>
              </a:rPr>
              <a:t>их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данными</a:t>
            </a:r>
            <a:r>
              <a:rPr lang="en-US" sz="2400" dirty="0">
                <a:latin typeface="Times New Roman"/>
                <a:cs typeface="Times New Roman"/>
              </a:rPr>
              <a:t> </a:t>
            </a:r>
            <a:endParaRPr lang="ru-RU" sz="2400" dirty="0">
              <a:latin typeface="Times New Roman"/>
              <a:cs typeface="Times New Roman"/>
            </a:endParaRPr>
          </a:p>
        </p:txBody>
      </p:sp>
      <p:pic>
        <p:nvPicPr>
          <p:cNvPr id="4" name="Объект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94AE3D7-6429-1B54-D245-3642F5C9D8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20640" y="1520552"/>
            <a:ext cx="6656832" cy="459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916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0702C9-A862-A53A-DD8F-A80EF1A9A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ru-RU" sz="4000" dirty="0"/>
              <a:t>Заключение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19F75D-52EF-41DB-8D32-8E974DA01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481943"/>
            <a:ext cx="11167446" cy="36950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lnSpc>
                <a:spcPct val="125000"/>
              </a:lnSpc>
              <a:buNone/>
            </a:pPr>
            <a:r>
              <a:rPr lang="ru-RU" sz="2200" dirty="0">
                <a:ea typeface="+mn-lt"/>
                <a:cs typeface="+mn-lt"/>
              </a:rPr>
              <a:t> </a:t>
            </a:r>
            <a:r>
              <a:rPr lang="ru-RU" dirty="0">
                <a:latin typeface="Times New Roman"/>
                <a:ea typeface="+mn-lt"/>
                <a:cs typeface="+mn-lt"/>
              </a:rPr>
              <a:t>В результате выполнения курсовой работы была разработана база данных для проведения инвентаризации, которая позволяет пользователям легко и быстро взаимодействовать с объектами предприятия для эффективного выполнения своей работы и отвечает требованиям современного мира. </a:t>
            </a:r>
            <a:endParaRPr lang="ru-RU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10517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EDD8161-4D73-FC37-51F4-16C808980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175"/>
            <a:ext cx="10515600" cy="6723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ru-RU" sz="6000" dirty="0">
                <a:latin typeface="Times New Roman"/>
                <a:cs typeface="Times New Roman"/>
              </a:rPr>
              <a:t>Спасибо за внимание!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54481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372</Words>
  <Application>Microsoft Office PowerPoint</Application>
  <PresentationFormat>Широкоэкранный</PresentationFormat>
  <Paragraphs>27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Times New Roman</vt:lpstr>
      <vt:lpstr>Тема Office</vt:lpstr>
      <vt:lpstr>БД для проведения инвентаризации</vt:lpstr>
      <vt:lpstr>Актуальность</vt:lpstr>
      <vt:lpstr>Цель</vt:lpstr>
      <vt:lpstr>Задачи:</vt:lpstr>
      <vt:lpstr>Предметная область</vt:lpstr>
      <vt:lpstr>Структура базы  данных.</vt:lpstr>
      <vt:lpstr>Postgresql</vt:lpstr>
      <vt:lpstr>Заполнение БД тестовыми данными.</vt:lpstr>
      <vt:lpstr>Тестирование базы данных</vt:lpstr>
      <vt:lpstr>Заключение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Михаил Белов</cp:lastModifiedBy>
  <cp:revision>257</cp:revision>
  <dcterms:created xsi:type="dcterms:W3CDTF">2025-12-17T16:18:40Z</dcterms:created>
  <dcterms:modified xsi:type="dcterms:W3CDTF">2025-12-17T18:09:25Z</dcterms:modified>
</cp:coreProperties>
</file>