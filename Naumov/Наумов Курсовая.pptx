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5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FBA9F-0865-4617-AEDE-23CA3C724E1F}" type="datetimeFigureOut">
              <a:rPr lang="ru-RU" smtClean="0"/>
              <a:t>17.12.2025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87E7A-0EFE-4C50-9B0D-CB2A04A0D44F}" type="slidenum">
              <a:rPr lang="ru-RU" smtClean="0"/>
              <a:t>‹#›</a:t>
            </a:fld>
            <a:endParaRPr lang="ru-RU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267080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FBA9F-0865-4617-AEDE-23CA3C724E1F}" type="datetimeFigureOut">
              <a:rPr lang="ru-RU" smtClean="0"/>
              <a:t>17.12.2025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87E7A-0EFE-4C50-9B0D-CB2A04A0D4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239714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FBA9F-0865-4617-AEDE-23CA3C724E1F}" type="datetimeFigureOut">
              <a:rPr lang="ru-RU" smtClean="0"/>
              <a:t>17.12.2025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87E7A-0EFE-4C50-9B0D-CB2A04A0D44F}" type="slidenum">
              <a:rPr lang="ru-RU" smtClean="0"/>
              <a:t>‹#›</a:t>
            </a:fld>
            <a:endParaRPr lang="ru-RU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740451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FBA9F-0865-4617-AEDE-23CA3C724E1F}" type="datetimeFigureOut">
              <a:rPr lang="ru-RU" smtClean="0"/>
              <a:t>17.12.2025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87E7A-0EFE-4C50-9B0D-CB2A04A0D4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747689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FBA9F-0865-4617-AEDE-23CA3C724E1F}" type="datetimeFigureOut">
              <a:rPr lang="ru-RU" smtClean="0"/>
              <a:t>17.12.2025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87E7A-0EFE-4C50-9B0D-CB2A04A0D4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452035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FBA9F-0865-4617-AEDE-23CA3C724E1F}" type="datetimeFigureOut">
              <a:rPr lang="ru-RU" smtClean="0"/>
              <a:t>17.12.2025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87E7A-0EFE-4C50-9B0D-CB2A04A0D4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71224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FBA9F-0865-4617-AEDE-23CA3C724E1F}" type="datetimeFigureOut">
              <a:rPr lang="ru-RU" smtClean="0"/>
              <a:t>17.12.2025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87E7A-0EFE-4C50-9B0D-CB2A04A0D4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53633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00EFBA9F-0865-4617-AEDE-23CA3C724E1F}" type="datetimeFigureOut">
              <a:rPr lang="ru-RU" smtClean="0"/>
              <a:t>17.12.2025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CC87E7A-0EFE-4C50-9B0D-CB2A04A0D4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193956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FBA9F-0865-4617-AEDE-23CA3C724E1F}" type="datetimeFigureOut">
              <a:rPr lang="ru-RU" smtClean="0"/>
              <a:t>17.12.2025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87E7A-0EFE-4C50-9B0D-CB2A04A0D4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528861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FBA9F-0865-4617-AEDE-23CA3C724E1F}" type="datetimeFigureOut">
              <a:rPr lang="ru-RU" smtClean="0"/>
              <a:t>17.12.2025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87E7A-0EFE-4C50-9B0D-CB2A04A0D4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206996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FBA9F-0865-4617-AEDE-23CA3C724E1F}" type="datetimeFigureOut">
              <a:rPr lang="ru-RU" smtClean="0"/>
              <a:t>17.12.2025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87E7A-0EFE-4C50-9B0D-CB2A04A0D4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500074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00EFBA9F-0865-4617-AEDE-23CA3C724E1F}" type="datetimeFigureOut">
              <a:rPr lang="ru-RU" smtClean="0"/>
              <a:t>17.12.2025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CC87E7A-0EFE-4C50-9B0D-CB2A04A0D44F}" type="slidenum">
              <a:rPr lang="ru-RU" smtClean="0"/>
              <a:t>‹#›</a:t>
            </a:fld>
            <a:endParaRPr lang="ru-RU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666397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1C42169-F293-8A0B-7CA7-43DC336161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1253612"/>
            <a:ext cx="10058400" cy="483748"/>
          </a:xfrm>
        </p:spPr>
        <p:txBody>
          <a:bodyPr>
            <a:noAutofit/>
          </a:bodyPr>
          <a:lstStyle/>
          <a:p>
            <a:r>
              <a:rPr lang="ru-RU" sz="3600" dirty="0"/>
              <a:t>Курсовая работа на тему: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C3BEAAA-90C4-B2E6-E171-CDE4F6A167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49032" y="3721012"/>
            <a:ext cx="3342968" cy="1883376"/>
          </a:xfrm>
        </p:spPr>
        <p:txBody>
          <a:bodyPr>
            <a:normAutofit/>
          </a:bodyPr>
          <a:lstStyle/>
          <a:p>
            <a:r>
              <a:rPr lang="ru-RU" dirty="0"/>
              <a:t>Выполнил: Наумов Макарий Викторович</a:t>
            </a:r>
          </a:p>
          <a:p>
            <a:br>
              <a:rPr lang="ru-RU" dirty="0"/>
            </a:br>
            <a:r>
              <a:rPr lang="ru-RU" dirty="0"/>
              <a:t>Руководитель: </a:t>
            </a:r>
            <a:r>
              <a:rPr lang="ru-RU" dirty="0" err="1"/>
              <a:t>Пунгин</a:t>
            </a:r>
            <a:r>
              <a:rPr lang="ru-RU" dirty="0"/>
              <a:t> Илья Вячеславович</a:t>
            </a: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7058910A-3595-2070-37CD-637C5FD57573}"/>
              </a:ext>
            </a:extLst>
          </p:cNvPr>
          <p:cNvSpPr txBox="1">
            <a:spLocks/>
          </p:cNvSpPr>
          <p:nvPr/>
        </p:nvSpPr>
        <p:spPr>
          <a:xfrm>
            <a:off x="1097280" y="1858297"/>
            <a:ext cx="10058400" cy="48374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3200" dirty="0"/>
              <a:t>База данных для коммерческого учебного центра</a:t>
            </a:r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959CCC5D-47A2-27C7-B2B8-1F82AFBB8D95}"/>
              </a:ext>
            </a:extLst>
          </p:cNvPr>
          <p:cNvSpPr txBox="1">
            <a:spLocks/>
          </p:cNvSpPr>
          <p:nvPr/>
        </p:nvSpPr>
        <p:spPr>
          <a:xfrm>
            <a:off x="4629518" y="5749903"/>
            <a:ext cx="2993923" cy="48374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2800" dirty="0"/>
              <a:t>Сыктывкар, 2025</a:t>
            </a:r>
          </a:p>
        </p:txBody>
      </p:sp>
    </p:spTree>
    <p:extLst>
      <p:ext uri="{BB962C8B-B14F-4D97-AF65-F5344CB8AC3E}">
        <p14:creationId xmlns:p14="http://schemas.microsoft.com/office/powerpoint/2010/main" val="18966608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5CAB627-1DE7-6BF8-CB3C-493318F289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6082" y="828706"/>
            <a:ext cx="10579837" cy="836097"/>
          </a:xfrm>
        </p:spPr>
        <p:txBody>
          <a:bodyPr>
            <a:normAutofit/>
          </a:bodyPr>
          <a:lstStyle/>
          <a:p>
            <a:r>
              <a:rPr lang="ru-RU" sz="3600" dirty="0">
                <a:solidFill>
                  <a:schemeClr val="tx1"/>
                </a:solidFill>
              </a:rPr>
              <a:t>Цели, задачи, объект, предмет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7A57CD5-37C2-BACE-73A4-641BFCF61B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9842" y="2160502"/>
            <a:ext cx="5352681" cy="1583266"/>
          </a:xfrm>
        </p:spPr>
        <p:txBody>
          <a:bodyPr>
            <a:normAutofit/>
          </a:bodyPr>
          <a:lstStyle/>
          <a:p>
            <a:r>
              <a:rPr lang="ru-RU" b="1" dirty="0"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ЦЕЛЬ:</a:t>
            </a:r>
            <a:r>
              <a:rPr lang="ru-RU" sz="18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80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Р</a:t>
            </a:r>
            <a:r>
              <a:rPr lang="ru-RU" sz="180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азработать базу </a:t>
            </a:r>
            <a:r>
              <a:rPr lang="ru-RU" sz="18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данных для коммерческого учебного центра, обеспечивающей хранение, поиск и обработку данных о курсах, студентах, преподавателях, расписании, оплатах и результатах обучения.</a:t>
            </a:r>
            <a:endParaRPr lang="ru-RU" sz="1800" dirty="0"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ru-RU" dirty="0"/>
          </a:p>
        </p:txBody>
      </p:sp>
      <p:sp>
        <p:nvSpPr>
          <p:cNvPr id="4" name="Объект 2">
            <a:extLst>
              <a:ext uri="{FF2B5EF4-FFF2-40B4-BE49-F238E27FC236}">
                <a16:creationId xmlns:a16="http://schemas.microsoft.com/office/drawing/2014/main" id="{E8EBD1F4-1801-6FDC-85C7-74802D286552}"/>
              </a:ext>
            </a:extLst>
          </p:cNvPr>
          <p:cNvSpPr txBox="1">
            <a:spLocks/>
          </p:cNvSpPr>
          <p:nvPr/>
        </p:nvSpPr>
        <p:spPr>
          <a:xfrm>
            <a:off x="6642346" y="1977622"/>
            <a:ext cx="4948575" cy="3799813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lnSpc>
                <a:spcPct val="107000"/>
              </a:lnSpc>
              <a:spcBef>
                <a:spcPts val="600"/>
              </a:spcBef>
              <a:spcAft>
                <a:spcPts val="800"/>
              </a:spcAft>
              <a:buSzPts val="1000"/>
              <a:buNone/>
              <a:tabLst>
                <a:tab pos="457200" algn="l"/>
              </a:tabLst>
            </a:pPr>
            <a:r>
              <a:rPr lang="ru-RU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ЗАДАЧИ:</a:t>
            </a:r>
            <a:b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ru-RU" sz="1600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а</a:t>
            </a:r>
            <a:r>
              <a:rPr lang="ru-RU" sz="16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нализ предметной области уч. центра;</a:t>
            </a:r>
          </a:p>
          <a:p>
            <a:pPr marL="0" lvl="0" indent="0">
              <a:lnSpc>
                <a:spcPct val="107000"/>
              </a:lnSpc>
              <a:spcBef>
                <a:spcPts val="600"/>
              </a:spcBef>
              <a:spcAft>
                <a:spcPts val="800"/>
              </a:spcAft>
              <a:buSzPts val="1000"/>
              <a:buNone/>
              <a:tabLst>
                <a:tab pos="457200" algn="l"/>
              </a:tabLst>
            </a:pPr>
            <a:r>
              <a:rPr lang="ru-RU" sz="16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-выделить сущности базы данных и их атрибуты;</a:t>
            </a:r>
          </a:p>
          <a:p>
            <a:pPr marL="0" lvl="0" indent="0">
              <a:lnSpc>
                <a:spcPct val="107000"/>
              </a:lnSpc>
              <a:spcBef>
                <a:spcPts val="600"/>
              </a:spcBef>
              <a:spcAft>
                <a:spcPts val="800"/>
              </a:spcAft>
              <a:buSzPts val="1000"/>
              <a:buNone/>
              <a:tabLst>
                <a:tab pos="457200" algn="l"/>
              </a:tabLst>
            </a:pPr>
            <a:r>
              <a:rPr lang="ru-RU" sz="16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-сформировать концептуальную модель;</a:t>
            </a:r>
          </a:p>
          <a:p>
            <a:pPr marL="0" lvl="0" indent="0">
              <a:lnSpc>
                <a:spcPct val="107000"/>
              </a:lnSpc>
              <a:spcBef>
                <a:spcPts val="600"/>
              </a:spcBef>
              <a:spcAft>
                <a:spcPts val="800"/>
              </a:spcAft>
              <a:buSzPts val="1000"/>
              <a:buNone/>
              <a:tabLst>
                <a:tab pos="457200" algn="l"/>
              </a:tabLst>
            </a:pPr>
            <a:r>
              <a:rPr lang="ru-RU" sz="16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-разработать логическую модель базы данных;</a:t>
            </a:r>
          </a:p>
          <a:p>
            <a:pPr marL="0" lvl="0" indent="0">
              <a:lnSpc>
                <a:spcPct val="107000"/>
              </a:lnSpc>
              <a:spcBef>
                <a:spcPts val="600"/>
              </a:spcBef>
              <a:spcAft>
                <a:spcPts val="800"/>
              </a:spcAft>
              <a:buSzPts val="1000"/>
              <a:buNone/>
              <a:tabLst>
                <a:tab pos="457200" algn="l"/>
              </a:tabLst>
            </a:pPr>
            <a:r>
              <a:rPr lang="ru-RU" sz="16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-спроектировать физическую структуру БД в PSQL;</a:t>
            </a:r>
          </a:p>
          <a:p>
            <a:pPr marL="0" lvl="0" indent="0">
              <a:lnSpc>
                <a:spcPct val="107000"/>
              </a:lnSpc>
              <a:spcBef>
                <a:spcPts val="600"/>
              </a:spcBef>
              <a:spcAft>
                <a:spcPts val="800"/>
              </a:spcAft>
              <a:buSzPts val="1000"/>
              <a:buNone/>
              <a:tabLst>
                <a:tab pos="457200" algn="l"/>
              </a:tabLst>
            </a:pPr>
            <a:r>
              <a:rPr lang="ru-RU" sz="16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-реализовать SQL-скрипты создания таблиц, индексов и ограничений;</a:t>
            </a:r>
          </a:p>
          <a:p>
            <a:pPr marL="0" lvl="0" indent="0">
              <a:lnSpc>
                <a:spcPct val="107000"/>
              </a:lnSpc>
              <a:spcBef>
                <a:spcPts val="600"/>
              </a:spcBef>
              <a:spcAft>
                <a:spcPts val="800"/>
              </a:spcAft>
              <a:buSzPts val="1000"/>
              <a:buNone/>
              <a:tabLst>
                <a:tab pos="457200" algn="l"/>
              </a:tabLst>
            </a:pPr>
            <a:r>
              <a:rPr lang="ru-RU" sz="16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-разработать запросы демонстрации функциональности базы данных.</a:t>
            </a:r>
          </a:p>
          <a:p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Объект 2">
            <a:extLst>
              <a:ext uri="{FF2B5EF4-FFF2-40B4-BE49-F238E27FC236}">
                <a16:creationId xmlns:a16="http://schemas.microsoft.com/office/drawing/2014/main" id="{E5038DDC-F10B-80C5-1715-201F1B4E2F46}"/>
              </a:ext>
            </a:extLst>
          </p:cNvPr>
          <p:cNvSpPr txBox="1">
            <a:spLocks/>
          </p:cNvSpPr>
          <p:nvPr/>
        </p:nvSpPr>
        <p:spPr>
          <a:xfrm>
            <a:off x="829843" y="4210978"/>
            <a:ext cx="5352681" cy="651226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b="1" dirty="0">
                <a:solidFill>
                  <a:schemeClr val="tx1"/>
                </a:solidFill>
              </a:rPr>
              <a:t>Предмет: </a:t>
            </a:r>
            <a:r>
              <a:rPr lang="ru-RU" dirty="0">
                <a:solidFill>
                  <a:schemeClr val="tx1"/>
                </a:solidFill>
              </a:rPr>
              <a:t>Проектирование базы данных коммерческого учебного центра</a:t>
            </a:r>
          </a:p>
        </p:txBody>
      </p:sp>
      <p:sp>
        <p:nvSpPr>
          <p:cNvPr id="7" name="Объект 2">
            <a:extLst>
              <a:ext uri="{FF2B5EF4-FFF2-40B4-BE49-F238E27FC236}">
                <a16:creationId xmlns:a16="http://schemas.microsoft.com/office/drawing/2014/main" id="{8BCD9821-38A3-EE1E-0FCA-6B1C9D328B26}"/>
              </a:ext>
            </a:extLst>
          </p:cNvPr>
          <p:cNvSpPr txBox="1">
            <a:spLocks/>
          </p:cNvSpPr>
          <p:nvPr/>
        </p:nvSpPr>
        <p:spPr>
          <a:xfrm>
            <a:off x="829844" y="4862204"/>
            <a:ext cx="5352681" cy="651226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b="1" dirty="0">
                <a:solidFill>
                  <a:schemeClr val="tx1"/>
                </a:solidFill>
              </a:rPr>
              <a:t>Объект: </a:t>
            </a:r>
            <a:r>
              <a:rPr lang="ru-RU" dirty="0">
                <a:solidFill>
                  <a:schemeClr val="tx1"/>
                </a:solidFill>
              </a:rPr>
              <a:t>Процесс организации и управления данными в коммерческом учебном центр</a:t>
            </a:r>
          </a:p>
        </p:txBody>
      </p:sp>
    </p:spTree>
    <p:extLst>
      <p:ext uri="{BB962C8B-B14F-4D97-AF65-F5344CB8AC3E}">
        <p14:creationId xmlns:p14="http://schemas.microsoft.com/office/powerpoint/2010/main" val="20050366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F237109-ABA3-3A44-6E10-3870BA53A4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9680" y="988906"/>
            <a:ext cx="10058400" cy="748454"/>
          </a:xfrm>
        </p:spPr>
        <p:txBody>
          <a:bodyPr>
            <a:normAutofit/>
          </a:bodyPr>
          <a:lstStyle/>
          <a:p>
            <a:r>
              <a:rPr lang="ru-RU" sz="3600" dirty="0"/>
              <a:t>Актуальность</a:t>
            </a:r>
            <a:endParaRPr lang="ru-RU" sz="54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63BF5C1-9D63-40E2-6587-90B0CDAD31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965941"/>
            <a:ext cx="7112000" cy="988907"/>
          </a:xfrm>
        </p:spPr>
        <p:txBody>
          <a:bodyPr>
            <a:normAutofit/>
          </a:bodyPr>
          <a:lstStyle/>
          <a:p>
            <a:r>
              <a:rPr lang="ru-RU" dirty="0">
                <a:solidFill>
                  <a:schemeClr val="tx1"/>
                </a:solidFill>
              </a:rPr>
              <a:t>В современных коммерческих учебных центрах ведётся учет большого объёма информации: данных о студентах, курсах, группах, занятиях и оплатах.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C897A49-13F0-0F5C-4714-3E9E0DABD69C}"/>
              </a:ext>
            </a:extLst>
          </p:cNvPr>
          <p:cNvSpPr txBox="1"/>
          <p:nvPr/>
        </p:nvSpPr>
        <p:spPr>
          <a:xfrm>
            <a:off x="1097280" y="4023361"/>
            <a:ext cx="663448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dirty="0">
                <a:solidFill>
                  <a:schemeClr val="tx1"/>
                </a:solidFill>
              </a:rPr>
              <a:t>Использование реляционной базы данных позволяет автоматизировать учет, повысить точность хранения информации и упростить доступ к данным.</a:t>
            </a:r>
            <a:br>
              <a:rPr lang="ru-RU" sz="2000" dirty="0">
                <a:solidFill>
                  <a:schemeClr val="tx1"/>
                </a:solidFill>
              </a:rPr>
            </a:br>
            <a:r>
              <a:rPr lang="ru-RU" sz="2000" dirty="0">
                <a:solidFill>
                  <a:schemeClr val="tx1"/>
                </a:solidFill>
              </a:rPr>
              <a:t>Поэтому разработка базы данных учебного центра является актуальной задачей.</a:t>
            </a:r>
            <a:endParaRPr lang="ru-RU" sz="2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F684331-A410-4D92-6A49-138369DA7E24}"/>
              </a:ext>
            </a:extLst>
          </p:cNvPr>
          <p:cNvSpPr txBox="1"/>
          <p:nvPr/>
        </p:nvSpPr>
        <p:spPr>
          <a:xfrm>
            <a:off x="1097280" y="3075057"/>
            <a:ext cx="661416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dirty="0">
                <a:solidFill>
                  <a:schemeClr val="tx1"/>
                </a:solidFill>
              </a:rPr>
              <a:t>Отсутствие централизованной базы данных усложняет управление учебным процессом и повышает риск ошибок.</a:t>
            </a:r>
            <a:endParaRPr lang="ru-RU" sz="2000" dirty="0"/>
          </a:p>
        </p:txBody>
      </p:sp>
      <p:pic>
        <p:nvPicPr>
          <p:cNvPr id="1026" name="Picture 2" descr="Picture background">
            <a:extLst>
              <a:ext uri="{FF2B5EF4-FFF2-40B4-BE49-F238E27FC236}">
                <a16:creationId xmlns:a16="http://schemas.microsoft.com/office/drawing/2014/main" id="{3988246B-A688-2537-5CB0-8F5990E795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09280" y="1965941"/>
            <a:ext cx="3396735" cy="33967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641195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708CB2C-49BC-54B3-0FE4-66846ADE4D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dirty="0">
                <a:solidFill>
                  <a:schemeClr val="tx1"/>
                </a:solidFill>
              </a:rPr>
              <a:t>Анализ предметной области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6DA8259-709A-F409-6055-119D31FFAB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8720" y="1993482"/>
            <a:ext cx="7366000" cy="2354997"/>
          </a:xfrm>
        </p:spPr>
        <p:txBody>
          <a:bodyPr>
            <a:normAutofit/>
          </a:bodyPr>
          <a:lstStyle/>
          <a:p>
            <a:r>
              <a:rPr lang="ru-RU" sz="2400" dirty="0">
                <a:solidFill>
                  <a:schemeClr val="tx1"/>
                </a:solidFill>
              </a:rPr>
              <a:t>Проведён анализ деятельности коммерческого учебного центра, включая образовательные и организационные процессы.</a:t>
            </a:r>
          </a:p>
          <a:p>
            <a:br>
              <a:rPr lang="ru-RU" sz="2400" dirty="0">
                <a:solidFill>
                  <a:schemeClr val="tx1"/>
                </a:solidFill>
              </a:rPr>
            </a:br>
            <a:r>
              <a:rPr lang="ru-RU" sz="2400" dirty="0">
                <a:solidFill>
                  <a:schemeClr val="tx1"/>
                </a:solidFill>
              </a:rPr>
              <a:t>Определён перечень данных, необходимых для автоматизации учета учебного процесса.</a:t>
            </a:r>
          </a:p>
          <a:p>
            <a:endParaRPr lang="ru-RU" dirty="0">
              <a:solidFill>
                <a:schemeClr val="tx1"/>
              </a:solidFill>
            </a:endParaRPr>
          </a:p>
        </p:txBody>
      </p:sp>
      <p:pic>
        <p:nvPicPr>
          <p:cNvPr id="1026" name="Picture 2" descr="Picture background">
            <a:extLst>
              <a:ext uri="{FF2B5EF4-FFF2-40B4-BE49-F238E27FC236}">
                <a16:creationId xmlns:a16="http://schemas.microsoft.com/office/drawing/2014/main" id="{8DA82E83-F257-58DA-0C9B-7961BEEC7D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5742" y="2426602"/>
            <a:ext cx="2916248" cy="2916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530530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7C3933-ADDE-BE02-756F-6E3DD82EDF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dirty="0">
                <a:solidFill>
                  <a:schemeClr val="tx1"/>
                </a:solidFill>
              </a:rPr>
              <a:t>Определение сущностей и связей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F190DC8-E703-EA77-6258-8F195BE151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8720" y="2089574"/>
            <a:ext cx="5161280" cy="3163146"/>
          </a:xfrm>
        </p:spPr>
        <p:txBody>
          <a:bodyPr>
            <a:normAutofit/>
          </a:bodyPr>
          <a:lstStyle/>
          <a:p>
            <a:r>
              <a:rPr lang="ru-RU" sz="2400" dirty="0">
                <a:solidFill>
                  <a:schemeClr val="tx1"/>
                </a:solidFill>
              </a:rPr>
              <a:t>Выделены основные сущности базы данных: студенты, родители, преподаватели, курсы, группы, занятия и оплаты.</a:t>
            </a:r>
          </a:p>
          <a:p>
            <a:br>
              <a:rPr lang="ru-RU" sz="2400" dirty="0">
                <a:solidFill>
                  <a:schemeClr val="tx1"/>
                </a:solidFill>
              </a:rPr>
            </a:br>
            <a:r>
              <a:rPr lang="ru-RU" sz="2400" dirty="0">
                <a:solidFill>
                  <a:schemeClr val="tx1"/>
                </a:solidFill>
              </a:rPr>
              <a:t>Определены типы связей между сущностями, включая связи один-ко-многим и многие-ко-многим.</a:t>
            </a:r>
          </a:p>
          <a:p>
            <a:endParaRPr lang="ru-RU" sz="2400" dirty="0">
              <a:solidFill>
                <a:schemeClr val="tx1"/>
              </a:solidFill>
            </a:endParaRPr>
          </a:p>
        </p:txBody>
      </p:sp>
      <p:pic>
        <p:nvPicPr>
          <p:cNvPr id="2050" name="Picture 2" descr="Picture background">
            <a:extLst>
              <a:ext uri="{FF2B5EF4-FFF2-40B4-BE49-F238E27FC236}">
                <a16:creationId xmlns:a16="http://schemas.microsoft.com/office/drawing/2014/main" id="{BCFDA885-4316-748F-F6C1-B26AA2C065A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6244"/>
          <a:stretch/>
        </p:blipFill>
        <p:spPr bwMode="auto">
          <a:xfrm>
            <a:off x="6951692" y="2246590"/>
            <a:ext cx="4203988" cy="2687237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48595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CA7AAE9-21DF-8DC3-571C-7184E02CB4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dirty="0">
                <a:solidFill>
                  <a:schemeClr val="tx1"/>
                </a:solidFill>
              </a:rPr>
              <a:t>Проектирование структуры базы данных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D597CDD-BC6B-7293-5911-189C9ED016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9040" y="1998134"/>
            <a:ext cx="5801360" cy="3508586"/>
          </a:xfrm>
        </p:spPr>
        <p:txBody>
          <a:bodyPr>
            <a:normAutofit/>
          </a:bodyPr>
          <a:lstStyle/>
          <a:p>
            <a:r>
              <a:rPr lang="ru-RU" sz="2400" dirty="0">
                <a:solidFill>
                  <a:schemeClr val="tx1"/>
                </a:solidFill>
              </a:rPr>
              <a:t>Разработана логическая структура базы данных в виде набора взаимосвязанных таблиц.</a:t>
            </a:r>
            <a:br>
              <a:rPr lang="ru-RU" sz="2400" dirty="0">
                <a:solidFill>
                  <a:schemeClr val="tx1"/>
                </a:solidFill>
              </a:rPr>
            </a:br>
            <a:endParaRPr lang="ru-RU" sz="2400" dirty="0">
              <a:solidFill>
                <a:schemeClr val="tx1"/>
              </a:solidFill>
            </a:endParaRPr>
          </a:p>
          <a:p>
            <a:r>
              <a:rPr lang="ru-RU" sz="2400" dirty="0">
                <a:solidFill>
                  <a:schemeClr val="tx1"/>
                </a:solidFill>
              </a:rPr>
              <a:t>Структура базы данных приведена к нормальной форме, что исключает избыточность и обеспечивает целостность данных.</a:t>
            </a:r>
          </a:p>
        </p:txBody>
      </p:sp>
      <p:pic>
        <p:nvPicPr>
          <p:cNvPr id="5" name="Рисунок 4" descr="Изображение выглядит как снимок экрана, текст, диаграмма, 3D-моделирование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93346CA2-221B-531A-D8FA-E3F364C925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28387" y="2198357"/>
            <a:ext cx="4562168" cy="246128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5762243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4B1121D-254A-488A-417D-1372A0AEC3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dirty="0">
                <a:solidFill>
                  <a:schemeClr val="tx1"/>
                </a:solidFill>
              </a:rPr>
              <a:t>Реализация базы данных в СУБД </a:t>
            </a:r>
            <a:r>
              <a:rPr lang="ru-RU" sz="3600" dirty="0" err="1">
                <a:solidFill>
                  <a:schemeClr val="tx1"/>
                </a:solidFill>
              </a:rPr>
              <a:t>PostgreSQL</a:t>
            </a:r>
            <a:endParaRPr lang="ru-RU" sz="3600" dirty="0">
              <a:solidFill>
                <a:schemeClr val="tx1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066E985-EAF8-4269-343B-DAD72746F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9040" y="2081107"/>
            <a:ext cx="5527040" cy="2695786"/>
          </a:xfrm>
        </p:spPr>
        <p:txBody>
          <a:bodyPr>
            <a:normAutofit/>
          </a:bodyPr>
          <a:lstStyle/>
          <a:p>
            <a:r>
              <a:rPr lang="ru-RU" sz="2400" dirty="0">
                <a:solidFill>
                  <a:schemeClr val="tx1"/>
                </a:solidFill>
              </a:rPr>
              <a:t>База данных реализована в СУБД </a:t>
            </a:r>
            <a:r>
              <a:rPr lang="ru-RU" sz="2400" dirty="0" err="1">
                <a:solidFill>
                  <a:schemeClr val="tx1"/>
                </a:solidFill>
              </a:rPr>
              <a:t>PostgreSQL</a:t>
            </a:r>
            <a:r>
              <a:rPr lang="ru-RU" sz="2400" dirty="0">
                <a:solidFill>
                  <a:schemeClr val="tx1"/>
                </a:solidFill>
              </a:rPr>
              <a:t> с использованием реляционной модели данных.</a:t>
            </a:r>
            <a:br>
              <a:rPr lang="ru-RU" sz="2400" dirty="0">
                <a:solidFill>
                  <a:schemeClr val="tx1"/>
                </a:solidFill>
              </a:rPr>
            </a:br>
            <a:endParaRPr lang="ru-RU" sz="2400" dirty="0">
              <a:solidFill>
                <a:schemeClr val="tx1"/>
              </a:solidFill>
            </a:endParaRPr>
          </a:p>
          <a:p>
            <a:r>
              <a:rPr lang="ru-RU" sz="2400" dirty="0">
                <a:solidFill>
                  <a:schemeClr val="tx1"/>
                </a:solidFill>
              </a:rPr>
              <a:t>Созданы таблицы, первичные и внешние ключи, а также ограничения целостности.</a:t>
            </a:r>
          </a:p>
        </p:txBody>
      </p:sp>
      <p:pic>
        <p:nvPicPr>
          <p:cNvPr id="3074" name="Picture 2" descr="Picture background">
            <a:extLst>
              <a:ext uri="{FF2B5EF4-FFF2-40B4-BE49-F238E27FC236}">
                <a16:creationId xmlns:a16="http://schemas.microsoft.com/office/drawing/2014/main" id="{D2EE6A89-5883-DDAF-67F2-06F4E22795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4338" y="1590369"/>
            <a:ext cx="4190999" cy="4190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686807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A84D7BB-F43D-9CBD-2350-6D26484CAB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dirty="0">
                <a:solidFill>
                  <a:schemeClr val="tx1"/>
                </a:solidFill>
              </a:rPr>
              <a:t>Настройка прав доступа и безопасности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D19CEBF-72A1-4CDA-8947-441956801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8720" y="2045116"/>
            <a:ext cx="5069840" cy="2502747"/>
          </a:xfrm>
        </p:spPr>
        <p:txBody>
          <a:bodyPr>
            <a:normAutofit lnSpcReduction="10000"/>
          </a:bodyPr>
          <a:lstStyle/>
          <a:p>
            <a:r>
              <a:rPr lang="ru-RU" sz="2400" dirty="0">
                <a:solidFill>
                  <a:schemeClr val="tx1"/>
                </a:solidFill>
              </a:rPr>
              <a:t>Созданы роли пользователей базы данных и разграничены права доступа к таблицам.</a:t>
            </a:r>
            <a:endParaRPr lang="en-US" sz="2400" dirty="0">
              <a:solidFill>
                <a:schemeClr val="tx1"/>
              </a:solidFill>
            </a:endParaRPr>
          </a:p>
          <a:p>
            <a:br>
              <a:rPr lang="ru-RU" sz="2400" dirty="0">
                <a:solidFill>
                  <a:schemeClr val="tx1"/>
                </a:solidFill>
              </a:rPr>
            </a:br>
            <a:r>
              <a:rPr lang="ru-RU" sz="2400" dirty="0">
                <a:solidFill>
                  <a:schemeClr val="tx1"/>
                </a:solidFill>
              </a:rPr>
              <a:t>Обеспечена защита данных от несанкционированного изменения и удаления.</a:t>
            </a:r>
          </a:p>
        </p:txBody>
      </p:sp>
      <p:pic>
        <p:nvPicPr>
          <p:cNvPr id="4098" name="Picture 2" descr="Picture background">
            <a:extLst>
              <a:ext uri="{FF2B5EF4-FFF2-40B4-BE49-F238E27FC236}">
                <a16:creationId xmlns:a16="http://schemas.microsoft.com/office/drawing/2014/main" id="{0E644BA9-D7CC-A71D-D2CC-0C3C0F64A2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0521" y="2190136"/>
            <a:ext cx="3724275" cy="304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125656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AB9D6DB-BB77-B794-B4C2-3271D412A1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dirty="0">
                <a:solidFill>
                  <a:schemeClr val="tx1"/>
                </a:solidFill>
              </a:rPr>
              <a:t>Разработка пользовательского интерфейса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837A45D-1663-E99C-3106-BD8E124A88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9200" y="1925750"/>
            <a:ext cx="4257040" cy="3061546"/>
          </a:xfrm>
        </p:spPr>
        <p:txBody>
          <a:bodyPr>
            <a:normAutofit/>
          </a:bodyPr>
          <a:lstStyle/>
          <a:p>
            <a:r>
              <a:rPr lang="ru-RU" sz="2400" dirty="0">
                <a:solidFill>
                  <a:schemeClr val="tx1"/>
                </a:solidFill>
              </a:rPr>
              <a:t>Разработано простое веб-приложение на языке PHP для взаимодействия с базой данных.</a:t>
            </a:r>
            <a:br>
              <a:rPr lang="ru-RU" sz="2400" dirty="0">
                <a:solidFill>
                  <a:schemeClr val="tx1"/>
                </a:solidFill>
              </a:rPr>
            </a:br>
            <a:endParaRPr lang="en-US" sz="2400" dirty="0">
              <a:solidFill>
                <a:schemeClr val="tx1"/>
              </a:solidFill>
            </a:endParaRPr>
          </a:p>
          <a:p>
            <a:r>
              <a:rPr lang="ru-RU" sz="2400" dirty="0">
                <a:solidFill>
                  <a:schemeClr val="tx1"/>
                </a:solidFill>
              </a:rPr>
              <a:t>Реализованы функции просмотра и добавления данных.</a:t>
            </a:r>
          </a:p>
        </p:txBody>
      </p:sp>
      <p:pic>
        <p:nvPicPr>
          <p:cNvPr id="5122" name="Picture 2" descr="Picture background">
            <a:extLst>
              <a:ext uri="{FF2B5EF4-FFF2-40B4-BE49-F238E27FC236}">
                <a16:creationId xmlns:a16="http://schemas.microsoft.com/office/drawing/2014/main" id="{0B378F34-2839-E8B6-2BF2-C1D9121659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67948" y="1913444"/>
            <a:ext cx="3468329" cy="3468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372296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3EBF194-01A3-84AB-30F0-5FB09B8E4A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1158240"/>
            <a:ext cx="10058400" cy="579120"/>
          </a:xfrm>
        </p:spPr>
        <p:txBody>
          <a:bodyPr>
            <a:normAutofit/>
          </a:bodyPr>
          <a:lstStyle/>
          <a:p>
            <a:r>
              <a:rPr lang="ru-RU" sz="3600" dirty="0">
                <a:solidFill>
                  <a:schemeClr val="tx1"/>
                </a:solidFill>
              </a:rPr>
              <a:t>Резервное копирование базы данных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07385A1-6BBE-129A-3F14-4DC36521B2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9040" y="2032430"/>
            <a:ext cx="4511040" cy="3274907"/>
          </a:xfrm>
        </p:spPr>
        <p:txBody>
          <a:bodyPr>
            <a:normAutofit/>
          </a:bodyPr>
          <a:lstStyle/>
          <a:p>
            <a:r>
              <a:rPr lang="ru-RU" sz="2400" dirty="0">
                <a:solidFill>
                  <a:schemeClr val="tx1"/>
                </a:solidFill>
              </a:rPr>
              <a:t>Разработана стратегия резервного копирования базы данных с использованием утилиты </a:t>
            </a:r>
            <a:r>
              <a:rPr lang="ru-RU" sz="2400" dirty="0" err="1">
                <a:solidFill>
                  <a:schemeClr val="tx1"/>
                </a:solidFill>
              </a:rPr>
              <a:t>pg_dump</a:t>
            </a:r>
            <a:r>
              <a:rPr lang="ru-RU" sz="2400" dirty="0">
                <a:solidFill>
                  <a:schemeClr val="tx1"/>
                </a:solidFill>
              </a:rPr>
              <a:t>.</a:t>
            </a:r>
            <a:endParaRPr lang="en-US" sz="2400" dirty="0">
              <a:solidFill>
                <a:schemeClr val="tx1"/>
              </a:solidFill>
            </a:endParaRPr>
          </a:p>
          <a:p>
            <a:br>
              <a:rPr lang="ru-RU" sz="2400" dirty="0">
                <a:solidFill>
                  <a:schemeClr val="tx1"/>
                </a:solidFill>
              </a:rPr>
            </a:br>
            <a:r>
              <a:rPr lang="ru-RU" sz="2400" dirty="0">
                <a:solidFill>
                  <a:schemeClr val="tx1"/>
                </a:solidFill>
              </a:rPr>
              <a:t>Обеспечена возможность переноса и восстановления базы данных на другом компьютере.</a:t>
            </a:r>
          </a:p>
          <a:p>
            <a:endParaRPr lang="ru-RU" sz="2400" dirty="0">
              <a:solidFill>
                <a:schemeClr val="tx1"/>
              </a:solidFill>
            </a:endParaRPr>
          </a:p>
        </p:txBody>
      </p:sp>
      <p:pic>
        <p:nvPicPr>
          <p:cNvPr id="6146" name="Picture 2" descr="Picture background">
            <a:extLst>
              <a:ext uri="{FF2B5EF4-FFF2-40B4-BE49-F238E27FC236}">
                <a16:creationId xmlns:a16="http://schemas.microsoft.com/office/drawing/2014/main" id="{27286AC7-6D4C-46F7-70E5-B2143BF6B4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44929" y="2327500"/>
            <a:ext cx="4026474" cy="26843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2507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671EF2C-1744-329D-3521-06F195156D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400" dirty="0">
                <a:solidFill>
                  <a:schemeClr val="tx1"/>
                </a:solidFill>
              </a:rPr>
              <a:t>Вывод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D0D6F85-3333-DC34-CE11-8C5FFB0C03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79" y="3010748"/>
            <a:ext cx="5558163" cy="2658532"/>
          </a:xfrm>
        </p:spPr>
        <p:txBody>
          <a:bodyPr>
            <a:normAutofit lnSpcReduction="10000"/>
          </a:bodyPr>
          <a:lstStyle/>
          <a:p>
            <a:r>
              <a:rPr lang="ru-RU" dirty="0">
                <a:solidFill>
                  <a:schemeClr val="tx1"/>
                </a:solidFill>
              </a:rPr>
              <a:t>В ходе работы были проанализированы основные процессы учебного центра и определены необходимые данные для их автоматизации, разработана база данных в PSQL и обеспечивает корректное хранение и обработку информации.</a:t>
            </a:r>
          </a:p>
          <a:p>
            <a:br>
              <a:rPr lang="ru-RU" dirty="0">
                <a:solidFill>
                  <a:schemeClr val="tx1"/>
                </a:solidFill>
              </a:rPr>
            </a:br>
            <a:r>
              <a:rPr lang="ru-RU" dirty="0">
                <a:solidFill>
                  <a:schemeClr val="tx1"/>
                </a:solidFill>
              </a:rPr>
              <a:t>Для наглядной демонстрации работы базы данных было создано веб-приложение.</a:t>
            </a:r>
            <a:br>
              <a:rPr lang="ru-RU" dirty="0">
                <a:solidFill>
                  <a:schemeClr val="tx1"/>
                </a:solidFill>
              </a:rPr>
            </a:b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F475C00-FE2A-7F2C-2447-BD7891851746}"/>
              </a:ext>
            </a:extLst>
          </p:cNvPr>
          <p:cNvSpPr txBox="1"/>
          <p:nvPr/>
        </p:nvSpPr>
        <p:spPr>
          <a:xfrm>
            <a:off x="1097280" y="1864604"/>
            <a:ext cx="60452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dirty="0">
                <a:solidFill>
                  <a:schemeClr val="tx1"/>
                </a:solidFill>
              </a:rPr>
              <a:t>В процессе выполнения курсовой работы была спроектирована и реализована база данных для коммерческого учебного центра «</a:t>
            </a:r>
            <a:r>
              <a:rPr lang="ru-RU" sz="2000" dirty="0" err="1">
                <a:solidFill>
                  <a:schemeClr val="tx1"/>
                </a:solidFill>
              </a:rPr>
              <a:t>Юниум</a:t>
            </a:r>
            <a:r>
              <a:rPr lang="ru-RU" sz="2000" dirty="0">
                <a:solidFill>
                  <a:schemeClr val="tx1"/>
                </a:solidFill>
              </a:rPr>
              <a:t>».</a:t>
            </a:r>
            <a:br>
              <a:rPr lang="ru-RU" sz="2000" dirty="0">
                <a:solidFill>
                  <a:schemeClr val="tx1"/>
                </a:solidFill>
              </a:rPr>
            </a:br>
            <a:endParaRPr lang="ru-RU" sz="2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5C8F2CA-43EF-3130-B4DF-912E694DAAE4}"/>
              </a:ext>
            </a:extLst>
          </p:cNvPr>
          <p:cNvSpPr txBox="1"/>
          <p:nvPr/>
        </p:nvSpPr>
        <p:spPr>
          <a:xfrm>
            <a:off x="7142480" y="3139685"/>
            <a:ext cx="424674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>
                <a:solidFill>
                  <a:schemeClr val="tx1"/>
                </a:solidFill>
              </a:rPr>
              <a:t>Таким образом, поставленная цель работы достигнута, а все задачи успешно выполнены.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9096042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A58E190-16E4-C37C-FE67-F5C32EAD60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Спасибо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1993887722"/>
      </p:ext>
    </p:extLst>
  </p:cSld>
  <p:clrMapOvr>
    <a:masterClrMapping/>
  </p:clrMapOvr>
</p:sld>
</file>

<file path=ppt/theme/theme1.xml><?xml version="1.0" encoding="utf-8"?>
<a:theme xmlns:a="http://schemas.openxmlformats.org/drawingml/2006/main" name="Ретро">
  <a:themeElements>
    <a:clrScheme name="Ретро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Ретро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Ретро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104</TotalTime>
  <Words>494</Words>
  <Application>Microsoft Office PowerPoint</Application>
  <PresentationFormat>Широкоэкранный</PresentationFormat>
  <Paragraphs>47</Paragraphs>
  <Slides>12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Times New Roman</vt:lpstr>
      <vt:lpstr>Ретро</vt:lpstr>
      <vt:lpstr>Курсовая работа на тему:</vt:lpstr>
      <vt:lpstr>Цели, задачи, объект, предмет</vt:lpstr>
      <vt:lpstr>Актуальность</vt:lpstr>
      <vt:lpstr>Анализ предметной области</vt:lpstr>
      <vt:lpstr>Определение сущностей и связей</vt:lpstr>
      <vt:lpstr>Проектирование структуры базы данных</vt:lpstr>
      <vt:lpstr>Реализация базы данных в СУБД PostgreSQL</vt:lpstr>
      <vt:lpstr>Настройка прав доступа и безопасности</vt:lpstr>
      <vt:lpstr>Разработка пользовательского интерфейса</vt:lpstr>
      <vt:lpstr>Резервное копирование базы данных</vt:lpstr>
      <vt:lpstr>Вывод</vt:lpstr>
      <vt:lpstr>Спасибо за внимание!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nomuck</dc:creator>
  <cp:lastModifiedBy>nomuck</cp:lastModifiedBy>
  <cp:revision>16</cp:revision>
  <dcterms:created xsi:type="dcterms:W3CDTF">2025-12-17T16:01:09Z</dcterms:created>
  <dcterms:modified xsi:type="dcterms:W3CDTF">2025-12-17T17:50:56Z</dcterms:modified>
</cp:coreProperties>
</file>